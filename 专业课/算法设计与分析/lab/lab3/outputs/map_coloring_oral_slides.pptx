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60120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900" b="1">
                <a:solidFill>
                  <a:srgbClr val="1F4E79"/>
                </a:solidFill>
                <a:latin typeface="Microsoft YaHei"/>
              </a:rPr>
              <a:t>地图填色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Microsoft YaHei"/>
              </a:rPr>
              <a:t>从暴力回溯到 DSATUR 与 TabuCol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B5563"/>
                </a:solidFill>
                <a:latin typeface="Microsoft YaHei"/>
              </a:rPr>
              <a:t>一个可复现的图着色实验流水线：建模、剪枝优化、局部搜索、结果验证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3566160" y="3977639"/>
            <a:ext cx="1508760" cy="411481"/>
          </a:xfrm>
          <a:prstGeom prst="line">
            <a:avLst/>
          </a:prstGeom>
          <a:ln w="203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74920" y="3977639"/>
            <a:ext cx="1417320" cy="365761"/>
          </a:xfrm>
          <a:prstGeom prst="line">
            <a:avLst/>
          </a:prstGeom>
          <a:ln w="203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492240" y="3840480"/>
            <a:ext cx="1645920" cy="502920"/>
          </a:xfrm>
          <a:prstGeom prst="line">
            <a:avLst/>
          </a:prstGeom>
          <a:ln w="203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886200" y="3977639"/>
            <a:ext cx="1188720" cy="978409"/>
          </a:xfrm>
          <a:prstGeom prst="line">
            <a:avLst/>
          </a:prstGeom>
          <a:ln w="203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74920" y="3977639"/>
            <a:ext cx="228600" cy="886969"/>
          </a:xfrm>
          <a:prstGeom prst="line">
            <a:avLst/>
          </a:prstGeom>
          <a:ln w="203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303520" y="4343400"/>
            <a:ext cx="1188720" cy="521208"/>
          </a:xfrm>
          <a:prstGeom prst="line">
            <a:avLst/>
          </a:prstGeom>
          <a:ln w="203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92240" y="4343400"/>
            <a:ext cx="502920" cy="667512"/>
          </a:xfrm>
          <a:prstGeom prst="line">
            <a:avLst/>
          </a:prstGeom>
          <a:ln w="203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995160" y="3840480"/>
            <a:ext cx="1143000" cy="1170432"/>
          </a:xfrm>
          <a:prstGeom prst="line">
            <a:avLst/>
          </a:prstGeom>
          <a:ln w="203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34156" y="4357116"/>
            <a:ext cx="64008" cy="6400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42916" y="3945635"/>
            <a:ext cx="64008" cy="6400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0236" y="4311396"/>
            <a:ext cx="64008" cy="6400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06156" y="3808476"/>
            <a:ext cx="64008" cy="6400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54196" y="4924044"/>
            <a:ext cx="64008" cy="64008"/>
          </a:xfrm>
          <a:prstGeom prst="ellipse">
            <a:avLst/>
          </a:prstGeom>
          <a:solidFill>
            <a:srgbClr val="4B5563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71516" y="4832604"/>
            <a:ext cx="64008" cy="64008"/>
          </a:xfrm>
          <a:prstGeom prst="ellipse">
            <a:avLst/>
          </a:prstGeom>
          <a:solidFill>
            <a:srgbClr val="4B5563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63156" y="4978908"/>
            <a:ext cx="64008" cy="64008"/>
          </a:xfrm>
          <a:prstGeom prst="ellipse">
            <a:avLst/>
          </a:prstGeom>
          <a:solidFill>
            <a:srgbClr val="4B5563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Microsoft YaHei"/>
              </a:rPr>
              <a:t>白底极简版式；所有结果以冲突边数为合法性判据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1F4E79"/>
                </a:solidFill>
                <a:latin typeface="Microsoft YaHei"/>
              </a:rPr>
              <a:t>核心问题：把“地图”压缩成一个可验证模型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Microsoft YaHei"/>
              </a:rPr>
              <a:t>不讲四色定理常识；直接讲我设计的实验对象与评价指标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914400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Microsoft YaHei"/>
              </a:rPr>
              <a:t>区域邻接关系 → 图的 k-着色约束满足问题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24028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Microsoft YaHei"/>
              </a:rPr>
              <a:t>G = (V, E),    C = {1, …, k}
f : V → C
(u, v) ∈ E ⇒ f(u) ≠ f(v)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0" y="1828800"/>
            <a:ext cx="466344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0" y="1892807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设计项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892807"/>
            <a:ext cx="3611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本实验实现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2176272"/>
            <a:ext cx="466344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35040" y="2240280"/>
            <a:ext cx="1051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240280"/>
            <a:ext cx="3611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小图邻接、DIMACS .col、随机平面图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569464"/>
            <a:ext cx="1051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569464"/>
            <a:ext cx="3611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给定颜色数下构造合法染色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898648"/>
            <a:ext cx="1051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判据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898648"/>
            <a:ext cx="3611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冲突边数 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227832"/>
            <a:ext cx="1051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输出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227832"/>
            <a:ext cx="3611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每个顶点的颜色编号 CSV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0" y="3584447"/>
            <a:ext cx="466344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507492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0">
                <a:solidFill>
                  <a:srgbClr val="1F4E79"/>
                </a:solidFill>
                <a:latin typeface="Microsoft YaHe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Microsoft YaHei"/>
              </a:rPr>
              <a:t>合法解冲突边数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07492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0">
                <a:solidFill>
                  <a:srgbClr val="1F4E79"/>
                </a:solidFill>
                <a:latin typeface="Microsoft YaHei"/>
              </a:rPr>
              <a:t>450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4864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Microsoft YaHei"/>
              </a:rPr>
              <a:t>基准图顶点数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07492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0">
                <a:solidFill>
                  <a:srgbClr val="1F4E79"/>
                </a:solidFill>
                <a:latin typeface="Microsoft YaHei"/>
              </a:rPr>
              <a:t>20 ~ 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4864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Microsoft YaHei"/>
              </a:rPr>
              <a:t>平面图规模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Microsoft YaHei"/>
              </a:rPr>
              <a:t>Map Coloring Lab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1F4E79"/>
                </a:solidFill>
                <a:latin typeface="Microsoft YaHei"/>
              </a:rPr>
              <a:t>优化一：从固定顺序暴力回溯到 DSATUR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B5563"/>
                </a:solidFill>
                <a:latin typeface="Microsoft YaHei"/>
              </a:rPr>
              <a:t>复现 Brélaz 的 DSATUR 思想，并把它接入回溯与前向检查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54480"/>
            <a:ext cx="4663439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61848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618488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关键问题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1901952"/>
            <a:ext cx="4663439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965960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暴力回溯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96596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固定顶点顺序，最坏枚举 k^n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0008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DSATUR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350008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先处理约束最紧顶点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34056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前向检查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734056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某邻居无可用色时立即剪枝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145535"/>
            <a:ext cx="4663439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406908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Microsoft YaHei"/>
              </a:rPr>
              <a:t>饱和度定义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177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Microsoft YaHei"/>
              </a:rPr>
              <a:t>sat(v) = |{ f(u) | u ∈ N(v), f(u) ≠ ∅ }|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06440" y="1508760"/>
            <a:ext cx="502920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06440" y="157276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572768"/>
            <a:ext cx="4526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DSATUR-Backtracking 核心流程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06440" y="1856231"/>
            <a:ext cx="502920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06440" y="1920240"/>
            <a:ext cx="502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1920240"/>
            <a:ext cx="4526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维护每个未着色顶点的可用颜色集合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221992"/>
            <a:ext cx="502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221992"/>
            <a:ext cx="4526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选择 sat(v) 最大的未着色顶点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523744"/>
            <a:ext cx="502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523744"/>
            <a:ext cx="4526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并列时选择度数 deg(v) 最大者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825496"/>
            <a:ext cx="502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825496"/>
            <a:ext cx="4526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尝试颜色 c，并临时删除邻居域中的 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127248"/>
            <a:ext cx="502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127248"/>
            <a:ext cx="4526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若产生空颜色域，则立即回溯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429000"/>
            <a:ext cx="5029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3429000"/>
            <a:ext cx="4526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若全部顶点着色完成，返回合法解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06440" y="3758184"/>
            <a:ext cx="502920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5687568"/>
            <a:ext cx="108813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Microsoft YaHei"/>
              </a:rPr>
              <a:t>优化点不是改变问题，而是改变搜索顺序：更早遇到矛盾，更少进入无效分支。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3796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Microsoft YaHei"/>
              </a:rPr>
              <a:t>Map Coloring Lab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1F4E79"/>
                </a:solidFill>
                <a:latin typeface="Microsoft YaHei"/>
              </a:rPr>
              <a:t>优化二：450 顶点实例用 TabuCol 求可行解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B5563"/>
                </a:solidFill>
                <a:latin typeface="Microsoft YaHei"/>
              </a:rPr>
              <a:t>精确回溯不适合直接处理 le450；改用局部搜索快速构造 0 冲突解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600200"/>
            <a:ext cx="4663439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66420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64208"/>
            <a:ext cx="4160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Microsoft YaHei"/>
              </a:rPr>
              <a:t>TabuCol 局部搜索核心流程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1947672"/>
            <a:ext cx="4663439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201168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0"/>
            <a:ext cx="4160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贪心生成初始 k-着色，允许冲突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4160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只在冲突顶点集合中选择移动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17520"/>
            <a:ext cx="4160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评价移动 Δ = 新冲突数 − 旧冲突数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39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520439"/>
            <a:ext cx="4160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最优移动若被禁忌，只有优于历史最优时允许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023359"/>
            <a:ext cx="4160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Microsoft YaHei"/>
              </a:rPr>
              <a:t>更新颜色与禁忌表，直到冲突边数为 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4553712"/>
            <a:ext cx="4663439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315200" y="1874519"/>
            <a:ext cx="3108960" cy="347472"/>
          </a:xfrm>
          <a:prstGeom prst="rect">
            <a:avLst/>
          </a:prstGeom>
          <a:noFill/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Microsoft YaHei"/>
              </a:rPr>
              <a:t>贪心初始解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496312"/>
            <a:ext cx="3108960" cy="347472"/>
          </a:xfrm>
          <a:prstGeom prst="rect">
            <a:avLst/>
          </a:prstGeom>
          <a:noFill/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Microsoft YaHei"/>
              </a:rPr>
              <a:t>定位冲突顶点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118104"/>
            <a:ext cx="3108960" cy="347472"/>
          </a:xfrm>
          <a:prstGeom prst="rect">
            <a:avLst/>
          </a:prstGeom>
          <a:noFill/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Microsoft YaHei"/>
              </a:rPr>
              <a:t>选择最优非禁忌移动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3739896"/>
            <a:ext cx="3108960" cy="347472"/>
          </a:xfrm>
          <a:prstGeom prst="rect">
            <a:avLst/>
          </a:prstGeom>
          <a:noFill/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Microsoft YaHei"/>
              </a:rPr>
              <a:t>更新禁忌表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4361688"/>
            <a:ext cx="3108960" cy="347472"/>
          </a:xfrm>
          <a:prstGeom prst="rect">
            <a:avLst/>
          </a:prstGeom>
          <a:noFill/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Microsoft YaHei"/>
              </a:rPr>
              <a:t>冲突边数 = 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69680" y="2221991"/>
            <a:ext cx="0" cy="274321"/>
          </a:xfrm>
          <a:prstGeom prst="line">
            <a:avLst/>
          </a:prstGeom>
          <a:ln w="127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69680" y="2843784"/>
            <a:ext cx="0" cy="274320"/>
          </a:xfrm>
          <a:prstGeom prst="line">
            <a:avLst/>
          </a:prstGeom>
          <a:ln w="127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69680" y="3465576"/>
            <a:ext cx="0" cy="274320"/>
          </a:xfrm>
          <a:prstGeom prst="line">
            <a:avLst/>
          </a:prstGeom>
          <a:ln w="127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869680" y="4087368"/>
            <a:ext cx="0" cy="274320"/>
          </a:xfrm>
          <a:prstGeom prst="line">
            <a:avLst/>
          </a:prstGeom>
          <a:ln w="127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5669280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Microsoft YaHei"/>
              </a:rPr>
              <a:t>定位：DSATUR 做确定性验证；TabuCol 做大规模给定颜色数下的快速可行染色。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3796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Microsoft YaHei"/>
              </a:rPr>
              <a:t>Map Coloring Lab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1F4E79"/>
                </a:solidFill>
                <a:latin typeface="Microsoft YaHei"/>
              </a:rPr>
              <a:t>复现实验：暴力回溯 vs DSATUR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B5563"/>
                </a:solidFill>
                <a:latin typeface="Microsoft YaHei"/>
              </a:rPr>
              <a:t>首解可能很快，但完整搜索空间暴露了暴力法的指数风险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645920"/>
            <a:ext cx="969264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70992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7099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顶点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709928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暴力赋值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09928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DSATUR赋值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70992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暴力完整空间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70992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icrosoft YaHei"/>
              </a:rPr>
              <a:t>外推/s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1993392"/>
            <a:ext cx="969264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2057400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小规模地图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57400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57400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57400"/>
            <a:ext cx="1325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057400"/>
            <a:ext cx="2286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2.621×10^5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57400"/>
            <a:ext cx="2148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2.580×10^-1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368296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平面图 n=20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368296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368296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368296"/>
            <a:ext cx="1325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368296"/>
            <a:ext cx="2286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1.100×10^12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368296"/>
            <a:ext cx="2148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6.985×10^5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679191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平面图 n=32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679191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679191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679191"/>
            <a:ext cx="1325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679191"/>
            <a:ext cx="2286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1.845×10^19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79191"/>
            <a:ext cx="2148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Microsoft YaHei"/>
              </a:rPr>
              <a:t>1.102×10^13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" y="3017519"/>
            <a:ext cx="969264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" y="3749039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Microsoft YaHei"/>
              </a:rPr>
              <a:t>DSATUR 的优势体现在搜索
节点数，而不只是一两个样例
的运行时间。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70332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▶  暴力法：固定顺序，完整空间为 4^n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▶  DSATUR：动态选点，实验中赋值次数约等于 n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▶  外推只用于说明指数增长趋势，不当作实际运行时间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3796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Microsoft YaHei"/>
              </a:rPr>
              <a:t>Map Coloring Lab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1F4E79"/>
                </a:solidFill>
                <a:latin typeface="Microsoft YaHei"/>
              </a:rPr>
              <a:t>复现实验：le450 基准与随机平面图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B5563"/>
                </a:solidFill>
                <a:latin typeface="Microsoft YaHei"/>
              </a:rPr>
              <a:t>所有最终结果都用冲突边数校验；合法标准统一为 conflict = 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645920"/>
            <a:ext cx="493776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709928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70992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顶点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0992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59" y="170992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颜色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1709928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耗时/s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1993392"/>
            <a:ext cx="493776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2057400"/>
            <a:ext cx="1600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le450_5a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057400"/>
            <a:ext cx="685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450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057400"/>
            <a:ext cx="777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5714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2057400"/>
            <a:ext cx="685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057400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1.104681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368296"/>
            <a:ext cx="1600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le450_15b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368296"/>
            <a:ext cx="685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450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368296"/>
            <a:ext cx="777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8169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59" y="2368296"/>
            <a:ext cx="685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2368296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2.501488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679191"/>
            <a:ext cx="1600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le450_25a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679191"/>
            <a:ext cx="685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450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679191"/>
            <a:ext cx="777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8260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59" y="2679191"/>
            <a:ext cx="685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2679191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0.007555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3017519"/>
            <a:ext cx="493776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32004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Microsoft YaHei"/>
              </a:rPr>
              <a:t>三组均成功，冲突边数均为 0。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0" y="1645920"/>
            <a:ext cx="374904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0" y="170992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170992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边数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170992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耗时/s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17099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Microsoft YaHei"/>
              </a:rPr>
              <a:t>冲突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0" y="1993392"/>
            <a:ext cx="3749040" cy="0"/>
          </a:xfrm>
          <a:prstGeom prst="line">
            <a:avLst/>
          </a:prstGeom>
          <a:ln w="1143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0" y="2057400"/>
            <a:ext cx="685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2057400"/>
            <a:ext cx="777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2057400"/>
            <a:ext cx="1463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0.000280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2057400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368296"/>
            <a:ext cx="685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2368296"/>
            <a:ext cx="777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234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2368296"/>
            <a:ext cx="1463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0.001980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2368296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2679191"/>
            <a:ext cx="685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160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2679191"/>
            <a:ext cx="777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474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2679191"/>
            <a:ext cx="1463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0.005360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2679191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2990087"/>
            <a:ext cx="685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300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2990087"/>
            <a:ext cx="777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894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2990087"/>
            <a:ext cx="1463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0.020500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2990087"/>
            <a:ext cx="731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Microsoft YaHei"/>
              </a:rPr>
              <a:t>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583680" y="3328415"/>
            <a:ext cx="374904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583680" y="3493008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Microsoft YaHei"/>
              </a:rPr>
              <a:t>随机平面图全部 4 色成功。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480060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4E79"/>
                </a:solidFill>
                <a:latin typeface="Microsoft YaHei"/>
              </a:rPr>
              <a:t>颜色数越宽松，局部搜索越容易收敛；边数更多、颜色更少时约束更强。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3796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Microsoft YaHei"/>
              </a:rPr>
              <a:t>Map Coloring Lab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1F4E79"/>
                </a:solidFill>
                <a:latin typeface="Microsoft YaHei"/>
              </a:rPr>
              <a:t>5 分钟汇报结论：我做了什么，优化在哪里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B5563"/>
                </a:solidFill>
                <a:latin typeface="Microsoft YaHei"/>
              </a:rPr>
              <a:t>结束页只保留可答辩的三点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1.  模型设计：统一把手工地图、DIMACS .col 和随机平面图表示为无向图；用冲突边数 = 0 作为唯一合法性判据。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2.  算法优化：从暴力回溯的固定顺序，改为 DSATUR 的饱和度优先和前向检查；大图使用 TabuCol 避免精确搜索爆炸。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3.  复现结果：小图、随机平面图、三个 le450 数据全部得到 0 冲突解；DSATUR 降低搜索赋值次数，TabuCol 在 450 点图上快速收敛。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4924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Microsoft YaHei"/>
              </a:rPr>
              <a:t>参考：Brélaz, CACM 1979; Robertson–Sanders–Seymour–Thomas, JCTB 1997; Leighton, J. Res. NBS 1979.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Microsoft YaHei"/>
              </a:rPr>
              <a:t>Map Coloring Lab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