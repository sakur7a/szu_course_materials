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2" d="100"/>
          <a:sy n="102" d="100"/>
        </p:scale>
        <p:origin x="6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c:style val="2"/>
  <c:chart>
    <c:title>
      <c:tx>
        <c:rich>
          <a:bodyPr/>
          <a:lstStyle/>
          <a:p>
            <a:r>
              <a:rPr lang="zh-CN" altLang="en-US" sz="1200" b="1">
                <a:solidFill>
                  <a:srgbClr val="0F172A"/>
                </a:solidFill>
                <a:latin typeface="Poppins"/>
                <a:ea typeface="Poppins"/>
                <a:cs typeface="Poppins"/>
              </a:rPr>
              <a:t>运行时间对比（均值，</a:t>
            </a:r>
            <a:r>
              <a:rPr lang="en-US" altLang="zh-CN" sz="1200" b="1">
                <a:solidFill>
                  <a:srgbClr val="0F172A"/>
                </a:solidFill>
                <a:latin typeface="Poppins"/>
                <a:ea typeface="Poppins"/>
                <a:cs typeface="Poppins"/>
              </a:rPr>
              <a:t>ms</a:t>
            </a:r>
            <a:r>
              <a:rPr lang="zh-CN" altLang="en-US" sz="1200" b="1">
                <a:solidFill>
                  <a:srgbClr val="0F172A"/>
                </a:solidFill>
                <a:latin typeface="Poppins"/>
                <a:ea typeface="Poppins"/>
                <a:cs typeface="Poppins"/>
              </a:rPr>
              <a:t>）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分治法</c:v>
          </c:tx>
          <c:spPr>
            <a:ln w="22860">
              <a:solidFill>
                <a:srgbClr val="2563EB"/>
              </a:solidFill>
              <a:prstDash val="solid"/>
            </a:ln>
          </c:spPr>
          <c:cat>
            <c:numLit>
              <c:formatCode>General</c:formatCode>
              <c:ptCount val="5"/>
              <c:pt idx="0">
                <c:v>10000</c:v>
              </c:pt>
              <c:pt idx="1">
                <c:v>20000</c:v>
              </c:pt>
              <c:pt idx="2">
                <c:v>30000</c:v>
              </c:pt>
              <c:pt idx="3">
                <c:v>40000</c:v>
              </c:pt>
              <c:pt idx="4">
                <c:v>50000</c:v>
              </c:pt>
            </c:numLit>
          </c:cat>
          <c:val>
            <c:numLit>
              <c:formatCode>General</c:formatCode>
              <c:ptCount val="5"/>
              <c:pt idx="0">
                <c:v>3.153</c:v>
              </c:pt>
              <c:pt idx="1">
                <c:v>7.1559999999999997</c:v>
              </c:pt>
              <c:pt idx="2">
                <c:v>11.51</c:v>
              </c:pt>
              <c:pt idx="3">
                <c:v>14.568</c:v>
              </c:pt>
              <c:pt idx="4">
                <c:v>19.91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0B9E-4742-986E-DE383EB97B17}"/>
            </c:ext>
          </c:extLst>
        </c:ser>
        <c:ser>
          <c:idx val="1"/>
          <c:order val="1"/>
          <c:tx>
            <c:v>蛮力法</c:v>
          </c:tx>
          <c:spPr>
            <a:ln w="22860">
              <a:solidFill>
                <a:srgbClr val="DC2626"/>
              </a:solidFill>
              <a:prstDash val="solid"/>
            </a:ln>
          </c:spPr>
          <c:cat>
            <c:numLit>
              <c:formatCode>General</c:formatCode>
              <c:ptCount val="5"/>
              <c:pt idx="0">
                <c:v>10000</c:v>
              </c:pt>
              <c:pt idx="1">
                <c:v>20000</c:v>
              </c:pt>
              <c:pt idx="2">
                <c:v>30000</c:v>
              </c:pt>
              <c:pt idx="3">
                <c:v>40000</c:v>
              </c:pt>
              <c:pt idx="4">
                <c:v>50000</c:v>
              </c:pt>
            </c:numLit>
          </c:cat>
          <c:val>
            <c:numLit>
              <c:formatCode>General</c:formatCode>
              <c:ptCount val="5"/>
              <c:pt idx="0">
                <c:v>29.216000000000001</c:v>
              </c:pt>
              <c:pt idx="1">
                <c:v>128.08600000000001</c:v>
              </c:pt>
              <c:pt idx="2">
                <c:v>292.89299999999997</c:v>
              </c:pt>
              <c:pt idx="3">
                <c:v>519.69200000000001</c:v>
              </c:pt>
              <c:pt idx="4">
                <c:v>790.49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0B9E-4742-986E-DE383EB97B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B6472"/>
                </a:solidFill>
                <a:latin typeface="Lato"/>
                <a:ea typeface="Lato"/>
                <a:cs typeface="Lato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t"/>
      <c:overlay val="0"/>
      <c:txPr>
        <a:bodyPr anchorCtr="1"/>
        <a:lstStyle/>
        <a:p>
          <a:pPr>
            <a:defRPr sz="900">
              <a:solidFill>
                <a:srgbClr val="5B6472"/>
              </a:solidFill>
              <a:latin typeface="Lato"/>
              <a:ea typeface="Lato"/>
              <a:cs typeface="Lato"/>
            </a:defRPr>
          </a:pPr>
          <a:endParaRPr lang="zh-CN"/>
        </a:p>
      </c:txPr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约35秒。开场先给出实测结论，再说明本次汇报仅聚焦论文模型、算法实现与优化、几何证明和实验结果分析。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约40秒。先说明理论模型来源于经典论文，再说明本实验的核心工作是将该模型工程化，并明确汇报范围。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约50秒。依次说明预排序与递归结构、strip 合并剪枝，以及为后续展示设计的 trace 与 steps 导出机制。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约55秒。依次说明候选区域、区域切割、对角线界和鸽巢反证，最后给出每点至多比较后续 6 个点的结论。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约55秒。先用左侧 GIF 展示执行过程，再用右上角静态图补充 dashboard 的三层信息：全局点云、距离下降曲线和局部放大。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约60秒。先说明左图对应 5 次重复实验后的均值；在全部测试规模下，分治法均显著快于蛮力法。再看右侧 log-log 图，说明实测增长趋势与理论复杂度一致。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约35秒。最后收束三点：性能优势、可视化价值、实验链完整性。结束语为：实现正确，机制可解释，结论可信。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7E1702-F8C5-4E62-9E64-1A3CB0EE0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6C349E8-912F-4EF7-8049-2AC85F1E24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3A581A8-1FE6-4DB9-9241-56FCFAA4A0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502C8C3-1335-41C2-A707-C79CBB58F32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3923A7A-C15E-4BBE-8A14-F530331B31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8D6F2F3-F6C5-4734-AF72-2DF3BD76450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42F5F87-5EC2-4413-A5E9-F11A76AA1C43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5250" cy="2343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123E17D-B24E-4E94-95FF-86EB7B70A3F3}"/>
              </a:ext>
            </a:extLst>
          </p:cNvPr>
          <p:cNvSpPr>
            <a:spLocks noGrp="1"/>
          </p:cNvSpPr>
          <p:nvPr/>
        </p:nvSpPr>
        <p:spPr>
          <a:xfrm>
            <a:off x="990600" y="895350"/>
            <a:ext cx="495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0F172A"/>
                </a:solidFill>
              </a:defRPr>
            </a:pPr>
            <a:r>
              <a:rPr sz="315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平面最近点对问题</a:t>
            </a:r>
            <a:endParaRPr sz="3150" b="1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4E31B46-B765-4EF3-A548-4F8CDC6763AA}"/>
              </a:ext>
            </a:extLst>
          </p:cNvPr>
          <p:cNvSpPr>
            <a:spLocks noGrp="1"/>
          </p:cNvSpPr>
          <p:nvPr/>
        </p:nvSpPr>
        <p:spPr>
          <a:xfrm>
            <a:off x="990600" y="2247900"/>
            <a:ext cx="57150" cy="514350"/>
          </a:xfrm>
          <a:prstGeom prst="rect">
            <a:avLst/>
          </a:prstGeom>
          <a:solidFill>
            <a:srgbClr val="0F9D6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CDDF87-46B2-4067-AB76-3AA874D2390D}"/>
              </a:ext>
            </a:extLst>
          </p:cNvPr>
          <p:cNvSpPr>
            <a:spLocks noGrp="1"/>
          </p:cNvSpPr>
          <p:nvPr/>
        </p:nvSpPr>
        <p:spPr>
          <a:xfrm>
            <a:off x="1162050" y="2266950"/>
            <a:ext cx="6400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核心结论：在</a:t>
            </a:r>
            <a:r>
              <a:rPr sz="16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10000 至 50000 </a:t>
            </a:r>
            <a:r>
              <a:rPr sz="165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点的全实测范围内，分治法相对蛮力法的最高速度提升达到</a:t>
            </a:r>
            <a:r>
              <a:rPr sz="16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39.70 倍。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F9F5D31-3269-43F5-A306-A3B5F1B3943D}"/>
              </a:ext>
            </a:extLst>
          </p:cNvPr>
          <p:cNvSpPr>
            <a:spLocks noGrp="1"/>
          </p:cNvSpPr>
          <p:nvPr/>
        </p:nvSpPr>
        <p:spPr>
          <a:xfrm>
            <a:off x="990600" y="3352800"/>
            <a:ext cx="18669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E1EA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45C046-9DE8-4BEA-8A1B-DE368537CDAD}"/>
              </a:ext>
            </a:extLst>
          </p:cNvPr>
          <p:cNvSpPr>
            <a:spLocks noGrp="1"/>
          </p:cNvSpPr>
          <p:nvPr/>
        </p:nvSpPr>
        <p:spPr>
          <a:xfrm>
            <a:off x="990600" y="3352800"/>
            <a:ext cx="18669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3132A9C-DD4E-41FF-B8B8-676BE962EEAC}"/>
              </a:ext>
            </a:extLst>
          </p:cNvPr>
          <p:cNvSpPr>
            <a:spLocks noGrp="1"/>
          </p:cNvSpPr>
          <p:nvPr/>
        </p:nvSpPr>
        <p:spPr>
          <a:xfrm>
            <a:off x="1162050" y="3524250"/>
            <a:ext cx="152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O(n log n)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9C8887F-DD85-444E-B3EA-04C642F45EC9}"/>
              </a:ext>
            </a:extLst>
          </p:cNvPr>
          <p:cNvSpPr>
            <a:spLocks noGrp="1"/>
          </p:cNvSpPr>
          <p:nvPr/>
        </p:nvSpPr>
        <p:spPr>
          <a:xfrm>
            <a:off x="1162050" y="39433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472"/>
                </a:solidFill>
              </a:defRPr>
            </a:pPr>
            <a:r>
              <a:rPr sz="1125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论文主线模型</a:t>
            </a:r>
            <a:endParaRPr sz="1125" b="0" dirty="0">
              <a:solidFill>
                <a:srgbClr val="5B647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6169923-C01F-4B3C-B03E-43B7E5EAA327}"/>
              </a:ext>
            </a:extLst>
          </p:cNvPr>
          <p:cNvSpPr>
            <a:spLocks noGrp="1"/>
          </p:cNvSpPr>
          <p:nvPr/>
        </p:nvSpPr>
        <p:spPr>
          <a:xfrm>
            <a:off x="3067050" y="3352800"/>
            <a:ext cx="1866900" cy="1047750"/>
          </a:xfrm>
          <a:prstGeom prst="roundRect">
            <a:avLst>
              <a:gd name="adj" fmla="val 7273"/>
            </a:avLst>
          </a:prstGeom>
          <a:solidFill>
            <a:srgbClr val="F1FDF8"/>
          </a:solidFill>
          <a:ln w="9525">
            <a:solidFill>
              <a:srgbClr val="D9E1EA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955C02D-4BFB-4D38-A64F-12B28D54F884}"/>
              </a:ext>
            </a:extLst>
          </p:cNvPr>
          <p:cNvSpPr>
            <a:spLocks noGrp="1"/>
          </p:cNvSpPr>
          <p:nvPr/>
        </p:nvSpPr>
        <p:spPr>
          <a:xfrm>
            <a:off x="3067050" y="3352800"/>
            <a:ext cx="1866900" cy="47625"/>
          </a:xfrm>
          <a:prstGeom prst="rect">
            <a:avLst/>
          </a:prstGeom>
          <a:solidFill>
            <a:srgbClr val="0F9D6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3004F9C-4748-4315-B1D7-E02D7DBC9ACA}"/>
              </a:ext>
            </a:extLst>
          </p:cNvPr>
          <p:cNvSpPr>
            <a:spLocks noGrp="1"/>
          </p:cNvSpPr>
          <p:nvPr/>
        </p:nvSpPr>
        <p:spPr>
          <a:xfrm>
            <a:off x="3238500" y="3524250"/>
            <a:ext cx="152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39.70x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A581148-CDE1-4F5A-863C-DAAB548E152F}"/>
              </a:ext>
            </a:extLst>
          </p:cNvPr>
          <p:cNvSpPr>
            <a:spLocks noGrp="1"/>
          </p:cNvSpPr>
          <p:nvPr/>
        </p:nvSpPr>
        <p:spPr>
          <a:xfrm>
            <a:off x="3238500" y="39433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472"/>
                </a:solidFill>
              </a:defRPr>
            </a:pPr>
            <a:r>
              <a:rPr sz="1125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最大实测速比</a:t>
            </a:r>
            <a:endParaRPr sz="1125" b="0" dirty="0">
              <a:solidFill>
                <a:srgbClr val="5B647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BC302AD-9930-4630-859F-AC13BB302F7B}"/>
              </a:ext>
            </a:extLst>
          </p:cNvPr>
          <p:cNvSpPr>
            <a:spLocks noGrp="1"/>
          </p:cNvSpPr>
          <p:nvPr/>
        </p:nvSpPr>
        <p:spPr>
          <a:xfrm>
            <a:off x="5143500" y="3352800"/>
            <a:ext cx="1866900" cy="1047750"/>
          </a:xfrm>
          <a:prstGeom prst="roundRect">
            <a:avLst>
              <a:gd name="adj" fmla="val 7273"/>
            </a:avLst>
          </a:prstGeom>
          <a:solidFill>
            <a:srgbClr val="EEF4FF"/>
          </a:solidFill>
          <a:ln w="9525">
            <a:solidFill>
              <a:srgbClr val="D9E1EA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4E212CB-7508-4AE2-B846-85ACCC5D03FC}"/>
              </a:ext>
            </a:extLst>
          </p:cNvPr>
          <p:cNvSpPr>
            <a:spLocks noGrp="1"/>
          </p:cNvSpPr>
          <p:nvPr/>
        </p:nvSpPr>
        <p:spPr>
          <a:xfrm>
            <a:off x="5143500" y="3352800"/>
            <a:ext cx="18669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93DCB85-2E5D-4BBC-8ED5-70954FAF5DCD}"/>
              </a:ext>
            </a:extLst>
          </p:cNvPr>
          <p:cNvSpPr>
            <a:spLocks noGrp="1"/>
          </p:cNvSpPr>
          <p:nvPr/>
        </p:nvSpPr>
        <p:spPr>
          <a:xfrm>
            <a:off x="5314950" y="3524250"/>
            <a:ext cx="152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轨迹导出</a:t>
            </a:r>
            <a:endParaRPr sz="2100" b="1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12EC5B5-D3FE-446B-9CAF-0C4460008F8B}"/>
              </a:ext>
            </a:extLst>
          </p:cNvPr>
          <p:cNvSpPr>
            <a:spLocks noGrp="1"/>
          </p:cNvSpPr>
          <p:nvPr/>
        </p:nvSpPr>
        <p:spPr>
          <a:xfrm>
            <a:off x="5314950" y="39433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472"/>
                </a:solidFill>
              </a:defRPr>
            </a:pPr>
            <a:r>
              <a:rPr sz="1125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过程可视化链路</a:t>
            </a:r>
            <a:endParaRPr sz="1125" b="0" dirty="0">
              <a:solidFill>
                <a:srgbClr val="5B647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406E2CD-6DB0-4E17-BA29-8C2BC370022E}"/>
              </a:ext>
            </a:extLst>
          </p:cNvPr>
          <p:cNvSpPr>
            <a:spLocks noGrp="1"/>
          </p:cNvSpPr>
          <p:nvPr/>
        </p:nvSpPr>
        <p:spPr>
          <a:xfrm>
            <a:off x="990600" y="4819650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472"/>
                </a:solidFill>
              </a:defRPr>
            </a:pPr>
            <a:r>
              <a:rPr sz="1200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汇报聚焦：论文模型、算法实现与优化、几何证明、实验结果分析</a:t>
            </a:r>
            <a:endParaRPr sz="1200" b="0" dirty="0">
              <a:solidFill>
                <a:srgbClr val="5B647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E7A3870-C070-4CB7-89C3-70DBFA217B73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</a:defRPr>
            </a:pPr>
            <a:r>
              <a:rPr sz="900" b="1" dirty="0" err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实验汇报</a:t>
            </a:r>
            <a:endParaRPr sz="9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0E123B-059E-493A-B08A-674267B6F637}"/>
              </a:ext>
            </a:extLst>
          </p:cNvPr>
          <p:cNvSpPr>
            <a:spLocks noGrp="1"/>
          </p:cNvSpPr>
          <p:nvPr/>
        </p:nvSpPr>
        <p:spPr>
          <a:xfrm>
            <a:off x="10972800" y="228600"/>
            <a:ext cx="533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1800" b="1">
                <a:solidFill>
                  <a:srgbClr val="0F172A"/>
                </a:solidFill>
              </a:defRPr>
            </a:pPr>
            <a:r>
              <a:rPr sz="18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7D53232-2B9B-4B40-8B20-D1A5C4DBFEA1}"/>
              </a:ext>
            </a:extLst>
          </p:cNvPr>
          <p:cNvSpPr>
            <a:spLocks noGrp="1"/>
          </p:cNvSpPr>
          <p:nvPr/>
        </p:nvSpPr>
        <p:spPr>
          <a:xfrm>
            <a:off x="11506200" y="314325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B6472"/>
                </a:solidFill>
              </a:defRPr>
            </a:pPr>
            <a:r>
              <a:rPr sz="900" b="1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07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462CBC3-22C6-4D16-B5F6-A2F6C3861836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820400" cy="9525"/>
          </a:xfrm>
          <a:prstGeom prst="rect">
            <a:avLst/>
          </a:prstGeom>
          <a:solidFill>
            <a:srgbClr val="EAEFF4"/>
          </a:solidFill>
          <a:ln w="0">
            <a:solidFill>
              <a:srgbClr val="000000">
                <a:alpha val="0"/>
              </a:srgbClr>
            </a:solidFill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20050" y="2265516"/>
            <a:ext cx="3486150" cy="1984068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16C17AF4-4B9E-CCA8-08E0-870B37B7C9A8}"/>
              </a:ext>
            </a:extLst>
          </p:cNvPr>
          <p:cNvSpPr txBox="1"/>
          <p:nvPr/>
        </p:nvSpPr>
        <p:spPr>
          <a:xfrm>
            <a:off x="935807" y="1524684"/>
            <a:ext cx="3500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王锦政 </a:t>
            </a:r>
            <a:r>
              <a:rPr lang="en-US" altLang="zh-CN" dirty="0"/>
              <a:t>2024270223</a:t>
            </a:r>
          </a:p>
        </p:txBody>
      </p:sp>
    </p:spTree>
    <p:extLst>
      <p:ext uri="{BB962C8B-B14F-4D97-AF65-F5344CB8AC3E}">
        <p14:creationId xmlns:p14="http://schemas.microsoft.com/office/powerpoint/2010/main" val="1888421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321316A-53E4-49B3-AC96-531E486AB4D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</a:defRPr>
            </a:pPr>
            <a:r>
              <a:rPr sz="900" b="1" dirty="0" err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论文模型</a:t>
            </a:r>
            <a:endParaRPr sz="9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4FE1EF-777C-4237-8B09-3AAD58C83110}"/>
              </a:ext>
            </a:extLst>
          </p:cNvPr>
          <p:cNvSpPr>
            <a:spLocks noGrp="1"/>
          </p:cNvSpPr>
          <p:nvPr/>
        </p:nvSpPr>
        <p:spPr>
          <a:xfrm>
            <a:off x="10972800" y="228600"/>
            <a:ext cx="533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1800" b="1">
                <a:solidFill>
                  <a:srgbClr val="0F172A"/>
                </a:solidFill>
              </a:defRPr>
            </a:pPr>
            <a:r>
              <a:rPr sz="18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9BC359F-0719-48B0-9FEA-E8E182FE7F1B}"/>
              </a:ext>
            </a:extLst>
          </p:cNvPr>
          <p:cNvSpPr>
            <a:spLocks noGrp="1"/>
          </p:cNvSpPr>
          <p:nvPr/>
        </p:nvSpPr>
        <p:spPr>
          <a:xfrm>
            <a:off x="11506200" y="314325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B6472"/>
                </a:solidFill>
              </a:defRPr>
            </a:pPr>
            <a:r>
              <a:rPr sz="900" b="1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3A988CA-0945-4E8A-93EA-654E8DD2A1E7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820400" cy="9525"/>
          </a:xfrm>
          <a:prstGeom prst="rect">
            <a:avLst/>
          </a:prstGeom>
          <a:solidFill>
            <a:srgbClr val="EAEFF4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4977D3-6679-431F-9F0A-7FA2BC70A3D8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8763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论文模型与实验定位</a:t>
            </a:r>
            <a:endParaRPr sz="2250" b="1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B5715D-59DA-4F55-8AA4-44D62E742F81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8763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472"/>
                </a:solidFill>
              </a:defRPr>
            </a:pPr>
            <a:r>
              <a:rPr sz="1200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本页仅说明理论模型来源以及本实验的工程化扩展边界</a:t>
            </a:r>
            <a:endParaRPr sz="1200" b="0" dirty="0">
              <a:solidFill>
                <a:srgbClr val="5B647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8C2F61-6FF6-42C7-B0CE-9F3EA1088D5C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57150" cy="5143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18D733-6169-4B05-8367-BDEFEFAC4A29}"/>
              </a:ext>
            </a:extLst>
          </p:cNvPr>
          <p:cNvSpPr>
            <a:spLocks noGrp="1"/>
          </p:cNvSpPr>
          <p:nvPr/>
        </p:nvSpPr>
        <p:spPr>
          <a:xfrm>
            <a:off x="857250" y="2019300"/>
            <a:ext cx="106489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本实验采用</a:t>
            </a:r>
            <a:r>
              <a:rPr sz="16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Shamos-Hoey </a:t>
            </a:r>
            <a:r>
              <a:rPr sz="165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的经典确定性分治框架，并进一步构建了可验证、可导出、可可视化的完整实验链</a:t>
            </a:r>
            <a:r>
              <a:rPr sz="16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067CCE7-6EE7-4C67-829D-6CA432BC18C0}"/>
              </a:ext>
            </a:extLst>
          </p:cNvPr>
          <p:cNvSpPr>
            <a:spLocks noGrp="1"/>
          </p:cNvSpPr>
          <p:nvPr/>
        </p:nvSpPr>
        <p:spPr>
          <a:xfrm>
            <a:off x="685800" y="2971800"/>
            <a:ext cx="5219700" cy="9334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9E1EA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F110957-F61A-450D-A64B-8265C13B41ED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419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94A4798-AFE7-40AB-A8BE-0AB33FA2FF40}"/>
              </a:ext>
            </a:extLst>
          </p:cNvPr>
          <p:cNvSpPr>
            <a:spLocks noGrp="1"/>
          </p:cNvSpPr>
          <p:nvPr/>
        </p:nvSpPr>
        <p:spPr>
          <a:xfrm>
            <a:off x="1485900" y="31432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rPr sz="120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理论模型</a:t>
            </a:r>
            <a:endParaRPr sz="1200" b="1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A22E0F-9E96-41D1-B876-17B4E989CEDB}"/>
              </a:ext>
            </a:extLst>
          </p:cNvPr>
          <p:cNvSpPr>
            <a:spLocks noGrp="1"/>
          </p:cNvSpPr>
          <p:nvPr/>
        </p:nvSpPr>
        <p:spPr>
          <a:xfrm>
            <a:off x="1485900" y="3429000"/>
            <a:ext cx="4229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472"/>
                </a:solidFill>
              </a:defRPr>
            </a:pPr>
            <a:r>
              <a:rPr sz="1125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确定性分治主线，目标时间复杂度为</a:t>
            </a:r>
            <a:r>
              <a:rPr sz="1125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O(n log n)。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C264389-6F60-4CD1-9A07-ED514BFB4E2D}"/>
              </a:ext>
            </a:extLst>
          </p:cNvPr>
          <p:cNvSpPr>
            <a:spLocks noGrp="1"/>
          </p:cNvSpPr>
          <p:nvPr/>
        </p:nvSpPr>
        <p:spPr>
          <a:xfrm>
            <a:off x="685800" y="4057650"/>
            <a:ext cx="5219700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9525">
            <a:solidFill>
              <a:srgbClr val="D9E1EA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8B38BA6-8A99-4E4D-950F-34C741CB5407}"/>
              </a:ext>
            </a:extLst>
          </p:cNvPr>
          <p:cNvSpPr>
            <a:spLocks noGrp="1"/>
          </p:cNvSpPr>
          <p:nvPr/>
        </p:nvSpPr>
        <p:spPr>
          <a:xfrm>
            <a:off x="838200" y="4229100"/>
            <a:ext cx="419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F9D6A"/>
                </a:solidFill>
              </a:defRPr>
            </a:pPr>
            <a:r>
              <a:rPr sz="1800" b="1" dirty="0">
                <a:solidFill>
                  <a:srgbClr val="0F9D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A19336E-D771-4837-AC4E-4ABBCD312784}"/>
              </a:ext>
            </a:extLst>
          </p:cNvPr>
          <p:cNvSpPr>
            <a:spLocks noGrp="1"/>
          </p:cNvSpPr>
          <p:nvPr/>
        </p:nvSpPr>
        <p:spPr>
          <a:xfrm>
            <a:off x="1485900" y="422910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rPr sz="120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工程实现</a:t>
            </a:r>
            <a:endParaRPr sz="1200" b="1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9CFB1A9-1853-45E4-B6DF-14A7B17FF076}"/>
              </a:ext>
            </a:extLst>
          </p:cNvPr>
          <p:cNvSpPr>
            <a:spLocks noGrp="1"/>
          </p:cNvSpPr>
          <p:nvPr/>
        </p:nvSpPr>
        <p:spPr>
          <a:xfrm>
            <a:off x="1485900" y="4514850"/>
            <a:ext cx="4229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472"/>
                </a:solidFill>
              </a:defRPr>
            </a:pPr>
            <a:r>
              <a:rPr sz="1125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完成</a:t>
            </a:r>
            <a:r>
              <a:rPr sz="1125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C++ </a:t>
            </a:r>
            <a:r>
              <a:rPr sz="1125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求解、正确性校验与</a:t>
            </a:r>
            <a:r>
              <a:rPr sz="1125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benchmark </a:t>
            </a:r>
            <a:r>
              <a:rPr sz="1125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数据导出</a:t>
            </a:r>
            <a:r>
              <a:rPr sz="1125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4A43504-EE57-4F72-A29D-5469962C8EC3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5219700" cy="9334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9E1EA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B6444A3-9ECA-4378-A7ED-1BF5F63BD25A}"/>
              </a:ext>
            </a:extLst>
          </p:cNvPr>
          <p:cNvSpPr>
            <a:spLocks noGrp="1"/>
          </p:cNvSpPr>
          <p:nvPr/>
        </p:nvSpPr>
        <p:spPr>
          <a:xfrm>
            <a:off x="838200" y="5314950"/>
            <a:ext cx="419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94951D2-D9FA-4FEE-A71E-8DA5A47C7BB1}"/>
              </a:ext>
            </a:extLst>
          </p:cNvPr>
          <p:cNvSpPr>
            <a:spLocks noGrp="1"/>
          </p:cNvSpPr>
          <p:nvPr/>
        </p:nvSpPr>
        <p:spPr>
          <a:xfrm>
            <a:off x="1485900" y="53149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rPr sz="120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展示层</a:t>
            </a:r>
            <a:endParaRPr sz="1200" b="1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ED003D3-1568-440B-88E5-585B85B71DE7}"/>
              </a:ext>
            </a:extLst>
          </p:cNvPr>
          <p:cNvSpPr>
            <a:spLocks noGrp="1"/>
          </p:cNvSpPr>
          <p:nvPr/>
        </p:nvSpPr>
        <p:spPr>
          <a:xfrm>
            <a:off x="1485900" y="5600700"/>
            <a:ext cx="4229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472"/>
                </a:solidFill>
              </a:defRPr>
            </a:pPr>
            <a:r>
              <a:rPr sz="1125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</a:t>
            </a:r>
            <a:r>
              <a:rPr sz="1125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25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trace、steps、GIF、dashboard</a:t>
            </a:r>
            <a:r>
              <a:rPr sz="1125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25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以及实验报告</a:t>
            </a:r>
            <a:r>
              <a:rPr sz="1125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6BBC3AF-A15E-4929-873B-44E32B9CA3EE}"/>
              </a:ext>
            </a:extLst>
          </p:cNvPr>
          <p:cNvSpPr>
            <a:spLocks noGrp="1"/>
          </p:cNvSpPr>
          <p:nvPr/>
        </p:nvSpPr>
        <p:spPr>
          <a:xfrm>
            <a:off x="6362700" y="2971800"/>
            <a:ext cx="5143500" cy="3105150"/>
          </a:xfrm>
          <a:prstGeom prst="roundRect">
            <a:avLst>
              <a:gd name="adj" fmla="val 2454"/>
            </a:avLst>
          </a:prstGeom>
          <a:solidFill>
            <a:srgbClr val="F8FAFC"/>
          </a:solidFill>
          <a:ln w="9525">
            <a:solidFill>
              <a:srgbClr val="D9E1EA"/>
            </a:solidFill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721EE3A-34A5-468B-B180-C563586EFEC9}"/>
              </a:ext>
            </a:extLst>
          </p:cNvPr>
          <p:cNvSpPr>
            <a:spLocks noGrp="1"/>
          </p:cNvSpPr>
          <p:nvPr/>
        </p:nvSpPr>
        <p:spPr>
          <a:xfrm>
            <a:off x="6667500" y="323850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</a:defRPr>
            </a:pPr>
            <a:r>
              <a:rPr sz="135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本实验的工作边界</a:t>
            </a:r>
            <a:endParaRPr sz="1350" b="1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4D52BFEA-D2D8-4A5C-8D44-629F399A892C}"/>
              </a:ext>
            </a:extLst>
          </p:cNvPr>
          <p:cNvSpPr>
            <a:spLocks noGrp="1"/>
          </p:cNvSpPr>
          <p:nvPr/>
        </p:nvSpPr>
        <p:spPr>
          <a:xfrm>
            <a:off x="6667500" y="3819525"/>
            <a:ext cx="76200" cy="7620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C8CB6FE-DCA4-4866-954E-4124113D29DE}"/>
              </a:ext>
            </a:extLst>
          </p:cNvPr>
          <p:cNvSpPr>
            <a:spLocks noGrp="1"/>
          </p:cNvSpPr>
          <p:nvPr/>
        </p:nvSpPr>
        <p:spPr>
          <a:xfrm>
            <a:off x="6858000" y="3733800"/>
            <a:ext cx="4095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不展开蛮力法常识与基本定义</a:t>
            </a:r>
            <a:r>
              <a:rPr sz="1350" b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C87F4A0A-D6DF-490D-867F-CEDFDBD896F3}"/>
              </a:ext>
            </a:extLst>
          </p:cNvPr>
          <p:cNvSpPr>
            <a:spLocks noGrp="1"/>
          </p:cNvSpPr>
          <p:nvPr/>
        </p:nvSpPr>
        <p:spPr>
          <a:xfrm>
            <a:off x="6667500" y="4371975"/>
            <a:ext cx="76200" cy="7620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F75A0F7-0359-493B-9798-AC98CA61BAFC}"/>
              </a:ext>
            </a:extLst>
          </p:cNvPr>
          <p:cNvSpPr>
            <a:spLocks noGrp="1"/>
          </p:cNvSpPr>
          <p:nvPr/>
        </p:nvSpPr>
        <p:spPr>
          <a:xfrm>
            <a:off x="6858000" y="4286250"/>
            <a:ext cx="4095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重点展示带状区域筛选、可视化导出与实验验证</a:t>
            </a:r>
            <a:r>
              <a:rPr sz="1350" b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FCF88CF0-4483-497C-B9F1-C806FCD8C47A}"/>
              </a:ext>
            </a:extLst>
          </p:cNvPr>
          <p:cNvSpPr>
            <a:spLocks noGrp="1"/>
          </p:cNvSpPr>
          <p:nvPr/>
        </p:nvSpPr>
        <p:spPr>
          <a:xfrm>
            <a:off x="6667500" y="4924425"/>
            <a:ext cx="76200" cy="7620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904909E-2565-455C-9A09-00C0DA3B58C8}"/>
              </a:ext>
            </a:extLst>
          </p:cNvPr>
          <p:cNvSpPr>
            <a:spLocks noGrp="1"/>
          </p:cNvSpPr>
          <p:nvPr/>
        </p:nvSpPr>
        <p:spPr>
          <a:xfrm>
            <a:off x="6858000" y="4838700"/>
            <a:ext cx="4095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全部结论均基于当前仓库中的真实实验输出</a:t>
            </a:r>
            <a:r>
              <a:rPr sz="1350" b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90070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DEE0A5B-FAD4-42A0-A281-97BD93A7B66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</a:defRPr>
            </a:pPr>
            <a:r>
              <a:rPr sz="900" b="1" dirty="0" err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算法实现</a:t>
            </a:r>
            <a:endParaRPr sz="9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B195C5E-2589-4394-AB7F-FF60E91F94E4}"/>
              </a:ext>
            </a:extLst>
          </p:cNvPr>
          <p:cNvSpPr>
            <a:spLocks noGrp="1"/>
          </p:cNvSpPr>
          <p:nvPr/>
        </p:nvSpPr>
        <p:spPr>
          <a:xfrm>
            <a:off x="10972800" y="228600"/>
            <a:ext cx="533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1800" b="1">
                <a:solidFill>
                  <a:srgbClr val="0F172A"/>
                </a:solidFill>
              </a:defRPr>
            </a:pPr>
            <a:r>
              <a:rPr sz="18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87529C-1CEC-470F-B01E-021D59CDE9D2}"/>
              </a:ext>
            </a:extLst>
          </p:cNvPr>
          <p:cNvSpPr>
            <a:spLocks noGrp="1"/>
          </p:cNvSpPr>
          <p:nvPr/>
        </p:nvSpPr>
        <p:spPr>
          <a:xfrm>
            <a:off x="11506200" y="314325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B6472"/>
                </a:solidFill>
              </a:defRPr>
            </a:pPr>
            <a:r>
              <a:rPr sz="900" b="1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8F50CC-627A-4A80-8B7F-55D74F59B6EF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820400" cy="9525"/>
          </a:xfrm>
          <a:prstGeom prst="rect">
            <a:avLst/>
          </a:prstGeom>
          <a:solidFill>
            <a:srgbClr val="EAEFF4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BF518A1-9C30-48C9-9F7D-EE75BF968AAE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8763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算法实现与关键优化</a:t>
            </a:r>
            <a:endParaRPr sz="2250" b="1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79857A9-9A40-4DA0-ABA9-3DA5D95D579B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3429000" cy="3181350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9525">
            <a:solidFill>
              <a:srgbClr val="D9E1EA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6B6B51-C634-445D-BEFA-4C452EF07B7D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34290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7D491BB-5723-4908-AF5E-F82E41150EB5}"/>
              </a:ext>
            </a:extLst>
          </p:cNvPr>
          <p:cNvSpPr>
            <a:spLocks noGrp="1"/>
          </p:cNvSpPr>
          <p:nvPr/>
        </p:nvSpPr>
        <p:spPr>
          <a:xfrm>
            <a:off x="857250" y="251460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</a:defRPr>
            </a:pPr>
            <a:r>
              <a:rPr sz="135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预排序与递归划分</a:t>
            </a:r>
            <a:endParaRPr sz="1350" b="1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9AF627E-5AA4-401A-A4A0-8B90AA688120}"/>
              </a:ext>
            </a:extLst>
          </p:cNvPr>
          <p:cNvSpPr>
            <a:spLocks noGrp="1"/>
          </p:cNvSpPr>
          <p:nvPr/>
        </p:nvSpPr>
        <p:spPr>
          <a:xfrm>
            <a:off x="857250" y="3076575"/>
            <a:ext cx="76200" cy="7620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1341E3-3A8D-4FB7-A073-7C1FAD6060F8}"/>
              </a:ext>
            </a:extLst>
          </p:cNvPr>
          <p:cNvSpPr>
            <a:spLocks noGrp="1"/>
          </p:cNvSpPr>
          <p:nvPr/>
        </p:nvSpPr>
        <p:spPr>
          <a:xfrm>
            <a:off x="1047750" y="2990850"/>
            <a:ext cx="2895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点集分别按</a:t>
            </a:r>
            <a:r>
              <a:rPr sz="1275" b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x、y</a:t>
            </a:r>
            <a:r>
              <a:rPr sz="1275" b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排序，递归过程中仅进行线性划分</a:t>
            </a:r>
            <a:r>
              <a:rPr sz="1275" b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169AE45-F872-4F93-98CB-BDB3D92D68BE}"/>
              </a:ext>
            </a:extLst>
          </p:cNvPr>
          <p:cNvSpPr>
            <a:spLocks noGrp="1"/>
          </p:cNvSpPr>
          <p:nvPr/>
        </p:nvSpPr>
        <p:spPr>
          <a:xfrm>
            <a:off x="857250" y="3590925"/>
            <a:ext cx="76200" cy="7620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70E2D2B-A902-41CB-AE01-D886F537E51C}"/>
              </a:ext>
            </a:extLst>
          </p:cNvPr>
          <p:cNvSpPr>
            <a:spLocks noGrp="1"/>
          </p:cNvSpPr>
          <p:nvPr/>
        </p:nvSpPr>
        <p:spPr>
          <a:xfrm>
            <a:off x="1047750" y="3505200"/>
            <a:ext cx="2895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递归基限定为</a:t>
            </a:r>
            <a:r>
              <a:rPr sz="1275" b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|S|≤3，以控制边界处理复杂度。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25925D5-F4C9-4A30-8C5E-4EFFDB893C0A}"/>
              </a:ext>
            </a:extLst>
          </p:cNvPr>
          <p:cNvSpPr>
            <a:spLocks noGrp="1"/>
          </p:cNvSpPr>
          <p:nvPr/>
        </p:nvSpPr>
        <p:spPr>
          <a:xfrm>
            <a:off x="857250" y="4105275"/>
            <a:ext cx="76200" cy="7620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812EA51-9620-48F9-A6BF-091D93545A45}"/>
              </a:ext>
            </a:extLst>
          </p:cNvPr>
          <p:cNvSpPr>
            <a:spLocks noGrp="1"/>
          </p:cNvSpPr>
          <p:nvPr/>
        </p:nvSpPr>
        <p:spPr>
          <a:xfrm>
            <a:off x="1047750" y="4019550"/>
            <a:ext cx="2895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左右子问题规模保持均衡，递归深度稳定在</a:t>
            </a:r>
            <a:r>
              <a:rPr sz="1275" b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log n。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90B3F75-AA1C-44F9-A60D-7E81976AE026}"/>
              </a:ext>
            </a:extLst>
          </p:cNvPr>
          <p:cNvSpPr>
            <a:spLocks noGrp="1"/>
          </p:cNvSpPr>
          <p:nvPr/>
        </p:nvSpPr>
        <p:spPr>
          <a:xfrm>
            <a:off x="4381500" y="2324100"/>
            <a:ext cx="3429000" cy="3181350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9525">
            <a:solidFill>
              <a:srgbClr val="D9E1EA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FB6359-D6A2-4773-8EEC-89E60806B8E4}"/>
              </a:ext>
            </a:extLst>
          </p:cNvPr>
          <p:cNvSpPr>
            <a:spLocks noGrp="1"/>
          </p:cNvSpPr>
          <p:nvPr/>
        </p:nvSpPr>
        <p:spPr>
          <a:xfrm>
            <a:off x="4381500" y="2324100"/>
            <a:ext cx="3429000" cy="47625"/>
          </a:xfrm>
          <a:prstGeom prst="rect">
            <a:avLst/>
          </a:prstGeom>
          <a:solidFill>
            <a:srgbClr val="0F9D6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DA91C14-58AF-45AC-84A1-AF2A3D659B28}"/>
              </a:ext>
            </a:extLst>
          </p:cNvPr>
          <p:cNvSpPr>
            <a:spLocks noGrp="1"/>
          </p:cNvSpPr>
          <p:nvPr/>
        </p:nvSpPr>
        <p:spPr>
          <a:xfrm>
            <a:off x="4552950" y="251460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</a:defRPr>
            </a:pPr>
            <a:r>
              <a:rPr sz="135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带状区域筛选</a:t>
            </a:r>
            <a:endParaRPr sz="1350" b="1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669CFB4A-6F3B-4E93-BCA8-18DAB6F09E83}"/>
              </a:ext>
            </a:extLst>
          </p:cNvPr>
          <p:cNvSpPr>
            <a:spLocks noGrp="1"/>
          </p:cNvSpPr>
          <p:nvPr/>
        </p:nvSpPr>
        <p:spPr>
          <a:xfrm>
            <a:off x="4552950" y="3076575"/>
            <a:ext cx="76200" cy="7620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61F6658-D4BB-4089-9859-9D9F770DC2FA}"/>
              </a:ext>
            </a:extLst>
          </p:cNvPr>
          <p:cNvSpPr>
            <a:spLocks noGrp="1"/>
          </p:cNvSpPr>
          <p:nvPr/>
        </p:nvSpPr>
        <p:spPr>
          <a:xfrm>
            <a:off x="4743450" y="2990850"/>
            <a:ext cx="2895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合并阶段仅搜索满足</a:t>
            </a:r>
            <a:r>
              <a:rPr sz="1275" b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|x-</a:t>
            </a:r>
            <a:r>
              <a:rPr sz="1275" b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xm</a:t>
            </a:r>
            <a:r>
              <a:rPr sz="1275" b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|&lt;d 的 strip </a:t>
            </a:r>
            <a:r>
              <a:rPr sz="1275" b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区域</a:t>
            </a:r>
            <a:r>
              <a:rPr sz="1275" b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384A5342-0491-4585-949B-D7EC3B961268}"/>
              </a:ext>
            </a:extLst>
          </p:cNvPr>
          <p:cNvSpPr>
            <a:spLocks noGrp="1"/>
          </p:cNvSpPr>
          <p:nvPr/>
        </p:nvSpPr>
        <p:spPr>
          <a:xfrm>
            <a:off x="4552950" y="3590925"/>
            <a:ext cx="76200" cy="7620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B4C03F9-42D8-4D32-8C86-907D1D016E1B}"/>
              </a:ext>
            </a:extLst>
          </p:cNvPr>
          <p:cNvSpPr>
            <a:spLocks noGrp="1"/>
          </p:cNvSpPr>
          <p:nvPr/>
        </p:nvSpPr>
        <p:spPr>
          <a:xfrm>
            <a:off x="4743450" y="3505200"/>
            <a:ext cx="2895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strip 按 y </a:t>
            </a:r>
            <a:r>
              <a:rPr sz="1275" b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排序后，利用</a:t>
            </a:r>
            <a:r>
              <a:rPr sz="1275" b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1275" b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差进行快速剪枝</a:t>
            </a:r>
            <a:r>
              <a:rPr sz="1275" b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7ECEFD9-9533-4D45-ADF9-453A6C80DEC4}"/>
              </a:ext>
            </a:extLst>
          </p:cNvPr>
          <p:cNvSpPr>
            <a:spLocks noGrp="1"/>
          </p:cNvSpPr>
          <p:nvPr/>
        </p:nvSpPr>
        <p:spPr>
          <a:xfrm>
            <a:off x="4552950" y="4105275"/>
            <a:ext cx="76200" cy="7620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1BAA15C-0E2D-40B8-92B1-0DF235840067}"/>
              </a:ext>
            </a:extLst>
          </p:cNvPr>
          <p:cNvSpPr>
            <a:spLocks noGrp="1"/>
          </p:cNvSpPr>
          <p:nvPr/>
        </p:nvSpPr>
        <p:spPr>
          <a:xfrm>
            <a:off x="4743450" y="4019550"/>
            <a:ext cx="2895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二维搜索由此压缩为常数级候选比较</a:t>
            </a:r>
            <a:r>
              <a:rPr sz="1275" b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158C5F5D-E2AF-45FB-A83B-C4ABBE2A5FC3}"/>
              </a:ext>
            </a:extLst>
          </p:cNvPr>
          <p:cNvSpPr>
            <a:spLocks noGrp="1"/>
          </p:cNvSpPr>
          <p:nvPr/>
        </p:nvSpPr>
        <p:spPr>
          <a:xfrm>
            <a:off x="8077200" y="2324100"/>
            <a:ext cx="3429000" cy="3181350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9525">
            <a:solidFill>
              <a:srgbClr val="D9E1EA"/>
            </a:solidFill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437B73D-A4AC-4329-B223-D3DC9581F78B}"/>
              </a:ext>
            </a:extLst>
          </p:cNvPr>
          <p:cNvSpPr>
            <a:spLocks noGrp="1"/>
          </p:cNvSpPr>
          <p:nvPr/>
        </p:nvSpPr>
        <p:spPr>
          <a:xfrm>
            <a:off x="8077200" y="2324100"/>
            <a:ext cx="34290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66BE828-561A-4B6B-BF8B-D09D391B3CE5}"/>
              </a:ext>
            </a:extLst>
          </p:cNvPr>
          <p:cNvSpPr>
            <a:spLocks noGrp="1"/>
          </p:cNvSpPr>
          <p:nvPr/>
        </p:nvSpPr>
        <p:spPr>
          <a:xfrm>
            <a:off x="8248650" y="251460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</a:defRPr>
            </a:pPr>
            <a:r>
              <a:rPr sz="135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可视化友好导出</a:t>
            </a:r>
            <a:endParaRPr sz="1350" b="1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38255AFE-3762-4E8C-8E3B-6FE7CA0850A4}"/>
              </a:ext>
            </a:extLst>
          </p:cNvPr>
          <p:cNvSpPr>
            <a:spLocks noGrp="1"/>
          </p:cNvSpPr>
          <p:nvPr/>
        </p:nvSpPr>
        <p:spPr>
          <a:xfrm>
            <a:off x="8248650" y="3076575"/>
            <a:ext cx="76200" cy="7620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90BA62F-30C7-4F5E-8CBD-6C02CB7F7FDB}"/>
              </a:ext>
            </a:extLst>
          </p:cNvPr>
          <p:cNvSpPr>
            <a:spLocks noGrp="1"/>
          </p:cNvSpPr>
          <p:nvPr/>
        </p:nvSpPr>
        <p:spPr>
          <a:xfrm>
            <a:off x="8439150" y="2990850"/>
            <a:ext cx="2895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trace_demo.csv </a:t>
            </a:r>
            <a:r>
              <a:rPr sz="1275" b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记录当前最优值被更新的时刻</a:t>
            </a:r>
            <a:r>
              <a:rPr sz="1275" b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AEC3D71C-1914-41D1-9487-0AD2F15E5CDF}"/>
              </a:ext>
            </a:extLst>
          </p:cNvPr>
          <p:cNvSpPr>
            <a:spLocks noGrp="1"/>
          </p:cNvSpPr>
          <p:nvPr/>
        </p:nvSpPr>
        <p:spPr>
          <a:xfrm>
            <a:off x="8248650" y="3590925"/>
            <a:ext cx="76200" cy="7620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F28DA13-F6D2-4B24-9075-367D192CC0A7}"/>
              </a:ext>
            </a:extLst>
          </p:cNvPr>
          <p:cNvSpPr>
            <a:spLocks noGrp="1"/>
          </p:cNvSpPr>
          <p:nvPr/>
        </p:nvSpPr>
        <p:spPr>
          <a:xfrm>
            <a:off x="8439150" y="3505200"/>
            <a:ext cx="2895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steps_demo.csv </a:t>
            </a:r>
            <a:r>
              <a:rPr sz="1275" b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记录递归深度、中线位置与</a:t>
            </a:r>
            <a:r>
              <a:rPr sz="1275" b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strip </a:t>
            </a:r>
            <a:r>
              <a:rPr sz="1275" b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边界</a:t>
            </a:r>
            <a:r>
              <a:rPr sz="1275" b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4F34162B-DEDC-497D-8D60-677772EA5DEC}"/>
              </a:ext>
            </a:extLst>
          </p:cNvPr>
          <p:cNvSpPr>
            <a:spLocks noGrp="1"/>
          </p:cNvSpPr>
          <p:nvPr/>
        </p:nvSpPr>
        <p:spPr>
          <a:xfrm>
            <a:off x="8248650" y="4105275"/>
            <a:ext cx="76200" cy="7620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B997B46-B828-4F3E-B376-3D6CD9D1B41B}"/>
              </a:ext>
            </a:extLst>
          </p:cNvPr>
          <p:cNvSpPr>
            <a:spLocks noGrp="1"/>
          </p:cNvSpPr>
          <p:nvPr/>
        </p:nvSpPr>
        <p:spPr>
          <a:xfrm>
            <a:off x="8439150" y="4019550"/>
            <a:ext cx="2895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这些数据进一步驱动</a:t>
            </a:r>
            <a:r>
              <a:rPr sz="1275" b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GIF、dashboard</a:t>
            </a:r>
            <a:r>
              <a:rPr sz="1275" b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与实验报告</a:t>
            </a:r>
            <a:r>
              <a:rPr sz="1275" b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64749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32FA303-8663-41E9-9650-0F06EA5DA1A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</a:defRPr>
            </a:pPr>
            <a:r>
              <a:rPr sz="900" b="1" dirty="0" err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几何证明</a:t>
            </a:r>
            <a:endParaRPr sz="9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F707FF-778A-4753-8815-0C77F61C3ABF}"/>
              </a:ext>
            </a:extLst>
          </p:cNvPr>
          <p:cNvSpPr>
            <a:spLocks noGrp="1"/>
          </p:cNvSpPr>
          <p:nvPr/>
        </p:nvSpPr>
        <p:spPr>
          <a:xfrm>
            <a:off x="10972800" y="228600"/>
            <a:ext cx="533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1800" b="1">
                <a:solidFill>
                  <a:srgbClr val="0F172A"/>
                </a:solidFill>
              </a:defRPr>
            </a:pPr>
            <a:r>
              <a:rPr sz="18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95DA3B-2FEC-452E-9AB7-E4BB38C46566}"/>
              </a:ext>
            </a:extLst>
          </p:cNvPr>
          <p:cNvSpPr>
            <a:spLocks noGrp="1"/>
          </p:cNvSpPr>
          <p:nvPr/>
        </p:nvSpPr>
        <p:spPr>
          <a:xfrm>
            <a:off x="11506200" y="314325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B6472"/>
                </a:solidFill>
              </a:defRPr>
            </a:pPr>
            <a:r>
              <a:rPr sz="900" b="1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80793F-11AF-485B-80FD-0DE187FD1773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820400" cy="9525"/>
          </a:xfrm>
          <a:prstGeom prst="rect">
            <a:avLst/>
          </a:prstGeom>
          <a:solidFill>
            <a:srgbClr val="EAEFF4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8C22DF-8503-4FFA-A78C-84048C4C0AC5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8763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分治法合并步骤线性效率的几何证明</a:t>
            </a:r>
            <a:endParaRPr sz="2250" b="1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118EF58-DC1A-481A-8A1F-4F43029B89BA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8763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472"/>
                </a:solidFill>
              </a:defRPr>
            </a:pPr>
            <a:r>
              <a:rPr sz="1200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报告附录中的核心结论：按</a:t>
            </a:r>
            <a:r>
              <a:rPr sz="1200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1200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排序后，每个点至多只需比较后续</a:t>
            </a:r>
            <a:r>
              <a:rPr sz="1200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 </a:t>
            </a:r>
            <a:r>
              <a:rPr sz="1200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个点</a:t>
            </a:r>
            <a:endParaRPr sz="1200" b="0" dirty="0">
              <a:solidFill>
                <a:srgbClr val="5B647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7732C76-B500-4FC8-B7E8-B7DBED3B7B55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771650" cy="933450"/>
          </a:xfrm>
          <a:prstGeom prst="roundRect">
            <a:avLst>
              <a:gd name="adj" fmla="val 8163"/>
            </a:avLst>
          </a:prstGeom>
          <a:solidFill>
            <a:srgbClr val="EEF4FF"/>
          </a:solidFill>
          <a:ln w="9525">
            <a:solidFill>
              <a:srgbClr val="D9E1EA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C3F4D6B-7E02-4011-A4FA-678CB84128A3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77165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A2B662F-F3AC-4896-9619-C2692525D122}"/>
              </a:ext>
            </a:extLst>
          </p:cNvPr>
          <p:cNvSpPr>
            <a:spLocks noGrp="1"/>
          </p:cNvSpPr>
          <p:nvPr/>
        </p:nvSpPr>
        <p:spPr>
          <a:xfrm>
            <a:off x="857250" y="217170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2d × d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8C74212-94DC-4DD0-B53E-D54ED8B76191}"/>
              </a:ext>
            </a:extLst>
          </p:cNvPr>
          <p:cNvSpPr>
            <a:spLocks noGrp="1"/>
          </p:cNvSpPr>
          <p:nvPr/>
        </p:nvSpPr>
        <p:spPr>
          <a:xfrm>
            <a:off x="857250" y="25908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472"/>
                </a:solidFill>
              </a:defRPr>
            </a:pPr>
            <a:r>
              <a:rPr sz="1125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候选比较矩形</a:t>
            </a:r>
            <a:endParaRPr sz="1125" b="0" dirty="0">
              <a:solidFill>
                <a:srgbClr val="5B647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A2C93F0-BE63-474F-95E5-ABB0B6DE7293}"/>
              </a:ext>
            </a:extLst>
          </p:cNvPr>
          <p:cNvSpPr>
            <a:spLocks noGrp="1"/>
          </p:cNvSpPr>
          <p:nvPr/>
        </p:nvSpPr>
        <p:spPr>
          <a:xfrm>
            <a:off x="2667000" y="2000250"/>
            <a:ext cx="1771650" cy="933450"/>
          </a:xfrm>
          <a:prstGeom prst="roundRect">
            <a:avLst>
              <a:gd name="adj" fmla="val 8163"/>
            </a:avLst>
          </a:prstGeom>
          <a:solidFill>
            <a:srgbClr val="F1FDF8"/>
          </a:solidFill>
          <a:ln w="9525">
            <a:solidFill>
              <a:srgbClr val="D9E1EA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73EF962-3F67-43C1-9C08-1D3F93B4FCBC}"/>
              </a:ext>
            </a:extLst>
          </p:cNvPr>
          <p:cNvSpPr>
            <a:spLocks noGrp="1"/>
          </p:cNvSpPr>
          <p:nvPr/>
        </p:nvSpPr>
        <p:spPr>
          <a:xfrm>
            <a:off x="2667000" y="2000250"/>
            <a:ext cx="1771650" cy="47625"/>
          </a:xfrm>
          <a:prstGeom prst="rect">
            <a:avLst/>
          </a:prstGeom>
          <a:solidFill>
            <a:srgbClr val="0F9D6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85FEDB-BA18-4003-84C9-329C123F9380}"/>
              </a:ext>
            </a:extLst>
          </p:cNvPr>
          <p:cNvSpPr>
            <a:spLocks noGrp="1"/>
          </p:cNvSpPr>
          <p:nvPr/>
        </p:nvSpPr>
        <p:spPr>
          <a:xfrm>
            <a:off x="2838450" y="217170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09DD284-2504-4F3F-840E-8D43FEFD9359}"/>
              </a:ext>
            </a:extLst>
          </p:cNvPr>
          <p:cNvSpPr>
            <a:spLocks noGrp="1"/>
          </p:cNvSpPr>
          <p:nvPr/>
        </p:nvSpPr>
        <p:spPr>
          <a:xfrm>
            <a:off x="2838450" y="25908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472"/>
                </a:solidFill>
              </a:defRPr>
            </a:pPr>
            <a:r>
              <a:rPr sz="1125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最多容纳点数</a:t>
            </a:r>
            <a:endParaRPr sz="1125" b="0" dirty="0">
              <a:solidFill>
                <a:srgbClr val="5B647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8AD36F2-AB19-4496-8276-6AFA5169FD66}"/>
              </a:ext>
            </a:extLst>
          </p:cNvPr>
          <p:cNvSpPr>
            <a:spLocks noGrp="1"/>
          </p:cNvSpPr>
          <p:nvPr/>
        </p:nvSpPr>
        <p:spPr>
          <a:xfrm>
            <a:off x="4648200" y="2000250"/>
            <a:ext cx="1771650" cy="933450"/>
          </a:xfrm>
          <a:prstGeom prst="roundRect">
            <a:avLst>
              <a:gd name="adj" fmla="val 8163"/>
            </a:avLst>
          </a:prstGeom>
          <a:solidFill>
            <a:srgbClr val="EEF4FF"/>
          </a:solidFill>
          <a:ln w="9525">
            <a:solidFill>
              <a:srgbClr val="D9E1EA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2CC9517-0F61-4FA4-AFD2-4DDD64B81DA1}"/>
              </a:ext>
            </a:extLst>
          </p:cNvPr>
          <p:cNvSpPr>
            <a:spLocks noGrp="1"/>
          </p:cNvSpPr>
          <p:nvPr/>
        </p:nvSpPr>
        <p:spPr>
          <a:xfrm>
            <a:off x="4648200" y="2000250"/>
            <a:ext cx="177165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20CBC89-460C-4149-A99C-2AFBD5B8008E}"/>
              </a:ext>
            </a:extLst>
          </p:cNvPr>
          <p:cNvSpPr>
            <a:spLocks noGrp="1"/>
          </p:cNvSpPr>
          <p:nvPr/>
        </p:nvSpPr>
        <p:spPr>
          <a:xfrm>
            <a:off x="4819650" y="217170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d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9CC84CB-2B36-4A4A-B4D9-EAEEB1B66650}"/>
              </a:ext>
            </a:extLst>
          </p:cNvPr>
          <p:cNvSpPr>
            <a:spLocks noGrp="1"/>
          </p:cNvSpPr>
          <p:nvPr/>
        </p:nvSpPr>
        <p:spPr>
          <a:xfrm>
            <a:off x="4819650" y="25908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472"/>
                </a:solidFill>
              </a:defRPr>
            </a:pPr>
            <a:r>
              <a:rPr sz="1125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小矩形对角线</a:t>
            </a:r>
            <a:endParaRPr sz="1125" b="0" dirty="0">
              <a:solidFill>
                <a:srgbClr val="5B647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2DC5D600-5779-4530-9F05-B34F82E4B418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601980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9E1EA"/>
            </a:solidFill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C7F5F7B-84AD-49DC-B4B4-86CAA46A95A5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</a:defRPr>
            </a:pPr>
            <a:r>
              <a:rPr sz="135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证明思路</a:t>
            </a:r>
            <a:endParaRPr sz="1350" b="1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D9D09A-7E6A-4818-B25F-02D6F8A03D47}"/>
              </a:ext>
            </a:extLst>
          </p:cNvPr>
          <p:cNvSpPr>
            <a:spLocks noGrp="1"/>
          </p:cNvSpPr>
          <p:nvPr/>
        </p:nvSpPr>
        <p:spPr>
          <a:xfrm>
            <a:off x="933450" y="384810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563EB"/>
                </a:solidFill>
              </a:defRPr>
            </a:pPr>
            <a:r>
              <a:rPr sz="1125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B0EF7BD-D453-44D4-9910-2183AE39B96C}"/>
              </a:ext>
            </a:extLst>
          </p:cNvPr>
          <p:cNvSpPr>
            <a:spLocks noGrp="1"/>
          </p:cNvSpPr>
          <p:nvPr/>
        </p:nvSpPr>
        <p:spPr>
          <a:xfrm>
            <a:off x="1181100" y="38290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172A"/>
                </a:solidFill>
              </a:defRPr>
            </a:pPr>
            <a:r>
              <a:rPr sz="1125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候选区域</a:t>
            </a:r>
            <a:endParaRPr sz="1125" b="1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949879F-D3B2-46BE-98D0-7B5EAF634ECF}"/>
              </a:ext>
            </a:extLst>
          </p:cNvPr>
          <p:cNvSpPr>
            <a:spLocks noGrp="1"/>
          </p:cNvSpPr>
          <p:nvPr/>
        </p:nvSpPr>
        <p:spPr>
          <a:xfrm>
            <a:off x="1181100" y="4019550"/>
            <a:ext cx="4953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</a:defRPr>
            </a:pPr>
            <a:r>
              <a:rPr sz="1050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单点仅需考察分界线右侧的</a:t>
            </a:r>
            <a:r>
              <a:rPr sz="1050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2d×d </a:t>
            </a:r>
            <a:r>
              <a:rPr sz="1050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候选区域</a:t>
            </a:r>
            <a:r>
              <a:rPr sz="1050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48E42B5-0BEC-49E7-B597-F0AB56A9E552}"/>
              </a:ext>
            </a:extLst>
          </p:cNvPr>
          <p:cNvSpPr>
            <a:spLocks noGrp="1"/>
          </p:cNvSpPr>
          <p:nvPr/>
        </p:nvSpPr>
        <p:spPr>
          <a:xfrm>
            <a:off x="933450" y="44005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9D6A"/>
                </a:solidFill>
              </a:defRPr>
            </a:pPr>
            <a:r>
              <a:rPr sz="1125" b="1" dirty="0">
                <a:solidFill>
                  <a:srgbClr val="0F9D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3B4A9C0-B1BB-482E-9DAA-F9FCF2DCBC11}"/>
              </a:ext>
            </a:extLst>
          </p:cNvPr>
          <p:cNvSpPr>
            <a:spLocks noGrp="1"/>
          </p:cNvSpPr>
          <p:nvPr/>
        </p:nvSpPr>
        <p:spPr>
          <a:xfrm>
            <a:off x="1181100" y="43815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172A"/>
                </a:solidFill>
              </a:defRPr>
            </a:pPr>
            <a:r>
              <a:rPr sz="1125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区域切割</a:t>
            </a:r>
            <a:endParaRPr sz="1125" b="1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6D6B148-A698-4020-84E4-0A131519AA35}"/>
              </a:ext>
            </a:extLst>
          </p:cNvPr>
          <p:cNvSpPr>
            <a:spLocks noGrp="1"/>
          </p:cNvSpPr>
          <p:nvPr/>
        </p:nvSpPr>
        <p:spPr>
          <a:xfrm>
            <a:off x="1181100" y="4572000"/>
            <a:ext cx="4953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</a:defRPr>
            </a:pPr>
            <a:r>
              <a:rPr sz="1050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将该矩形划分为</a:t>
            </a:r>
            <a:r>
              <a:rPr sz="1050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2×3 共 6 </a:t>
            </a:r>
            <a:r>
              <a:rPr sz="1050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个小矩形，每块尺寸为</a:t>
            </a:r>
            <a:r>
              <a:rPr sz="1050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d/2 × d/3。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33DD164-5C6A-4365-AD48-FCAB6A874FB3}"/>
              </a:ext>
            </a:extLst>
          </p:cNvPr>
          <p:cNvSpPr>
            <a:spLocks noGrp="1"/>
          </p:cNvSpPr>
          <p:nvPr/>
        </p:nvSpPr>
        <p:spPr>
          <a:xfrm>
            <a:off x="933450" y="495300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563EB"/>
                </a:solidFill>
              </a:defRPr>
            </a:pPr>
            <a:r>
              <a:rPr sz="1125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28A54BE-1A2C-4FAB-8C6A-B617AB3DCFB5}"/>
              </a:ext>
            </a:extLst>
          </p:cNvPr>
          <p:cNvSpPr>
            <a:spLocks noGrp="1"/>
          </p:cNvSpPr>
          <p:nvPr/>
        </p:nvSpPr>
        <p:spPr>
          <a:xfrm>
            <a:off x="1181100" y="49339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172A"/>
                </a:solidFill>
              </a:defRPr>
            </a:pPr>
            <a:r>
              <a:rPr sz="1125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对角线界</a:t>
            </a:r>
            <a:endParaRPr sz="1125" b="1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59F41A9-48E6-4D44-95FC-E8B2BA1AC49A}"/>
              </a:ext>
            </a:extLst>
          </p:cNvPr>
          <p:cNvSpPr>
            <a:spLocks noGrp="1"/>
          </p:cNvSpPr>
          <p:nvPr/>
        </p:nvSpPr>
        <p:spPr>
          <a:xfrm>
            <a:off x="1181100" y="5124450"/>
            <a:ext cx="4953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</a:defRPr>
            </a:pPr>
            <a:r>
              <a:rPr sz="1050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小矩形对角线长度为</a:t>
            </a:r>
            <a:r>
              <a:rPr sz="1050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d√13/6≈0.6009d，因此严格小于 d。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E811F1B-DFB7-4BD0-BC7D-7D68C9E94198}"/>
              </a:ext>
            </a:extLst>
          </p:cNvPr>
          <p:cNvSpPr>
            <a:spLocks noGrp="1"/>
          </p:cNvSpPr>
          <p:nvPr/>
        </p:nvSpPr>
        <p:spPr>
          <a:xfrm>
            <a:off x="933450" y="55054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9D6A"/>
                </a:solidFill>
              </a:defRPr>
            </a:pPr>
            <a:r>
              <a:rPr sz="1125" b="1" dirty="0">
                <a:solidFill>
                  <a:srgbClr val="0F9D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1E19A19-FE67-49B0-BE49-65CC20638048}"/>
              </a:ext>
            </a:extLst>
          </p:cNvPr>
          <p:cNvSpPr>
            <a:spLocks noGrp="1"/>
          </p:cNvSpPr>
          <p:nvPr/>
        </p:nvSpPr>
        <p:spPr>
          <a:xfrm>
            <a:off x="1181100" y="54864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172A"/>
                </a:solidFill>
              </a:defRPr>
            </a:pPr>
            <a:r>
              <a:rPr sz="1125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鸽巢反证</a:t>
            </a:r>
            <a:endParaRPr sz="1125" b="1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6E46B77-3109-4A13-8290-B9C6FBF0BF3F}"/>
              </a:ext>
            </a:extLst>
          </p:cNvPr>
          <p:cNvSpPr>
            <a:spLocks noGrp="1"/>
          </p:cNvSpPr>
          <p:nvPr/>
        </p:nvSpPr>
        <p:spPr>
          <a:xfrm>
            <a:off x="1181100" y="5676900"/>
            <a:ext cx="4953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</a:defRPr>
            </a:pPr>
            <a:r>
              <a:rPr sz="1050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若候选区中出现至少</a:t>
            </a:r>
            <a:r>
              <a:rPr sz="1050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 </a:t>
            </a:r>
            <a:r>
              <a:rPr sz="1050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个点，则必有两点落入同一小矩形，其距离小于</a:t>
            </a:r>
            <a:r>
              <a:rPr sz="1050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d，与前提矛盾</a:t>
            </a:r>
            <a:r>
              <a:rPr sz="1050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1F2F549-03A9-4173-8D13-FF7CC3813164}"/>
              </a:ext>
            </a:extLst>
          </p:cNvPr>
          <p:cNvSpPr>
            <a:spLocks noGrp="1"/>
          </p:cNvSpPr>
          <p:nvPr/>
        </p:nvSpPr>
        <p:spPr>
          <a:xfrm>
            <a:off x="933450" y="582930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9D6A"/>
                </a:solidFill>
              </a:defRPr>
            </a:pPr>
            <a:r>
              <a:rPr sz="1125" b="1" dirty="0" err="1">
                <a:solidFill>
                  <a:srgbClr val="0F9D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结论：每个点仅需与后续最多</a:t>
            </a:r>
            <a:r>
              <a:rPr sz="1125" b="1" dirty="0">
                <a:solidFill>
                  <a:srgbClr val="0F9D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 </a:t>
            </a:r>
            <a:r>
              <a:rPr sz="1125" b="1" dirty="0" err="1">
                <a:solidFill>
                  <a:srgbClr val="0F9D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个点比较，因此单层合并复杂度为</a:t>
            </a:r>
            <a:r>
              <a:rPr sz="1125" b="1" dirty="0">
                <a:solidFill>
                  <a:srgbClr val="0F9D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O(n)。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049FA45-3A99-46AA-9DFE-9A23E65DA557}"/>
              </a:ext>
            </a:extLst>
          </p:cNvPr>
          <p:cNvSpPr>
            <a:spLocks noGrp="1"/>
          </p:cNvSpPr>
          <p:nvPr/>
        </p:nvSpPr>
        <p:spPr>
          <a:xfrm>
            <a:off x="7067550" y="2000250"/>
            <a:ext cx="4438650" cy="4057650"/>
          </a:xfrm>
          <a:prstGeom prst="roundRect">
            <a:avLst>
              <a:gd name="adj" fmla="val 1878"/>
            </a:avLst>
          </a:prstGeom>
          <a:solidFill>
            <a:srgbClr val="FFFFFF"/>
          </a:solidFill>
          <a:ln w="9525">
            <a:solidFill>
              <a:srgbClr val="D9E1EA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89C7865-7101-4117-8895-C5D4F02A27AA}"/>
              </a:ext>
            </a:extLst>
          </p:cNvPr>
          <p:cNvSpPr>
            <a:spLocks noGrp="1"/>
          </p:cNvSpPr>
          <p:nvPr/>
        </p:nvSpPr>
        <p:spPr>
          <a:xfrm>
            <a:off x="9115425" y="5753100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B6472"/>
                </a:solidFill>
              </a:defRPr>
            </a:pPr>
            <a:r>
              <a:rPr sz="975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2d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B115CEF-0748-46A9-8FD2-B1BAC4AED0D9}"/>
              </a:ext>
            </a:extLst>
          </p:cNvPr>
          <p:cNvSpPr>
            <a:spLocks noGrp="1"/>
          </p:cNvSpPr>
          <p:nvPr/>
        </p:nvSpPr>
        <p:spPr>
          <a:xfrm>
            <a:off x="7124700" y="3857625"/>
            <a:ext cx="19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B6472"/>
                </a:solidFill>
              </a:defRPr>
            </a:pPr>
            <a:r>
              <a:rPr sz="975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24DF356-D520-4F4A-9A1E-B398A3221FE8}"/>
              </a:ext>
            </a:extLst>
          </p:cNvPr>
          <p:cNvSpPr>
            <a:spLocks noGrp="1"/>
          </p:cNvSpPr>
          <p:nvPr/>
        </p:nvSpPr>
        <p:spPr>
          <a:xfrm>
            <a:off x="7353300" y="2324100"/>
            <a:ext cx="3867150" cy="3257550"/>
          </a:xfrm>
          <a:prstGeom prst="rect">
            <a:avLst/>
          </a:prstGeom>
          <a:solidFill>
            <a:srgbClr val="FFFFFF"/>
          </a:solidFill>
          <a:ln w="11430">
            <a:solidFill>
              <a:srgbClr val="0F172A"/>
            </a:solidFill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C4C52E0-3DF2-4616-A2FC-562BD1086DE7}"/>
              </a:ext>
            </a:extLst>
          </p:cNvPr>
          <p:cNvSpPr>
            <a:spLocks noGrp="1"/>
          </p:cNvSpPr>
          <p:nvPr/>
        </p:nvSpPr>
        <p:spPr>
          <a:xfrm>
            <a:off x="9286875" y="2324100"/>
            <a:ext cx="9525" cy="3257550"/>
          </a:xfrm>
          <a:prstGeom prst="rect">
            <a:avLst/>
          </a:prstGeom>
          <a:solidFill>
            <a:srgbClr val="D9E1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A31F489-9D51-4C40-88C6-2F57156CA1A0}"/>
              </a:ext>
            </a:extLst>
          </p:cNvPr>
          <p:cNvSpPr>
            <a:spLocks noGrp="1"/>
          </p:cNvSpPr>
          <p:nvPr/>
        </p:nvSpPr>
        <p:spPr>
          <a:xfrm>
            <a:off x="7353300" y="3409950"/>
            <a:ext cx="3867150" cy="9525"/>
          </a:xfrm>
          <a:prstGeom prst="rect">
            <a:avLst/>
          </a:prstGeom>
          <a:solidFill>
            <a:srgbClr val="D9E1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695EB36-B04C-4BFE-BBF6-B05BEDD58C3F}"/>
              </a:ext>
            </a:extLst>
          </p:cNvPr>
          <p:cNvSpPr>
            <a:spLocks noGrp="1"/>
          </p:cNvSpPr>
          <p:nvPr/>
        </p:nvSpPr>
        <p:spPr>
          <a:xfrm>
            <a:off x="7353300" y="4495800"/>
            <a:ext cx="3867150" cy="9525"/>
          </a:xfrm>
          <a:prstGeom prst="rect">
            <a:avLst/>
          </a:prstGeom>
          <a:solidFill>
            <a:srgbClr val="D9E1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429D5DFC-CAB9-462B-8E5F-E474A4A2F158}"/>
              </a:ext>
            </a:extLst>
          </p:cNvPr>
          <p:cNvSpPr>
            <a:spLocks noGrp="1"/>
          </p:cNvSpPr>
          <p:nvPr/>
        </p:nvSpPr>
        <p:spPr>
          <a:xfrm>
            <a:off x="8001762" y="2862834"/>
            <a:ext cx="95250" cy="952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FFFFFF"/>
            </a:solidFill>
          </a:ln>
        </p:spPr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71516574-BEA2-4C82-A646-DA7DA2261824}"/>
              </a:ext>
            </a:extLst>
          </p:cNvPr>
          <p:cNvSpPr>
            <a:spLocks noGrp="1"/>
          </p:cNvSpPr>
          <p:nvPr/>
        </p:nvSpPr>
        <p:spPr>
          <a:xfrm>
            <a:off x="10090023" y="2797683"/>
            <a:ext cx="95250" cy="952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FFFFFF"/>
            </a:solidFill>
          </a:ln>
        </p:spPr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49BAF6E4-6FA1-4543-B561-C6F6DCDCED73}"/>
              </a:ext>
            </a:extLst>
          </p:cNvPr>
          <p:cNvSpPr>
            <a:spLocks noGrp="1"/>
          </p:cNvSpPr>
          <p:nvPr/>
        </p:nvSpPr>
        <p:spPr>
          <a:xfrm>
            <a:off x="8156448" y="3872675"/>
            <a:ext cx="95250" cy="952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FFFFFF"/>
            </a:solidFill>
          </a:ln>
        </p:spPr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55EB7EF6-5A22-4C67-9800-E422B0E83D08}"/>
              </a:ext>
            </a:extLst>
          </p:cNvPr>
          <p:cNvSpPr>
            <a:spLocks noGrp="1"/>
          </p:cNvSpPr>
          <p:nvPr/>
        </p:nvSpPr>
        <p:spPr>
          <a:xfrm>
            <a:off x="9935337" y="3905250"/>
            <a:ext cx="95250" cy="952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FFFFFF"/>
            </a:solidFill>
          </a:ln>
        </p:spPr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B1DA10D6-B226-4E40-934D-A90616BA0C5F}"/>
              </a:ext>
            </a:extLst>
          </p:cNvPr>
          <p:cNvSpPr>
            <a:spLocks noGrp="1"/>
          </p:cNvSpPr>
          <p:nvPr/>
        </p:nvSpPr>
        <p:spPr>
          <a:xfrm>
            <a:off x="8388477" y="4947666"/>
            <a:ext cx="95250" cy="952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FFFFFF"/>
            </a:solidFill>
          </a:ln>
        </p:spPr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AA6787B1-9185-4A67-A6AE-81B08F1144DB}"/>
              </a:ext>
            </a:extLst>
          </p:cNvPr>
          <p:cNvSpPr>
            <a:spLocks noGrp="1"/>
          </p:cNvSpPr>
          <p:nvPr/>
        </p:nvSpPr>
        <p:spPr>
          <a:xfrm>
            <a:off x="10360724" y="4882515"/>
            <a:ext cx="95250" cy="952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FFFFFF"/>
            </a:solidFill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F06898D-7439-47B9-AADF-B1D26B2C6445}"/>
              </a:ext>
            </a:extLst>
          </p:cNvPr>
          <p:cNvSpPr>
            <a:spLocks noGrp="1"/>
          </p:cNvSpPr>
          <p:nvPr/>
        </p:nvSpPr>
        <p:spPr>
          <a:xfrm>
            <a:off x="7296150" y="5924118"/>
            <a:ext cx="398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0F9D6A"/>
                </a:solidFill>
              </a:defRPr>
            </a:pPr>
            <a:r>
              <a:rPr sz="1050" b="1" dirty="0" err="1">
                <a:solidFill>
                  <a:srgbClr val="0F9D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最多容纳</a:t>
            </a:r>
            <a:r>
              <a:rPr sz="1050" b="1" dirty="0">
                <a:solidFill>
                  <a:srgbClr val="0F9D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 </a:t>
            </a:r>
            <a:r>
              <a:rPr sz="1050" b="1" dirty="0" err="1">
                <a:solidFill>
                  <a:srgbClr val="0F9D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个候选点</a:t>
            </a:r>
            <a:endParaRPr sz="1050" b="1" dirty="0">
              <a:solidFill>
                <a:srgbClr val="0F9D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427E03A-DCEB-4980-A1AC-22EDAED638DE}"/>
              </a:ext>
            </a:extLst>
          </p:cNvPr>
          <p:cNvSpPr>
            <a:spLocks noGrp="1"/>
          </p:cNvSpPr>
          <p:nvPr/>
        </p:nvSpPr>
        <p:spPr>
          <a:xfrm>
            <a:off x="7810500" y="6191250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B6472"/>
                </a:solidFill>
              </a:defRPr>
            </a:pPr>
            <a:r>
              <a:rPr sz="900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文献依据：Shamos</a:t>
            </a:r>
            <a:r>
              <a:rPr sz="900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Hoey, FOCS 1975</a:t>
            </a:r>
          </a:p>
        </p:txBody>
      </p:sp>
    </p:spTree>
    <p:extLst>
      <p:ext uri="{BB962C8B-B14F-4D97-AF65-F5344CB8AC3E}">
        <p14:creationId xmlns:p14="http://schemas.microsoft.com/office/powerpoint/2010/main" val="1771676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B74EEEA-3B33-4F07-97C8-941D72D0522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</a:defRPr>
            </a:pPr>
            <a:r>
              <a:rPr sz="900" b="1" dirty="0" err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过程可视化</a:t>
            </a:r>
            <a:endParaRPr sz="9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8E8699-1DBA-4262-91BC-8B12E8CCDC04}"/>
              </a:ext>
            </a:extLst>
          </p:cNvPr>
          <p:cNvSpPr>
            <a:spLocks noGrp="1"/>
          </p:cNvSpPr>
          <p:nvPr/>
        </p:nvSpPr>
        <p:spPr>
          <a:xfrm>
            <a:off x="10972800" y="228600"/>
            <a:ext cx="533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1800" b="1">
                <a:solidFill>
                  <a:srgbClr val="0F172A"/>
                </a:solidFill>
              </a:defRPr>
            </a:pPr>
            <a:r>
              <a:rPr sz="18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44AE71-DDC8-4180-B541-EECF3C98DE57}"/>
              </a:ext>
            </a:extLst>
          </p:cNvPr>
          <p:cNvSpPr>
            <a:spLocks noGrp="1"/>
          </p:cNvSpPr>
          <p:nvPr/>
        </p:nvSpPr>
        <p:spPr>
          <a:xfrm>
            <a:off x="11506200" y="314325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B6472"/>
                </a:solidFill>
              </a:defRPr>
            </a:pPr>
            <a:r>
              <a:rPr sz="900" b="1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2E09B0-E2B0-403E-A2D6-6997A41E2469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820400" cy="9525"/>
          </a:xfrm>
          <a:prstGeom prst="rect">
            <a:avLst/>
          </a:prstGeom>
          <a:solidFill>
            <a:srgbClr val="EAEFF4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FFD7DF-C6D7-4F6B-A790-63A7DC75B526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8763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过程可视化</a:t>
            </a:r>
            <a:endParaRPr sz="2250" b="1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205671-86EE-46AC-9AD6-D6A365987CF2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7086600" cy="409575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9E1EA"/>
            </a:solidFill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3386" y="2209800"/>
            <a:ext cx="6531429" cy="3714750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5861A60-0B46-4702-8DD5-0BDC8483550B}"/>
              </a:ext>
            </a:extLst>
          </p:cNvPr>
          <p:cNvSpPr>
            <a:spLocks noGrp="1"/>
          </p:cNvSpPr>
          <p:nvPr/>
        </p:nvSpPr>
        <p:spPr>
          <a:xfrm>
            <a:off x="8058150" y="2019300"/>
            <a:ext cx="3448050" cy="1790700"/>
          </a:xfrm>
          <a:prstGeom prst="roundRect">
            <a:avLst>
              <a:gd name="adj" fmla="val 4255"/>
            </a:avLst>
          </a:prstGeom>
          <a:solidFill>
            <a:srgbClr val="F8FAFC"/>
          </a:solidFill>
          <a:ln w="9525">
            <a:solidFill>
              <a:srgbClr val="D9E1EA"/>
            </a:solidFill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476759" y="2152650"/>
            <a:ext cx="2610833" cy="1485900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A7057A7-CE5D-49E7-BBFD-699F8EEC7C65}"/>
              </a:ext>
            </a:extLst>
          </p:cNvPr>
          <p:cNvSpPr>
            <a:spLocks noGrp="1"/>
          </p:cNvSpPr>
          <p:nvPr/>
        </p:nvSpPr>
        <p:spPr>
          <a:xfrm>
            <a:off x="8058150" y="4038600"/>
            <a:ext cx="3448050" cy="207645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D9E1EA"/>
            </a:solidFill>
          </a:ln>
        </p:spPr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47B860E2-D15B-4B71-9B55-CF720B29E509}"/>
              </a:ext>
            </a:extLst>
          </p:cNvPr>
          <p:cNvSpPr>
            <a:spLocks noGrp="1"/>
          </p:cNvSpPr>
          <p:nvPr/>
        </p:nvSpPr>
        <p:spPr>
          <a:xfrm>
            <a:off x="8305800" y="4429125"/>
            <a:ext cx="76200" cy="7620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6B87EE5-6742-4C14-8D7C-A59A1549DA93}"/>
              </a:ext>
            </a:extLst>
          </p:cNvPr>
          <p:cNvSpPr>
            <a:spLocks noGrp="1"/>
          </p:cNvSpPr>
          <p:nvPr/>
        </p:nvSpPr>
        <p:spPr>
          <a:xfrm>
            <a:off x="8496300" y="4343400"/>
            <a:ext cx="2667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GIF </a:t>
            </a:r>
            <a:r>
              <a:rPr sz="1275" b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适合展示递归推进与最优点对更新过程</a:t>
            </a:r>
            <a:r>
              <a:rPr sz="1275" b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C55DAE6-FA70-47E9-A747-C2CA0660052E}"/>
              </a:ext>
            </a:extLst>
          </p:cNvPr>
          <p:cNvSpPr>
            <a:spLocks noGrp="1"/>
          </p:cNvSpPr>
          <p:nvPr/>
        </p:nvSpPr>
        <p:spPr>
          <a:xfrm>
            <a:off x="8305800" y="4981575"/>
            <a:ext cx="76200" cy="7620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D194F32-FF76-4416-BEF3-586F86CEE7DA}"/>
              </a:ext>
            </a:extLst>
          </p:cNvPr>
          <p:cNvSpPr>
            <a:spLocks noGrp="1"/>
          </p:cNvSpPr>
          <p:nvPr/>
        </p:nvSpPr>
        <p:spPr>
          <a:xfrm>
            <a:off x="8496300" y="4895850"/>
            <a:ext cx="2667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</a:t>
            </a:r>
            <a:r>
              <a:rPr sz="1275" b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同时保留全局视图、距离曲线与局部放大</a:t>
            </a:r>
            <a:r>
              <a:rPr sz="1275" b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6F9BE24-F7A5-4E99-B2D6-6CAF743B4D93}"/>
              </a:ext>
            </a:extLst>
          </p:cNvPr>
          <p:cNvSpPr>
            <a:spLocks noGrp="1"/>
          </p:cNvSpPr>
          <p:nvPr/>
        </p:nvSpPr>
        <p:spPr>
          <a:xfrm>
            <a:off x="8305800" y="5534025"/>
            <a:ext cx="76200" cy="7620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83CC75B-5C54-4334-BB8D-D005BC523CC3}"/>
              </a:ext>
            </a:extLst>
          </p:cNvPr>
          <p:cNvSpPr>
            <a:spLocks noGrp="1"/>
          </p:cNvSpPr>
          <p:nvPr/>
        </p:nvSpPr>
        <p:spPr>
          <a:xfrm>
            <a:off x="8496300" y="5448300"/>
            <a:ext cx="2667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因此</a:t>
            </a:r>
            <a:r>
              <a:rPr sz="1275" b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strip、中线与当前最优解能够被直接解释</a:t>
            </a:r>
            <a:r>
              <a:rPr sz="1275" b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12711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8B11792-E505-42A4-815B-C00E97748B4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</a:defRPr>
            </a:pPr>
            <a:r>
              <a:rPr sz="900" b="1" dirty="0" err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实验结果</a:t>
            </a:r>
            <a:endParaRPr sz="9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F66E836-2E54-4AD8-9E0A-78230A6B8B58}"/>
              </a:ext>
            </a:extLst>
          </p:cNvPr>
          <p:cNvSpPr>
            <a:spLocks noGrp="1"/>
          </p:cNvSpPr>
          <p:nvPr/>
        </p:nvSpPr>
        <p:spPr>
          <a:xfrm>
            <a:off x="10972800" y="228600"/>
            <a:ext cx="533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1800" b="1">
                <a:solidFill>
                  <a:srgbClr val="0F172A"/>
                </a:solidFill>
              </a:defRPr>
            </a:pPr>
            <a:r>
              <a:rPr sz="18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7D1507-F766-4270-9E3D-6615D27ACA0E}"/>
              </a:ext>
            </a:extLst>
          </p:cNvPr>
          <p:cNvSpPr>
            <a:spLocks noGrp="1"/>
          </p:cNvSpPr>
          <p:nvPr/>
        </p:nvSpPr>
        <p:spPr>
          <a:xfrm>
            <a:off x="11506200" y="314325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B6472"/>
                </a:solidFill>
              </a:defRPr>
            </a:pPr>
            <a:r>
              <a:rPr sz="900" b="1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66C65D-6C99-47FB-A8F3-5CDF0D59123B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820400" cy="9525"/>
          </a:xfrm>
          <a:prstGeom prst="rect">
            <a:avLst/>
          </a:prstGeom>
          <a:solidFill>
            <a:srgbClr val="EAEFF4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B6D6021-EE4F-443D-B194-E35F7A685357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8763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实验结果：全实测数据支撑复杂度结论</a:t>
            </a:r>
            <a:endParaRPr sz="2250" b="1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1FAC848-8000-4199-8141-1A730D85F947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8763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6472"/>
                </a:solidFill>
              </a:defRPr>
            </a:pPr>
            <a:r>
              <a:rPr sz="1200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一张原生图表展示绝对时间差，一张</a:t>
            </a:r>
            <a:r>
              <a:rPr sz="1200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log-log </a:t>
            </a:r>
            <a:r>
              <a:rPr sz="1200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图验证增长阶与理论是否一致</a:t>
            </a:r>
            <a:endParaRPr sz="1200" b="0" dirty="0">
              <a:solidFill>
                <a:srgbClr val="5B647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074D447-6DAE-4FA7-8E10-CBD63CF4D69F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1962150" cy="971550"/>
          </a:xfrm>
          <a:prstGeom prst="roundRect">
            <a:avLst>
              <a:gd name="adj" fmla="val 7843"/>
            </a:avLst>
          </a:prstGeom>
          <a:solidFill>
            <a:srgbClr val="EEF4FF"/>
          </a:solidFill>
          <a:ln w="9525">
            <a:solidFill>
              <a:srgbClr val="D9E1EA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BBF834-CBEB-43FA-A8B6-9DDDAE1D9D51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196215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D189C6-8A25-4F15-A1B4-0FB7B338FB91}"/>
              </a:ext>
            </a:extLst>
          </p:cNvPr>
          <p:cNvSpPr>
            <a:spLocks noGrp="1"/>
          </p:cNvSpPr>
          <p:nvPr/>
        </p:nvSpPr>
        <p:spPr>
          <a:xfrm>
            <a:off x="857250" y="2133600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9.27x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EB76E38-9203-4F01-B59E-A31E00ED540C}"/>
              </a:ext>
            </a:extLst>
          </p:cNvPr>
          <p:cNvSpPr>
            <a:spLocks noGrp="1"/>
          </p:cNvSpPr>
          <p:nvPr/>
        </p:nvSpPr>
        <p:spPr>
          <a:xfrm>
            <a:off x="857250" y="25527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472"/>
                </a:solidFill>
              </a:defRPr>
            </a:pPr>
            <a:r>
              <a:rPr sz="1125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10000 </a:t>
            </a:r>
            <a:r>
              <a:rPr sz="1125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点速度提升</a:t>
            </a:r>
            <a:endParaRPr sz="1125" b="0" dirty="0">
              <a:solidFill>
                <a:srgbClr val="5B647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375B53E-54A9-40A8-85A5-323E5E5C2C2A}"/>
              </a:ext>
            </a:extLst>
          </p:cNvPr>
          <p:cNvSpPr>
            <a:spLocks noGrp="1"/>
          </p:cNvSpPr>
          <p:nvPr/>
        </p:nvSpPr>
        <p:spPr>
          <a:xfrm>
            <a:off x="2800350" y="1962150"/>
            <a:ext cx="1962150" cy="971550"/>
          </a:xfrm>
          <a:prstGeom prst="roundRect">
            <a:avLst>
              <a:gd name="adj" fmla="val 7843"/>
            </a:avLst>
          </a:prstGeom>
          <a:solidFill>
            <a:srgbClr val="F1FDF8"/>
          </a:solidFill>
          <a:ln w="9525">
            <a:solidFill>
              <a:srgbClr val="D9E1EA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25262A9-3B4C-4415-85CD-3D6765C853B7}"/>
              </a:ext>
            </a:extLst>
          </p:cNvPr>
          <p:cNvSpPr>
            <a:spLocks noGrp="1"/>
          </p:cNvSpPr>
          <p:nvPr/>
        </p:nvSpPr>
        <p:spPr>
          <a:xfrm>
            <a:off x="2800350" y="1962150"/>
            <a:ext cx="1962150" cy="47625"/>
          </a:xfrm>
          <a:prstGeom prst="rect">
            <a:avLst/>
          </a:prstGeom>
          <a:solidFill>
            <a:srgbClr val="0F9D6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D90C0F9-4152-4BBD-900F-378FE042913D}"/>
              </a:ext>
            </a:extLst>
          </p:cNvPr>
          <p:cNvSpPr>
            <a:spLocks noGrp="1"/>
          </p:cNvSpPr>
          <p:nvPr/>
        </p:nvSpPr>
        <p:spPr>
          <a:xfrm>
            <a:off x="2971800" y="2133600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39.70x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94189FD-F0FB-47A5-A848-01D5FB17DA86}"/>
              </a:ext>
            </a:extLst>
          </p:cNvPr>
          <p:cNvSpPr>
            <a:spLocks noGrp="1"/>
          </p:cNvSpPr>
          <p:nvPr/>
        </p:nvSpPr>
        <p:spPr>
          <a:xfrm>
            <a:off x="2971800" y="25527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472"/>
                </a:solidFill>
              </a:defRPr>
            </a:pPr>
            <a:r>
              <a:rPr sz="1125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50000 </a:t>
            </a:r>
            <a:r>
              <a:rPr sz="1125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点速度提升</a:t>
            </a:r>
            <a:endParaRPr sz="1125" b="0" dirty="0">
              <a:solidFill>
                <a:srgbClr val="5B647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FB52889-4943-432F-B2B5-8A09CBA24754}"/>
              </a:ext>
            </a:extLst>
          </p:cNvPr>
          <p:cNvSpPr>
            <a:spLocks noGrp="1"/>
          </p:cNvSpPr>
          <p:nvPr/>
        </p:nvSpPr>
        <p:spPr>
          <a:xfrm>
            <a:off x="4914900" y="1962150"/>
            <a:ext cx="1962150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9E1EA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9662571-0467-4D8C-AB67-8F975A81B715}"/>
              </a:ext>
            </a:extLst>
          </p:cNvPr>
          <p:cNvSpPr>
            <a:spLocks noGrp="1"/>
          </p:cNvSpPr>
          <p:nvPr/>
        </p:nvSpPr>
        <p:spPr>
          <a:xfrm>
            <a:off x="4914900" y="1962150"/>
            <a:ext cx="196215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F456D7B-0A1B-44F2-92DB-4A6D30B3E650}"/>
              </a:ext>
            </a:extLst>
          </p:cNvPr>
          <p:cNvSpPr>
            <a:spLocks noGrp="1"/>
          </p:cNvSpPr>
          <p:nvPr/>
        </p:nvSpPr>
        <p:spPr>
          <a:xfrm>
            <a:off x="5086350" y="2133600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19.91ms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FDB8167-8162-4BC7-B9C4-B665BD1D920C}"/>
              </a:ext>
            </a:extLst>
          </p:cNvPr>
          <p:cNvSpPr>
            <a:spLocks noGrp="1"/>
          </p:cNvSpPr>
          <p:nvPr/>
        </p:nvSpPr>
        <p:spPr>
          <a:xfrm>
            <a:off x="5086350" y="25527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472"/>
                </a:solidFill>
              </a:defRPr>
            </a:pPr>
            <a:r>
              <a:rPr sz="1125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50000 </a:t>
            </a:r>
            <a:r>
              <a:rPr sz="1125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点分治均值</a:t>
            </a:r>
            <a:endParaRPr sz="1125" b="0" dirty="0">
              <a:solidFill>
                <a:srgbClr val="5B647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3E08A36-2736-471A-875C-64A75552A02C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7067550" cy="2914650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9525">
            <a:solidFill>
              <a:srgbClr val="D9E1EA"/>
            </a:solidFill>
          </a:ln>
        </p:spPr>
      </p:sp>
      <p:graphicFrame>
        <p:nvGraphicFramePr>
          <p:cNvPr id="21" name="Chart"/>
          <p:cNvGraphicFramePr/>
          <p:nvPr/>
        </p:nvGraphicFramePr>
        <p:xfrm>
          <a:off x="895350" y="3467100"/>
          <a:ext cx="6667500" cy="2400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5A680E17-7342-47D9-B92B-25D166FEE523}"/>
              </a:ext>
            </a:extLst>
          </p:cNvPr>
          <p:cNvSpPr>
            <a:spLocks noGrp="1"/>
          </p:cNvSpPr>
          <p:nvPr/>
        </p:nvSpPr>
        <p:spPr>
          <a:xfrm>
            <a:off x="8058150" y="1962150"/>
            <a:ext cx="3448050" cy="4171950"/>
          </a:xfrm>
          <a:prstGeom prst="roundRect">
            <a:avLst>
              <a:gd name="adj" fmla="val 2210"/>
            </a:avLst>
          </a:prstGeom>
          <a:solidFill>
            <a:srgbClr val="F8FAFC"/>
          </a:solidFill>
          <a:ln w="9525">
            <a:solidFill>
              <a:srgbClr val="D9E1EA"/>
            </a:solidFill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229600" y="2359169"/>
            <a:ext cx="3105150" cy="1834861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C0E76248-A669-41FE-8AB3-C9BD2074DC3F}"/>
              </a:ext>
            </a:extLst>
          </p:cNvPr>
          <p:cNvSpPr>
            <a:spLocks noGrp="1"/>
          </p:cNvSpPr>
          <p:nvPr/>
        </p:nvSpPr>
        <p:spPr>
          <a:xfrm>
            <a:off x="8267700" y="4667250"/>
            <a:ext cx="57150" cy="514350"/>
          </a:xfrm>
          <a:prstGeom prst="rect">
            <a:avLst/>
          </a:prstGeom>
          <a:solidFill>
            <a:srgbClr val="0F9D6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0DBCC7-365F-4DBE-A5C5-FA63702059B3}"/>
              </a:ext>
            </a:extLst>
          </p:cNvPr>
          <p:cNvSpPr>
            <a:spLocks noGrp="1"/>
          </p:cNvSpPr>
          <p:nvPr/>
        </p:nvSpPr>
        <p:spPr>
          <a:xfrm>
            <a:off x="8439150" y="4686300"/>
            <a:ext cx="2819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 log-log </a:t>
            </a:r>
            <a:r>
              <a:rPr sz="165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坐标下，分治曲线更接近</a:t>
            </a:r>
            <a:r>
              <a:rPr sz="16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 log </a:t>
            </a:r>
            <a:r>
              <a:rPr sz="165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n，而蛮力曲线更接近</a:t>
            </a:r>
            <a:r>
              <a:rPr sz="16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n²。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A1D9AAC-D7B8-4762-98F3-1BE6DE18D3A6}"/>
              </a:ext>
            </a:extLst>
          </p:cNvPr>
          <p:cNvSpPr>
            <a:spLocks noGrp="1"/>
          </p:cNvSpPr>
          <p:nvPr/>
        </p:nvSpPr>
        <p:spPr>
          <a:xfrm>
            <a:off x="8296275" y="5562600"/>
            <a:ext cx="2857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472"/>
                </a:solidFill>
              </a:defRPr>
            </a:pPr>
            <a:r>
              <a:rPr sz="1125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本页不仅比较绝对耗时，也检验实测增长阶是否与理论分析一致</a:t>
            </a:r>
            <a:r>
              <a:rPr sz="1125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25160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8DAB185-22FE-4EA2-8EED-1BEF88B1FFF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</a:defRPr>
            </a:pPr>
            <a:r>
              <a:rPr sz="900" b="1" dirty="0" err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结论</a:t>
            </a:r>
            <a:endParaRPr sz="9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16AB8E-E7B7-4C14-8E6F-6795B9085C52}"/>
              </a:ext>
            </a:extLst>
          </p:cNvPr>
          <p:cNvSpPr>
            <a:spLocks noGrp="1"/>
          </p:cNvSpPr>
          <p:nvPr/>
        </p:nvSpPr>
        <p:spPr>
          <a:xfrm>
            <a:off x="10972800" y="228600"/>
            <a:ext cx="533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1800" b="1">
                <a:solidFill>
                  <a:srgbClr val="0F172A"/>
                </a:solidFill>
              </a:defRPr>
            </a:pPr>
            <a:r>
              <a:rPr sz="18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69A282-75B0-4E5B-A9D4-5F2095C65800}"/>
              </a:ext>
            </a:extLst>
          </p:cNvPr>
          <p:cNvSpPr>
            <a:spLocks noGrp="1"/>
          </p:cNvSpPr>
          <p:nvPr/>
        </p:nvSpPr>
        <p:spPr>
          <a:xfrm>
            <a:off x="11506200" y="314325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B6472"/>
                </a:solidFill>
              </a:defRPr>
            </a:pPr>
            <a:r>
              <a:rPr sz="900" b="1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5052B7-59B0-468A-A23C-4AA125090E9D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820400" cy="9525"/>
          </a:xfrm>
          <a:prstGeom prst="rect">
            <a:avLst/>
          </a:prstGeom>
          <a:solidFill>
            <a:srgbClr val="EAEFF4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CDB9F6-2517-4721-8EAA-51FFDF3252E4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8763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结论与收束</a:t>
            </a:r>
            <a:endParaRPr sz="2250" b="1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7E1A6CB-3DC2-4323-87A2-2EE92F45BBFC}"/>
              </a:ext>
            </a:extLst>
          </p:cNvPr>
          <p:cNvSpPr>
            <a:spLocks noGrp="1"/>
          </p:cNvSpPr>
          <p:nvPr/>
        </p:nvSpPr>
        <p:spPr>
          <a:xfrm>
            <a:off x="568105" y="2305050"/>
            <a:ext cx="5829300" cy="9334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9E1EA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CC6551A-948B-483C-861F-E322D084A160}"/>
              </a:ext>
            </a:extLst>
          </p:cNvPr>
          <p:cNvSpPr>
            <a:spLocks noGrp="1"/>
          </p:cNvSpPr>
          <p:nvPr/>
        </p:nvSpPr>
        <p:spPr>
          <a:xfrm>
            <a:off x="720505" y="2476500"/>
            <a:ext cx="419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B3885CE-FF4A-4004-9CD4-97142CD449B3}"/>
              </a:ext>
            </a:extLst>
          </p:cNvPr>
          <p:cNvSpPr>
            <a:spLocks noGrp="1"/>
          </p:cNvSpPr>
          <p:nvPr/>
        </p:nvSpPr>
        <p:spPr>
          <a:xfrm>
            <a:off x="1368205" y="247650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rPr sz="120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性能结论</a:t>
            </a:r>
            <a:endParaRPr sz="1200" b="1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15BC6A8-2A3F-46CD-815D-A0BF2F7FD15F}"/>
              </a:ext>
            </a:extLst>
          </p:cNvPr>
          <p:cNvSpPr>
            <a:spLocks noGrp="1"/>
          </p:cNvSpPr>
          <p:nvPr/>
        </p:nvSpPr>
        <p:spPr>
          <a:xfrm>
            <a:off x="1368205" y="2762250"/>
            <a:ext cx="4838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472"/>
                </a:solidFill>
              </a:defRPr>
            </a:pPr>
            <a:r>
              <a:rPr sz="1125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 10000 至 50000 </a:t>
            </a:r>
            <a:r>
              <a:rPr sz="1125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点的全实测范围内，分治法始终显著快于蛮力法</a:t>
            </a:r>
            <a:r>
              <a:rPr sz="1125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BB1F554-8F98-465E-A53A-FB870D9BD1F9}"/>
              </a:ext>
            </a:extLst>
          </p:cNvPr>
          <p:cNvSpPr>
            <a:spLocks noGrp="1"/>
          </p:cNvSpPr>
          <p:nvPr/>
        </p:nvSpPr>
        <p:spPr>
          <a:xfrm>
            <a:off x="568105" y="3390900"/>
            <a:ext cx="5829300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9525">
            <a:solidFill>
              <a:srgbClr val="D9E1EA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CC0261-FAB2-4F98-9DDC-2EEB2FFB9B5D}"/>
              </a:ext>
            </a:extLst>
          </p:cNvPr>
          <p:cNvSpPr>
            <a:spLocks noGrp="1"/>
          </p:cNvSpPr>
          <p:nvPr/>
        </p:nvSpPr>
        <p:spPr>
          <a:xfrm>
            <a:off x="720505" y="3562350"/>
            <a:ext cx="419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F9D6A"/>
                </a:solidFill>
              </a:defRPr>
            </a:pPr>
            <a:r>
              <a:rPr sz="1800" b="1" dirty="0">
                <a:solidFill>
                  <a:srgbClr val="0F9D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493509F-2B60-41F3-B817-F6ABB46D9755}"/>
              </a:ext>
            </a:extLst>
          </p:cNvPr>
          <p:cNvSpPr>
            <a:spLocks noGrp="1"/>
          </p:cNvSpPr>
          <p:nvPr/>
        </p:nvSpPr>
        <p:spPr>
          <a:xfrm>
            <a:off x="1368205" y="35623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rPr sz="120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表达结论</a:t>
            </a:r>
            <a:endParaRPr sz="1200" b="1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C74F1B7-E881-47FD-9A04-67CF765439C8}"/>
              </a:ext>
            </a:extLst>
          </p:cNvPr>
          <p:cNvSpPr>
            <a:spLocks noGrp="1"/>
          </p:cNvSpPr>
          <p:nvPr/>
        </p:nvSpPr>
        <p:spPr>
          <a:xfrm>
            <a:off x="1368205" y="3848100"/>
            <a:ext cx="4838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472"/>
                </a:solidFill>
              </a:defRPr>
            </a:pPr>
            <a:r>
              <a:rPr sz="1125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trace、steps、GIF</a:t>
            </a:r>
            <a:r>
              <a:rPr sz="1125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与 dashboard </a:t>
            </a:r>
            <a:r>
              <a:rPr sz="1125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使分治过程可以被清晰解释，而不仅仅给出最终结果</a:t>
            </a:r>
            <a:r>
              <a:rPr sz="1125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F783B8E-A33A-4F02-991D-2D5D8765CC2D}"/>
              </a:ext>
            </a:extLst>
          </p:cNvPr>
          <p:cNvSpPr>
            <a:spLocks noGrp="1"/>
          </p:cNvSpPr>
          <p:nvPr/>
        </p:nvSpPr>
        <p:spPr>
          <a:xfrm>
            <a:off x="568105" y="4476750"/>
            <a:ext cx="5829300" cy="9334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9E1EA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5CF8358-BBB6-42E0-89C8-DD2C6FDBB50B}"/>
              </a:ext>
            </a:extLst>
          </p:cNvPr>
          <p:cNvSpPr>
            <a:spLocks noGrp="1"/>
          </p:cNvSpPr>
          <p:nvPr/>
        </p:nvSpPr>
        <p:spPr>
          <a:xfrm>
            <a:off x="720505" y="4648200"/>
            <a:ext cx="419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40D72F1-2A6F-4F6E-8685-B9454E837991}"/>
              </a:ext>
            </a:extLst>
          </p:cNvPr>
          <p:cNvSpPr>
            <a:spLocks noGrp="1"/>
          </p:cNvSpPr>
          <p:nvPr/>
        </p:nvSpPr>
        <p:spPr>
          <a:xfrm>
            <a:off x="1368205" y="464820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rPr sz="120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实验价值</a:t>
            </a:r>
            <a:endParaRPr sz="1200" b="1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B7228EA-D2C7-451A-8FDE-4B4E33BED41D}"/>
              </a:ext>
            </a:extLst>
          </p:cNvPr>
          <p:cNvSpPr>
            <a:spLocks noGrp="1"/>
          </p:cNvSpPr>
          <p:nvPr/>
        </p:nvSpPr>
        <p:spPr>
          <a:xfrm>
            <a:off x="1368205" y="4933950"/>
            <a:ext cx="4838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472"/>
                </a:solidFill>
              </a:defRPr>
            </a:pPr>
            <a:r>
              <a:rPr sz="1125" b="0" dirty="0" err="1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复杂度结论获得真实实验数据支撑，整体实现适合作为课程实验展示版本</a:t>
            </a:r>
            <a:r>
              <a:rPr sz="1125" b="0" dirty="0">
                <a:solidFill>
                  <a:srgbClr val="5B64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11512" y="2895600"/>
            <a:ext cx="4255477" cy="2514600"/>
          </a:xfrm>
          <a:prstGeom prst="rect">
            <a:avLst/>
          </a:prstGeom>
        </p:spPr>
      </p:pic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CCD0877-C73B-4A92-92EA-DFF859332DD1}"/>
              </a:ext>
            </a:extLst>
          </p:cNvPr>
          <p:cNvSpPr>
            <a:spLocks noGrp="1"/>
          </p:cNvSpPr>
          <p:nvPr/>
        </p:nvSpPr>
        <p:spPr>
          <a:xfrm>
            <a:off x="7391400" y="5581650"/>
            <a:ext cx="3695700" cy="685800"/>
          </a:xfrm>
          <a:prstGeom prst="roundRect">
            <a:avLst>
              <a:gd name="adj" fmla="val 11111"/>
            </a:avLst>
          </a:prstGeom>
          <a:solidFill>
            <a:srgbClr val="F1FDF8"/>
          </a:solidFill>
          <a:ln w="9525">
            <a:solidFill>
              <a:srgbClr val="D9E1EA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EDE146B-424B-4E02-936B-468667056E7F}"/>
              </a:ext>
            </a:extLst>
          </p:cNvPr>
          <p:cNvSpPr>
            <a:spLocks noGrp="1"/>
          </p:cNvSpPr>
          <p:nvPr/>
        </p:nvSpPr>
        <p:spPr>
          <a:xfrm>
            <a:off x="7562850" y="5791200"/>
            <a:ext cx="3352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一句话结束：实现正确，机制可解释，结论可信</a:t>
            </a:r>
            <a:r>
              <a:rPr sz="13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817171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482</Words>
  <Application>Microsoft Office PowerPoint</Application>
  <DocSecurity>0</DocSecurity>
  <PresentationFormat>宽屏</PresentationFormat>
  <Paragraphs>119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Poppins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ooo ooo</cp:lastModifiedBy>
  <cp:revision>5</cp:revision>
  <dcterms:created xsi:type="dcterms:W3CDTF">2026-04-23T17:22:39Z</dcterms:created>
  <dcterms:modified xsi:type="dcterms:W3CDTF">2026-05-07T11:51:32Z</dcterms:modified>
</cp:coreProperties>
</file>