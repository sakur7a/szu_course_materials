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8" d="100"/>
          <a:sy n="208" d="100"/>
        </p:scale>
        <p:origin x="488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97118-1C87-46F1-9969-885134B2C554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C33FC-4450-4647-8280-713CCCC5DE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66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641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276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7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4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51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66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6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865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7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15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8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290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9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019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C33FC-4450-4647-8280-713CCCC5DE90}" type="slidenum">
              <a:rPr lang="zh-CN" altLang="en-US" smtClean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10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425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896" y="54251"/>
            <a:ext cx="40341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4375" y="796168"/>
            <a:ext cx="5137048" cy="1696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6717" y="2985450"/>
            <a:ext cx="236854" cy="150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1E1E1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815638"/>
            <a:ext cx="50082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8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Closest</a:t>
            </a:r>
            <a:r>
              <a:rPr sz="2050" spc="-10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2050"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Pair</a:t>
            </a:r>
            <a:r>
              <a:rPr sz="2050" spc="-1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2050"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of</a:t>
            </a:r>
            <a:r>
              <a:rPr sz="2050" spc="-10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2050"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Points:</a:t>
            </a:r>
            <a:r>
              <a:rPr sz="20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2050" spc="-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Divide</a:t>
            </a:r>
            <a:r>
              <a:rPr sz="2050" spc="-1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2050"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and</a:t>
            </a:r>
            <a:r>
              <a:rPr sz="2050" spc="-10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2050" spc="-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Conquer</a:t>
            </a:r>
            <a:endParaRPr sz="205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261132"/>
            <a:ext cx="2590165" cy="107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模型、核心优化与 </a:t>
            </a:r>
            <a:r>
              <a:rPr sz="1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2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200" i="1"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200"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z="1200"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2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200" spc="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 </a:t>
            </a:r>
            <a:r>
              <a:rPr sz="12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实证分析</a:t>
            </a:r>
            <a:endParaRPr sz="1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2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zh-CN" altLang="en-US" sz="900" b="1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王锦政</a:t>
            </a:r>
            <a:endParaRPr sz="9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2026</a:t>
            </a:r>
            <a:r>
              <a:rPr lang="en-US" sz="9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.5.8</a:t>
            </a:r>
            <a:endParaRPr sz="9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7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算法设计与分析实验汇报</a:t>
            </a:r>
            <a:endParaRPr sz="7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5"/>
              </a:spcBef>
            </a:pPr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Motivation:</a:t>
            </a:r>
            <a:r>
              <a:rPr spc="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</a:t>
            </a:r>
            <a:r>
              <a:rPr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i="1" spc="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pc="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i="1" spc="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500" spc="104" baseline="27777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400" spc="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sz="1400" spc="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400"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Bottleneck</a:t>
            </a:r>
            <a:endParaRPr sz="1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594" y="416985"/>
            <a:ext cx="3806825" cy="368691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75"/>
              </a:spcBef>
            </a:pP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Problem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Formulation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给定二维欧氏平面上 </a:t>
            </a:r>
            <a:r>
              <a:rPr sz="1000" i="1" spc="1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i="1" spc="1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个点集合 </a:t>
            </a:r>
            <a:r>
              <a:rPr sz="1000" i="1" spc="1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，寻找距离最小的点对 </a:t>
            </a:r>
            <a:r>
              <a:rPr sz="1000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</a:t>
            </a:r>
            <a:r>
              <a:rPr sz="1050" i="1" spc="75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sz="1000" i="1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sz="1000" i="1" spc="5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</a:t>
            </a:r>
            <a:r>
              <a:rPr sz="1050" i="1" spc="82" baseline="-11904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j</a:t>
            </a:r>
            <a:r>
              <a:rPr sz="1050" i="1" spc="-112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)：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4180" y="2985450"/>
            <a:ext cx="21971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fld>
            <a:r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  <a:endParaRPr sz="70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194" y="1444668"/>
            <a:ext cx="5048250" cy="124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Why</a:t>
            </a: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is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this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challenging?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303530" indent="-161925">
              <a:lnSpc>
                <a:spcPct val="100000"/>
              </a:lnSpc>
              <a:spcBef>
                <a:spcPts val="855"/>
              </a:spcBef>
              <a:buClr>
                <a:srgbClr val="00529B"/>
              </a:buClr>
              <a:buFont typeface="Cambria"/>
              <a:buChar char="►"/>
              <a:tabLst>
                <a:tab pos="303530" algn="l"/>
              </a:tabLst>
            </a:pP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Trivial</a:t>
            </a: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Solution</a:t>
            </a:r>
            <a:r>
              <a:rPr sz="1000" spc="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穷举所有点对，时间复杂度 </a:t>
            </a:r>
            <a:r>
              <a:rPr sz="1000" i="1" spc="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50" spc="112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spc="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303530" marR="43180" indent="-161925">
              <a:lnSpc>
                <a:spcPct val="114599"/>
              </a:lnSpc>
              <a:spcBef>
                <a:spcPts val="160"/>
              </a:spcBef>
              <a:buClr>
                <a:srgbClr val="00529B"/>
              </a:buClr>
              <a:buFont typeface="Cambria"/>
              <a:buChar char="►"/>
              <a:tabLst>
                <a:tab pos="303530" algn="l"/>
              </a:tabLst>
            </a:pP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Scalability</a:t>
            </a: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Issue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spc="-1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当 </a:t>
            </a:r>
            <a:r>
              <a:rPr sz="1000" i="1" spc="1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 </a:t>
            </a:r>
            <a:r>
              <a:rPr sz="1000" i="1" spc="10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≥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10</a:t>
            </a:r>
            <a:r>
              <a:rPr sz="1050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4</a:t>
            </a:r>
            <a:r>
              <a:rPr sz="1050" spc="254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时，暴力搜索代价急剧上升</a:t>
            </a:r>
            <a:r>
              <a:rPr lang="zh-CN" altLang="en-US"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50800" marR="36830">
              <a:lnSpc>
                <a:spcPct val="114599"/>
              </a:lnSpc>
            </a:pPr>
            <a:r>
              <a:rPr sz="1000" spc="-70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Our</a:t>
            </a:r>
            <a:r>
              <a:rPr sz="1000" spc="-55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45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Approach:</a:t>
            </a:r>
            <a:r>
              <a:rPr sz="1000" spc="30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引入经典的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Divide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+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Conquer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范式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利用</a:t>
            </a:r>
            <a:r>
              <a:rPr sz="1000" b="1" spc="-1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几何空间剪枝</a:t>
            </a:r>
            <a:r>
              <a:rPr sz="1000" spc="-2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，将理论与</a:t>
            </a:r>
            <a:r>
              <a:rPr sz="1000" spc="-4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实际复杂度降至</a:t>
            </a: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i="1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z="1000" spc="-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8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spc="8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A0109AE-9FF3-387D-44D5-46C7DF6186C1}"/>
                  </a:ext>
                </a:extLst>
              </p:cNvPr>
              <p:cNvSpPr txBox="1"/>
              <p:nvPr/>
            </p:nvSpPr>
            <p:spPr>
              <a:xfrm>
                <a:off x="1511300" y="873906"/>
                <a:ext cx="2514600" cy="43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100" i="1" smtClean="0">
                          <a:latin typeface="Cambria Math" panose="02040503050406030204" pitchFamily="18" charset="0"/>
                          <a:sym typeface="Arial" panose="020B0604020202020204" pitchFamily="34" charset="0"/>
                        </a:rPr>
                        <m:t>𝑑</m:t>
                      </m:r>
                      <m:d>
                        <m:dPr>
                          <m:ctrlPr>
                            <a:rPr lang="zh-CN" altLang="en-US" sz="11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1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zh-CN" altLang="en-US" sz="1100" i="1">
                          <a:latin typeface="Cambria Math" panose="02040503050406030204" pitchFamily="18" charset="0"/>
                          <a:sym typeface="Arial" panose="020B06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1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1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sym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A0109AE-9FF3-387D-44D5-46C7DF618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300" y="873906"/>
                <a:ext cx="2514600" cy="43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54180" y="2985450"/>
            <a:ext cx="21971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fld>
            <a:r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  <a:endParaRPr sz="70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Methodology:</a:t>
            </a:r>
            <a:r>
              <a:rPr spc="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Divide</a:t>
            </a:r>
            <a:r>
              <a:rPr spc="-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and</a:t>
            </a:r>
            <a:r>
              <a:rPr spc="-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Conquer 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Framework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算法主线遵循标准的确定性分治范式 </a:t>
            </a:r>
            <a:r>
              <a:rPr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Shamos</a:t>
            </a:r>
            <a:r>
              <a:rPr spc="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pc="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&amp;</a:t>
            </a:r>
            <a:r>
              <a:rPr spc="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Hoey</a:t>
            </a:r>
            <a:r>
              <a:rPr spc="-1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1975)：</a:t>
            </a:r>
          </a:p>
          <a:p>
            <a:pPr marL="19685">
              <a:lnSpc>
                <a:spcPct val="100000"/>
              </a:lnSpc>
              <a:spcBef>
                <a:spcPts val="685"/>
              </a:spcBef>
            </a:pPr>
            <a:endParaRPr spc="-1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97180" indent="-140970">
              <a:lnSpc>
                <a:spcPct val="100000"/>
              </a:lnSpc>
              <a:buClr>
                <a:srgbClr val="00529B"/>
              </a:buClr>
              <a:buFont typeface="Trebuchet MS"/>
              <a:buAutoNum type="arabicPeriod"/>
              <a:tabLst>
                <a:tab pos="297815" algn="l"/>
              </a:tabLst>
            </a:pP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Pre-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processing</a:t>
            </a:r>
            <a:r>
              <a:rPr spc="1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将全局点集分别按 </a:t>
            </a:r>
            <a:r>
              <a:rPr i="1" spc="29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X</a:t>
            </a:r>
            <a:r>
              <a:rPr i="1" spc="1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10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和 </a:t>
            </a:r>
            <a:r>
              <a:rPr i="1" spc="8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i="1" spc="3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1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坐标排序。</a:t>
            </a:r>
            <a:r>
              <a:rPr i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(n</a:t>
            </a:r>
            <a:r>
              <a:rPr spc="-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pc="-8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i="1"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</a:p>
          <a:p>
            <a:pPr marL="19685">
              <a:lnSpc>
                <a:spcPct val="100000"/>
              </a:lnSpc>
              <a:spcBef>
                <a:spcPts val="50"/>
              </a:spcBef>
              <a:buClr>
                <a:srgbClr val="00529B"/>
              </a:buClr>
              <a:buFont typeface="Trebuchet MS"/>
              <a:buAutoNum type="arabicPeriod"/>
            </a:pPr>
            <a:endParaRPr spc="-25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97180" indent="-149225">
              <a:lnSpc>
                <a:spcPct val="100000"/>
              </a:lnSpc>
              <a:buClr>
                <a:srgbClr val="00529B"/>
              </a:buClr>
              <a:buFont typeface="Trebuchet MS"/>
              <a:buAutoNum type="arabicPeriod"/>
              <a:tabLst>
                <a:tab pos="297815" algn="l"/>
              </a:tabLst>
            </a:pPr>
            <a:r>
              <a:rPr spc="-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Divide</a:t>
            </a:r>
            <a:r>
              <a:rPr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pc="-85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选取</a:t>
            </a:r>
            <a:r>
              <a:rPr spc="-8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i="1" spc="295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X</a:t>
            </a:r>
            <a:r>
              <a:rPr spc="-65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中位数</a:t>
            </a:r>
            <a:r>
              <a:rPr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i="1" spc="1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x</a:t>
            </a:r>
            <a:r>
              <a:rPr sz="1050" i="1" spc="165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</a:t>
            </a:r>
            <a:r>
              <a:rPr sz="1050" i="1" spc="240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构建垂直分割线 </a:t>
            </a:r>
            <a:r>
              <a:rPr sz="1000" i="1" spc="1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，将点集等分为 </a:t>
            </a:r>
            <a:r>
              <a:rPr sz="1000" i="1" spc="1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50" i="1" spc="202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50" i="1" spc="232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和 </a:t>
            </a:r>
            <a:r>
              <a:rPr sz="1000" i="1" spc="1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50" i="1" spc="232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</a:t>
            </a:r>
            <a:r>
              <a:rPr sz="1000"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97180" indent="-150495">
              <a:lnSpc>
                <a:spcPct val="100000"/>
              </a:lnSpc>
              <a:spcBef>
                <a:spcPts val="1270"/>
              </a:spcBef>
              <a:buClr>
                <a:srgbClr val="00529B"/>
              </a:buClr>
              <a:buFont typeface="Trebuchet MS"/>
              <a:buAutoNum type="arabicPeriod"/>
              <a:tabLst>
                <a:tab pos="297815" algn="l"/>
              </a:tabLst>
            </a:pP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Conquer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递归求解 </a:t>
            </a:r>
            <a:r>
              <a:rPr i="1" spc="1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50" i="1" spc="202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50" i="1" spc="217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和 </a:t>
            </a:r>
            <a:r>
              <a:rPr sz="1000" i="1" spc="1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50" i="1" spc="195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</a:t>
            </a:r>
            <a:r>
              <a:rPr sz="1050" i="1" spc="217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的最小距离 </a:t>
            </a:r>
            <a:r>
              <a:rPr sz="1000" i="1" spc="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50" i="1" spc="97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sz="1000" i="1" spc="8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50" i="1" spc="120" baseline="-11904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</a:t>
            </a:r>
            <a:r>
              <a:rPr sz="1000"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sz="1000" i="1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en-US" altLang="zh-CN" sz="1000" i="1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base</a:t>
            </a:r>
            <a:r>
              <a:rPr sz="1000" i="1"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case:</a:t>
            </a:r>
            <a:r>
              <a:rPr sz="1000" i="1" spc="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8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i="1" spc="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1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≤ </a:t>
            </a:r>
            <a:r>
              <a:rPr sz="1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r>
              <a:rPr sz="1000" spc="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暴力求解</a:t>
            </a:r>
            <a:r>
              <a:rPr sz="1000" i="1"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96545" marR="43180" indent="-154305">
              <a:lnSpc>
                <a:spcPct val="114599"/>
              </a:lnSpc>
              <a:spcBef>
                <a:spcPts val="1100"/>
              </a:spcBef>
              <a:buClr>
                <a:srgbClr val="00529B"/>
              </a:buClr>
              <a:buFont typeface="Trebuchet MS"/>
              <a:buAutoNum type="arabicPeriod"/>
              <a:tabLst>
                <a:tab pos="298450" algn="l"/>
              </a:tabLst>
            </a:pPr>
            <a:r>
              <a:rPr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Combine </a:t>
            </a: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(The </a:t>
            </a:r>
            <a:r>
              <a:rPr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Hard </a:t>
            </a:r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Part)</a:t>
            </a:r>
            <a:r>
              <a:rPr spc="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pc="-35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令当前局部最优解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lang="en-US" i="1" spc="8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pc="1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= </a:t>
            </a:r>
            <a:r>
              <a:rPr 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min(</a:t>
            </a:r>
            <a:r>
              <a:rPr lang="en-US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lang="en-US" sz="1050" i="1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lang="en-US" sz="1000" i="1"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sz="1000" i="1" spc="8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lang="en-US" sz="1050" i="1" spc="120" baseline="-11904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</a:t>
            </a:r>
            <a:r>
              <a:rPr lang="en-US" sz="1000" spc="8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lang="en-US"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sz="1000" spc="-3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检查是否存在跨越分割</a:t>
            </a: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sz="1000" spc="-1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线 </a:t>
            </a:r>
            <a:r>
              <a:rPr sz="1000" i="1" spc="1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，且距离 </a:t>
            </a:r>
            <a:r>
              <a:rPr sz="1000" i="1" spc="1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&lt; </a:t>
            </a:r>
            <a:r>
              <a:rPr sz="1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的点对。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54180" y="2985450"/>
            <a:ext cx="21971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4</a:t>
            </a:fld>
            <a:r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  <a:endParaRPr sz="70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</a:t>
            </a:r>
            <a:r>
              <a:rPr spc="-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Merge</a:t>
            </a:r>
            <a:r>
              <a:rPr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Bottleneck</a:t>
            </a:r>
            <a:r>
              <a:rPr spc="-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&amp;</a:t>
            </a:r>
            <a:r>
              <a:rPr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Strip</a:t>
            </a:r>
            <a:r>
              <a:rPr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Filtering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494" y="681856"/>
            <a:ext cx="5248910" cy="19310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75"/>
              </a:spcBef>
            </a:pPr>
            <a:r>
              <a:rPr sz="1000" spc="-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Challenge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  <a:spcBef>
                <a:spcPts val="175"/>
              </a:spcBef>
            </a:pP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如果直接对 </a:t>
            </a:r>
            <a:r>
              <a:rPr sz="1000" i="1" spc="1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50" i="1" spc="202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50" i="1" spc="240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和 </a:t>
            </a:r>
            <a:r>
              <a:rPr sz="1000" i="1" spc="1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</a:t>
            </a:r>
            <a:r>
              <a:rPr sz="1050" i="1" spc="195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</a:t>
            </a:r>
            <a:r>
              <a:rPr sz="1050" i="1" spc="247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中的点进行两两比对，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Combine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步骤需要 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50" spc="75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，导致整体分治退化。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Optimization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1:</a:t>
            </a:r>
            <a:r>
              <a:rPr sz="1000" spc="9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Strip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Filtering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(</a:t>
            </a:r>
            <a:r>
              <a:rPr sz="1000" b="1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带状区域剪枝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316230" indent="-161925">
              <a:lnSpc>
                <a:spcPct val="100000"/>
              </a:lnSpc>
              <a:spcBef>
                <a:spcPts val="969"/>
              </a:spcBef>
              <a:buClr>
                <a:srgbClr val="00529B"/>
              </a:buClr>
              <a:buFont typeface="Cambria"/>
              <a:buChar char="►"/>
              <a:tabLst>
                <a:tab pos="316230" algn="l"/>
              </a:tabLst>
            </a:pP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任何距离 </a:t>
            </a:r>
            <a:r>
              <a:rPr sz="1000" i="1" spc="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&lt;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的跨界点对，必须同时落在距离分割线 </a:t>
            </a:r>
            <a:r>
              <a:rPr sz="1000" i="1" spc="2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左右各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的范围内。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316230" marR="185420" indent="-161925">
              <a:lnSpc>
                <a:spcPct val="114599"/>
              </a:lnSpc>
              <a:spcBef>
                <a:spcPts val="300"/>
              </a:spcBef>
              <a:buClr>
                <a:srgbClr val="00529B"/>
              </a:buClr>
              <a:buFont typeface="Cambria"/>
              <a:buChar char="►"/>
              <a:tabLst>
                <a:tab pos="316230" algn="l"/>
              </a:tabLst>
            </a:pP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我们仅需提取 </a:t>
            </a:r>
            <a:r>
              <a:rPr sz="1000" i="1" spc="7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|x</a:t>
            </a:r>
            <a:r>
              <a:rPr sz="1050" i="1" spc="104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 </a:t>
            </a:r>
            <a:r>
              <a:rPr sz="1000" i="1" spc="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− </a:t>
            </a:r>
            <a:r>
              <a:rPr sz="1000" i="1" spc="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x</a:t>
            </a:r>
            <a:r>
              <a:rPr sz="1050" i="1" spc="142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</a:t>
            </a:r>
            <a:r>
              <a:rPr sz="1000" i="1" spc="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|</a:t>
            </a:r>
            <a:r>
              <a:rPr sz="1000" i="1" spc="-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&lt;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 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的点，构建宽度为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 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的带状区域候选集 </a:t>
            </a:r>
            <a:r>
              <a:rPr sz="1000" i="1" spc="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sz="1000" i="1" spc="-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50" i="1" spc="82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′</a:t>
            </a:r>
            <a:r>
              <a:rPr sz="1000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sz="1000" spc="-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保持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sz="1000" i="1" spc="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方向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有序</a:t>
            </a:r>
            <a:r>
              <a:rPr sz="1000" spc="-509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r>
              <a:rPr lang="en-US" altLang="zh-CN" sz="1000" i="1" spc="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Rethinking</a:t>
            </a:r>
            <a:r>
              <a:rPr lang="en-US" sz="1000" i="1" spc="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spc="-2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最坏情况下，所有点都可能落在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带状区域内，复杂度依然是 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50" spc="75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)？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Theoretical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Core:</a:t>
            </a:r>
            <a:r>
              <a:rPr spc="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i="1" spc="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pc="7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(1)</a:t>
            </a:r>
            <a:r>
              <a:rPr spc="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Inner</a:t>
            </a: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Loop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Guarantee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94" y="353726"/>
            <a:ext cx="3953510" cy="5016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Optimization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2:</a:t>
            </a:r>
            <a:r>
              <a:rPr sz="1000" spc="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b="1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鸽巢原理下的常数级比较 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(Pigeonhole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Principle)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000" spc="-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对于 </a:t>
            </a:r>
            <a:r>
              <a:rPr sz="1000" i="1" spc="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sz="1000" i="1" spc="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50" i="1" spc="187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′ </a:t>
            </a: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中的任意点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</a:t>
            </a:r>
            <a:r>
              <a:rPr sz="1050" i="1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sz="1000" spc="-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，在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sz="1000" i="1" spc="1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方向上，我们最多需要向后比较几个点？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019785"/>
            <a:ext cx="5040630" cy="558165"/>
          </a:xfrm>
          <a:custGeom>
            <a:avLst/>
            <a:gdLst/>
            <a:ahLst/>
            <a:cxnLst/>
            <a:rect l="l" t="t" r="r" b="b"/>
            <a:pathLst>
              <a:path w="5040630" h="558165">
                <a:moveTo>
                  <a:pt x="5022065" y="0"/>
                </a:moveTo>
                <a:lnTo>
                  <a:pt x="17999" y="0"/>
                </a:lnTo>
                <a:lnTo>
                  <a:pt x="10993" y="1414"/>
                </a:lnTo>
                <a:lnTo>
                  <a:pt x="5272" y="5272"/>
                </a:lnTo>
                <a:lnTo>
                  <a:pt x="1414" y="10993"/>
                </a:lnTo>
                <a:lnTo>
                  <a:pt x="0" y="18000"/>
                </a:lnTo>
                <a:lnTo>
                  <a:pt x="0" y="540126"/>
                </a:lnTo>
                <a:lnTo>
                  <a:pt x="1414" y="547132"/>
                </a:lnTo>
                <a:lnTo>
                  <a:pt x="5272" y="552854"/>
                </a:lnTo>
                <a:lnTo>
                  <a:pt x="10993" y="556711"/>
                </a:lnTo>
                <a:lnTo>
                  <a:pt x="17999" y="558126"/>
                </a:lnTo>
                <a:lnTo>
                  <a:pt x="5022065" y="558126"/>
                </a:lnTo>
                <a:lnTo>
                  <a:pt x="5029071" y="556711"/>
                </a:lnTo>
                <a:lnTo>
                  <a:pt x="5034792" y="552854"/>
                </a:lnTo>
                <a:lnTo>
                  <a:pt x="5038650" y="547132"/>
                </a:lnTo>
                <a:lnTo>
                  <a:pt x="5040064" y="540126"/>
                </a:lnTo>
                <a:lnTo>
                  <a:pt x="5040064" y="18000"/>
                </a:lnTo>
                <a:lnTo>
                  <a:pt x="5038650" y="10993"/>
                </a:lnTo>
                <a:lnTo>
                  <a:pt x="5034792" y="5272"/>
                </a:lnTo>
                <a:lnTo>
                  <a:pt x="5029071" y="1414"/>
                </a:lnTo>
                <a:lnTo>
                  <a:pt x="5022065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8575" y="1087912"/>
            <a:ext cx="4914265" cy="4219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763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690"/>
              </a:spcBef>
            </a:pPr>
            <a:r>
              <a:rPr sz="1000"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Theorem</a:t>
            </a: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7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(Maximum</a:t>
            </a: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1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6</a:t>
            </a: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comparisons)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9705">
              <a:lnSpc>
                <a:spcPct val="100000"/>
              </a:lnSpc>
              <a:spcBef>
                <a:spcPts val="175"/>
              </a:spcBef>
            </a:pPr>
            <a:r>
              <a:rPr sz="10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在带状区域中，任意点 </a:t>
            </a:r>
            <a:r>
              <a:rPr sz="1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</a:t>
            </a:r>
            <a:r>
              <a:rPr sz="1050" i="1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sz="1050" i="1" spc="270" baseline="-1190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只需与其 </a:t>
            </a:r>
            <a:r>
              <a:rPr sz="10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sz="1000" i="1" spc="1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坐标之后的 </a:t>
            </a:r>
            <a:r>
              <a:rPr sz="10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最多 </a:t>
            </a:r>
            <a:r>
              <a:rPr sz="1000" spc="-114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6</a:t>
            </a:r>
            <a:r>
              <a:rPr sz="1000"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b="1" spc="-1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个点</a:t>
            </a:r>
            <a:r>
              <a:rPr sz="1000" spc="-2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计算距离</a:t>
            </a:r>
            <a:r>
              <a:rPr sz="1000"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lang="zh-CN" altLang="en-US" sz="1000"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（经典界）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894" y="1648211"/>
            <a:ext cx="3365500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Proof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Sketch: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90830" indent="-161925">
              <a:lnSpc>
                <a:spcPct val="100000"/>
              </a:lnSpc>
              <a:spcBef>
                <a:spcPts val="860"/>
              </a:spcBef>
              <a:buClr>
                <a:srgbClr val="00529B"/>
              </a:buClr>
              <a:buFont typeface="Cambria"/>
              <a:buChar char="►"/>
              <a:tabLst>
                <a:tab pos="290830" algn="l"/>
              </a:tabLst>
            </a:pP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构造一个宽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i="1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spc="-8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、高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的矩形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</a:t>
            </a:r>
            <a:r>
              <a:rPr sz="1050" i="1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</a:t>
            </a:r>
            <a:r>
              <a:rPr sz="1050" i="1" spc="270" baseline="-1190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的跨界候选搜索区</a:t>
            </a:r>
            <a:r>
              <a:rPr sz="1000" spc="-509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4417" y="2187412"/>
            <a:ext cx="31369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0190" algn="l"/>
              </a:tabLst>
            </a:pPr>
            <a:r>
              <a:rPr sz="7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7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sz="7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endParaRPr sz="7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283" y="2105817"/>
            <a:ext cx="29845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indent="-161925">
              <a:lnSpc>
                <a:spcPct val="100000"/>
              </a:lnSpc>
              <a:spcBef>
                <a:spcPts val="95"/>
              </a:spcBef>
              <a:buClr>
                <a:srgbClr val="00529B"/>
              </a:buClr>
              <a:buFont typeface="Cambria"/>
              <a:buChar char="►"/>
              <a:tabLst>
                <a:tab pos="200025" algn="l"/>
              </a:tabLst>
            </a:pP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将其均分为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×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r>
              <a:rPr sz="1000" spc="11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=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6</a:t>
            </a:r>
            <a:r>
              <a:rPr sz="1000" spc="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3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个尺寸为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50" i="1" u="sng" baseline="3174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50" i="1" spc="254" baseline="31746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1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× </a:t>
            </a:r>
            <a:r>
              <a:rPr sz="1050" i="1" u="sng" baseline="31746" dirty="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50" i="1" spc="345" baseline="31746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的小矩形。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283" y="2315367"/>
            <a:ext cx="193621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indent="-161925">
              <a:lnSpc>
                <a:spcPct val="100000"/>
              </a:lnSpc>
              <a:spcBef>
                <a:spcPts val="95"/>
              </a:spcBef>
              <a:buClr>
                <a:srgbClr val="00529B"/>
              </a:buClr>
              <a:buFont typeface="Cambria"/>
              <a:buChar char="►"/>
              <a:tabLst>
                <a:tab pos="200025" algn="l"/>
              </a:tabLst>
            </a:pPr>
            <a:r>
              <a:rPr lang="zh-CN" altLang="en-US" sz="1000" b="1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几何约束</a:t>
            </a:r>
            <a:r>
              <a:rPr lang="zh-CN" altLang="en-US"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：小矩形的对角线为   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54180" y="2985450"/>
            <a:ext cx="21971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</a:t>
            </a:fld>
            <a:r>
              <a:rPr sz="7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  <a:endParaRPr sz="70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7117" y="2426890"/>
            <a:ext cx="4974590" cy="62581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737235" algn="ctr">
              <a:lnSpc>
                <a:spcPct val="100000"/>
              </a:lnSpc>
              <a:spcBef>
                <a:spcPts val="140"/>
              </a:spcBef>
            </a:pPr>
            <a:endParaRPr sz="7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4625" indent="-161925">
              <a:lnSpc>
                <a:spcPct val="100000"/>
              </a:lnSpc>
              <a:spcBef>
                <a:spcPts val="55"/>
              </a:spcBef>
              <a:buClr>
                <a:srgbClr val="00529B"/>
              </a:buClr>
              <a:buFont typeface="Cambria"/>
              <a:buChar char="►"/>
              <a:tabLst>
                <a:tab pos="174625" algn="l"/>
              </a:tabLst>
            </a:pPr>
            <a:r>
              <a:rPr sz="1000" b="1" spc="-1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反证法</a:t>
            </a:r>
            <a:r>
              <a:rPr sz="1000" spc="-7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：若存在</a:t>
            </a:r>
            <a:r>
              <a:rPr sz="1000" spc="-7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1000" spc="-7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10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≥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7</a:t>
            </a:r>
            <a:r>
              <a:rPr sz="1000" spc="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个点，必有 2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点同处于一个小矩形内，其距离 </a:t>
            </a:r>
            <a:r>
              <a:rPr sz="1000" i="1" spc="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&lt;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。这与子集内部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3990">
              <a:lnSpc>
                <a:spcPct val="100000"/>
              </a:lnSpc>
              <a:spcBef>
                <a:spcPts val="175"/>
              </a:spcBef>
            </a:pP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最小距离 </a:t>
            </a:r>
            <a:r>
              <a:rPr sz="1000" i="1" spc="10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≥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的前提</a:t>
            </a:r>
            <a:r>
              <a:rPr sz="1000" b="1" spc="-1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矛盾</a:t>
            </a:r>
            <a:r>
              <a:rPr lang="zh-CN" altLang="en-US" sz="1000" b="1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lang="zh-CN" altLang="en-US"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lang="zh-CN" altLang="en-US" sz="1000" dirty="0"/>
              <a:t>后续有 </a:t>
            </a:r>
            <a:r>
              <a:rPr lang="en-US" altLang="zh-CN" sz="1000" dirty="0"/>
              <a:t>Rabin</a:t>
            </a:r>
            <a:r>
              <a:rPr lang="zh-CN" altLang="en-US" sz="1000" dirty="0"/>
              <a:t>、</a:t>
            </a:r>
            <a:r>
              <a:rPr lang="en-US" altLang="zh-CN" sz="1000" dirty="0"/>
              <a:t>Khuller–Matias </a:t>
            </a:r>
            <a:r>
              <a:rPr lang="zh-CN" altLang="en-US" sz="1000" dirty="0"/>
              <a:t>等随机化算法，能在期望意义下做到线性时间）。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F007E0-5D08-153E-4E4F-8ED783C892DD}"/>
              </a:ext>
            </a:extLst>
          </p:cNvPr>
          <p:cNvSpPr txBox="1"/>
          <p:nvPr/>
        </p:nvSpPr>
        <p:spPr>
          <a:xfrm>
            <a:off x="4310634" y="2105817"/>
            <a:ext cx="128597" cy="26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D16757D-28D5-7DB4-3061-7D2DDD47D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198" y="2313314"/>
            <a:ext cx="1170104" cy="21698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Algorithm</a:t>
            </a:r>
            <a:r>
              <a:rPr spc="-5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Complexity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6494" y="439755"/>
            <a:ext cx="5158740" cy="15125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凭借最多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6</a:t>
            </a:r>
            <a:r>
              <a:rPr sz="1000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次的常数级内部比较，合并步骤（Combine）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的时间复杂度被严格压缩至线性。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r>
              <a:rPr sz="1000" spc="-7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Time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Complexity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Recurrence:</a:t>
            </a:r>
            <a:endParaRPr lang="en-US" sz="1000" spc="-10" dirty="0">
              <a:solidFill>
                <a:srgbClr val="1E1E1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endParaRPr lang="en-US" sz="1000" spc="-10" dirty="0">
              <a:solidFill>
                <a:srgbClr val="1E1E1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endParaRPr lang="en-US" sz="1000" spc="-10" dirty="0">
              <a:solidFill>
                <a:srgbClr val="1E1E1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endParaRPr lang="en-US" sz="1000" spc="-10" dirty="0">
              <a:solidFill>
                <a:srgbClr val="1E1E1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endParaRPr lang="en-US" sz="1000" spc="-45" dirty="0">
              <a:solidFill>
                <a:srgbClr val="1E1E1E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63500">
              <a:lnSpc>
                <a:spcPct val="100000"/>
              </a:lnSpc>
            </a:pPr>
            <a:r>
              <a:rPr sz="1000" spc="-4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根据主定理</a:t>
            </a: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(Master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Theorem):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436717" y="2985450"/>
            <a:ext cx="236854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6</a:t>
            </a:fld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8300" y="2049874"/>
            <a:ext cx="4222115" cy="82266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77060">
              <a:lnSpc>
                <a:spcPct val="100000"/>
              </a:lnSpc>
              <a:spcBef>
                <a:spcPts val="135"/>
              </a:spcBef>
            </a:pPr>
            <a:r>
              <a:rPr sz="1000" spc="8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T(n) </a:t>
            </a:r>
            <a:r>
              <a:rPr sz="1000" spc="3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=</a:t>
            </a:r>
            <a:r>
              <a:rPr sz="1000" spc="9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(n</a:t>
            </a:r>
            <a:r>
              <a:rPr sz="1000" spc="-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z="1000" spc="-114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50800">
              <a:lnSpc>
                <a:spcPct val="100000"/>
              </a:lnSpc>
            </a:pP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Space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Complexity: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spcBef>
                <a:spcPts val="175"/>
              </a:spcBef>
            </a:pPr>
            <a:r>
              <a:rPr sz="1000" i="1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spc="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sz="1000" spc="-2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主要开销在于存储排序索引以及递归调用栈中的带状区域数组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zh-CN" sz="1000" i="1" spc="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Y</a:t>
            </a:r>
            <a:r>
              <a:rPr lang="en-US" altLang="zh-CN" sz="1000" i="1" spc="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zh-CN" sz="1050" i="1" spc="187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′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D61D1BF-EC6A-E29E-E946-5D3C9443D300}"/>
                  </a:ext>
                </a:extLst>
              </p:cNvPr>
              <p:cNvSpPr txBox="1"/>
              <p:nvPr/>
            </p:nvSpPr>
            <p:spPr>
              <a:xfrm>
                <a:off x="444500" y="1196052"/>
                <a:ext cx="4831398" cy="41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000" i="1" smtClean="0">
                          <a:latin typeface="Cambria Math" panose="02040503050406030204" pitchFamily="18" charset="0"/>
                          <a:sym typeface="Arial" panose="020B0604020202020204" pitchFamily="34" charset="0"/>
                        </a:rPr>
                        <m:t>𝑇</m:t>
                      </m:r>
                      <m:d>
                        <m:dPr>
                          <m:ctrlPr>
                            <a:rPr lang="zh-CN" altLang="en-US" sz="10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zh-CN" altLang="en-US" sz="10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zh-CN" altLang="en-US" sz="1000" i="1">
                          <a:latin typeface="Cambria Math" panose="02040503050406030204" pitchFamily="18" charset="0"/>
                          <a:sym typeface="Arial" panose="020B0604020202020204" pitchFamily="34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10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sz="10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sz="10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zh-CN" altLang="en-US" sz="10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zh-CN" altLang="en-US" sz="10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0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m:rPr>
                                      <m:lit/>
                                    </m:rPr>
                                    <a:rPr lang="zh-CN" altLang="en-US" sz="10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  <m:t>/</m:t>
                                  </m:r>
                                  <m:r>
                                    <a:rPr lang="zh-CN" altLang="en-US" sz="10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Divide</m:t>
                          </m:r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lit/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&amp;</m:t>
                          </m:r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Conquer</m:t>
                          </m:r>
                        </m:lim>
                      </m:limLow>
                      <m:r>
                        <a:rPr lang="zh-CN" altLang="en-US" sz="1000" i="1">
                          <a:latin typeface="Cambria Math" panose="02040503050406030204" pitchFamily="18" charset="0"/>
                          <a:sym typeface="Arial" panose="020B0604020202020204" pitchFamily="34" charset="0"/>
                        </a:rPr>
                        <m:t>+</m:t>
                      </m:r>
                      <m:limLow>
                        <m:limLowPr>
                          <m:ctrlPr>
                            <a:rPr lang="zh-CN" altLang="en-US" sz="1000" i="1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sz="10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</m:ctrlPr>
                            </m:groupChrPr>
                            <m:e>
                              <m:r>
                                <a:rPr lang="zh-CN" altLang="en-US" sz="1000" i="1">
                                  <a:latin typeface="Cambria Math" panose="02040503050406030204" pitchFamily="18" charset="0"/>
                                  <a:sym typeface="Arial" panose="020B0604020202020204" pitchFamily="34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zh-CN" altLang="en-US" sz="10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000" i="1">
                                      <a:latin typeface="Cambria Math" panose="02040503050406030204" pitchFamily="18" charset="0"/>
                                      <a:sym typeface="Arial" panose="020B0604020202020204" pitchFamily="34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Linear</m:t>
                          </m:r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sz="1000" i="0">
                              <a:latin typeface="Arial" panose="020B0604020202020204" pitchFamily="34" charset="0"/>
                              <a:ea typeface="Microsoft YaHei" panose="020B0503020204020204" pitchFamily="34" charset="-122"/>
                              <a:cs typeface="Arial" panose="020B0604020202020204" pitchFamily="34" charset="0"/>
                              <a:sym typeface="Arial" panose="020B0604020202020204" pitchFamily="34" charset="0"/>
                            </a:rPr>
                            <m:t>Combine</m:t>
                          </m:r>
                        </m:lim>
                      </m:limLow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D61D1BF-EC6A-E29E-E946-5D3C9443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" y="1196052"/>
                <a:ext cx="4831398" cy="414985"/>
              </a:xfrm>
              <a:prstGeom prst="rect">
                <a:avLst/>
              </a:prstGeom>
              <a:blipFill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436717" y="2985450"/>
            <a:ext cx="236854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7</a:t>
            </a:fld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Experiments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6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&amp;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Visual</a:t>
            </a:r>
            <a:r>
              <a:rPr spc="-5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Interpretations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437978"/>
            <a:ext cx="1960245" cy="12249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spc="-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Experimental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65430" indent="-161925">
              <a:lnSpc>
                <a:spcPct val="100000"/>
              </a:lnSpc>
              <a:spcBef>
                <a:spcPts val="470"/>
              </a:spcBef>
              <a:buClr>
                <a:srgbClr val="00529B"/>
              </a:buClr>
              <a:buFont typeface="Cambria"/>
              <a:buChar char="►"/>
              <a:tabLst>
                <a:tab pos="265430" algn="l"/>
              </a:tabLst>
            </a:pP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Environment:</a:t>
            </a:r>
            <a:r>
              <a:rPr sz="1000" spc="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C++17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(-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O2)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65430" marR="5080" indent="-161925">
              <a:lnSpc>
                <a:spcPct val="114599"/>
              </a:lnSpc>
              <a:spcBef>
                <a:spcPts val="300"/>
              </a:spcBef>
              <a:buClr>
                <a:srgbClr val="00529B"/>
              </a:buClr>
              <a:buFont typeface="Cambria"/>
              <a:buChar char="►"/>
              <a:tabLst>
                <a:tab pos="265430" algn="l"/>
              </a:tabLst>
            </a:pP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Distributions: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均匀分布随机平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面点集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65430" marR="28575" indent="-161925">
              <a:lnSpc>
                <a:spcPct val="114599"/>
              </a:lnSpc>
              <a:spcBef>
                <a:spcPts val="300"/>
              </a:spcBef>
              <a:buClr>
                <a:srgbClr val="00529B"/>
              </a:buClr>
              <a:buFont typeface="Cambria"/>
              <a:buChar char="►"/>
              <a:tabLst>
                <a:tab pos="265430" algn="l"/>
              </a:tabLst>
            </a:pP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Metric</a:t>
            </a: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</a:t>
            </a:r>
            <a:r>
              <a:rPr sz="1000" spc="-7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次独立重复运行取均</a:t>
            </a:r>
            <a:r>
              <a:rPr sz="1000" spc="-1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值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(Mean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1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±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Std)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1801920"/>
            <a:ext cx="2050414" cy="8985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spc="-40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Process</a:t>
            </a:r>
            <a:r>
              <a:rPr sz="1000" spc="-45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50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Dashboard</a:t>
            </a:r>
            <a:r>
              <a:rPr sz="1000" spc="-25" dirty="0">
                <a:solidFill>
                  <a:srgbClr val="00529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-5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→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zh-CN" altLang="en-US"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我做了算法运行的</a:t>
            </a:r>
            <a:r>
              <a:rPr sz="1000" spc="-1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可视化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37160" indent="-125095">
              <a:lnSpc>
                <a:spcPct val="100000"/>
              </a:lnSpc>
              <a:spcBef>
                <a:spcPts val="175"/>
              </a:spcBef>
              <a:buFont typeface="Trebuchet MS"/>
              <a:buAutoNum type="arabicPeriod"/>
              <a:tabLst>
                <a:tab pos="137160" algn="l"/>
              </a:tabLst>
            </a:pP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中位线划分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45415" indent="-132715">
              <a:lnSpc>
                <a:spcPct val="100000"/>
              </a:lnSpc>
              <a:spcBef>
                <a:spcPts val="175"/>
              </a:spcBef>
              <a:buFont typeface="Trebuchet MS"/>
              <a:buAutoNum type="arabicPeriod"/>
              <a:tabLst>
                <a:tab pos="145415" algn="l"/>
              </a:tabLst>
            </a:pP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</a:t>
            </a:r>
            <a:r>
              <a:rPr sz="1000" i="1" spc="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带状区域动态收缩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46685" indent="-133985">
              <a:lnSpc>
                <a:spcPct val="100000"/>
              </a:lnSpc>
              <a:spcBef>
                <a:spcPts val="175"/>
              </a:spcBef>
              <a:buFont typeface="Trebuchet MS"/>
              <a:buAutoNum type="arabicPeriod"/>
              <a:tabLst>
                <a:tab pos="146685" algn="l"/>
              </a:tabLst>
            </a:pP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局部候选点的验证轨迹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D0FFD8-3469-C179-F129-5DD9AE5FE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100" y="479425"/>
            <a:ext cx="3468217" cy="20830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5436717" y="2985450"/>
            <a:ext cx="236854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8</a:t>
            </a:fld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10896" y="54251"/>
            <a:ext cx="5009515" cy="6790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Quantitative</a:t>
            </a:r>
            <a:r>
              <a:rPr sz="1400" spc="-1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400"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Benchmark</a:t>
            </a:r>
            <a:r>
              <a:rPr sz="1400"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(10</a:t>
            </a:r>
            <a:r>
              <a:rPr sz="1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K</a:t>
            </a:r>
            <a:r>
              <a:rPr sz="1400" i="1" spc="229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400" i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→</a:t>
            </a:r>
            <a:r>
              <a:rPr sz="1400" i="1" spc="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400" spc="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50</a:t>
            </a:r>
            <a:r>
              <a:rPr sz="1400" i="1" spc="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K</a:t>
            </a:r>
            <a:r>
              <a:rPr sz="1400" i="1" spc="2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400" spc="-1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points)</a:t>
            </a:r>
            <a:endParaRPr sz="1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48920">
              <a:lnSpc>
                <a:spcPct val="100000"/>
              </a:lnSpc>
            </a:pPr>
            <a:r>
              <a:rPr sz="1000" spc="-2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实证数据</a:t>
            </a:r>
            <a:r>
              <a:rPr lang="zh-CN" altLang="en-US"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符合</a:t>
            </a:r>
            <a:r>
              <a:rPr sz="1000" spc="-2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理论分析。随着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1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i="1" spc="1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增长，Divide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&amp;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Conquer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zh-CN" altLang="en-US"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算法的运行时间显著更低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370572"/>
              </p:ext>
            </p:extLst>
          </p:nvPr>
        </p:nvGraphicFramePr>
        <p:xfrm>
          <a:off x="1006792" y="1164640"/>
          <a:ext cx="3748405" cy="140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spc="-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Scale</a:t>
                      </a:r>
                      <a:r>
                        <a:rPr sz="1000" spc="-4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3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(N)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7310" marB="0">
                    <a:lnT w="12700">
                      <a:solidFill>
                        <a:srgbClr val="1E1E1E"/>
                      </a:solidFill>
                      <a:prstDash val="solid"/>
                    </a:lnT>
                    <a:lnB w="6350">
                      <a:solidFill>
                        <a:srgbClr val="1E1E1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spc="-6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Brute-</a:t>
                      </a:r>
                      <a:r>
                        <a:rPr sz="1000" spc="-4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force</a:t>
                      </a:r>
                      <a:r>
                        <a:rPr sz="1000" spc="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(ms)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7310" marB="0">
                    <a:lnT w="12700">
                      <a:solidFill>
                        <a:srgbClr val="1E1E1E"/>
                      </a:solidFill>
                      <a:prstDash val="solid"/>
                    </a:lnT>
                    <a:lnB w="6350">
                      <a:solidFill>
                        <a:srgbClr val="1E1E1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spc="-4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Divide</a:t>
                      </a:r>
                      <a:r>
                        <a:rPr sz="1000" spc="-3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&amp;</a:t>
                      </a:r>
                      <a:r>
                        <a:rPr sz="1000" spc="-3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6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Conquer</a:t>
                      </a:r>
                      <a:r>
                        <a:rPr sz="1000" spc="-3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(ms)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7310" marB="0">
                    <a:lnT w="12700">
                      <a:solidFill>
                        <a:srgbClr val="1E1E1E"/>
                      </a:solidFill>
                      <a:prstDash val="solid"/>
                    </a:lnT>
                    <a:lnB w="6350">
                      <a:solidFill>
                        <a:srgbClr val="1E1E1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Speedup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7310" marB="0">
                    <a:lnT w="12700">
                      <a:solidFill>
                        <a:srgbClr val="1E1E1E"/>
                      </a:solidFill>
                      <a:prstDash val="solid"/>
                    </a:lnT>
                    <a:lnB w="6350">
                      <a:solidFill>
                        <a:srgbClr val="1E1E1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10,000</a:t>
                      </a:r>
                      <a:endParaRPr sz="100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5405" marB="0">
                    <a:lnT w="6350">
                      <a:solidFill>
                        <a:srgbClr val="1E1E1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29.2</a:t>
                      </a:r>
                      <a:r>
                        <a:rPr sz="1000" spc="-3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0.7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5405" marB="0">
                    <a:lnT w="6350">
                      <a:solidFill>
                        <a:srgbClr val="1E1E1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3.1</a:t>
                      </a:r>
                      <a:r>
                        <a:rPr sz="1000" spc="-4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0.2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5405" marB="0">
                    <a:lnT w="6350">
                      <a:solidFill>
                        <a:srgbClr val="1E1E1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9.27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×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65405" marB="0">
                    <a:lnT w="6350">
                      <a:solidFill>
                        <a:srgbClr val="1E1E1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20,000</a:t>
                      </a:r>
                      <a:endParaRPr sz="100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128.1</a:t>
                      </a:r>
                      <a:r>
                        <a:rPr sz="1000" spc="-5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6.6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7.1</a:t>
                      </a:r>
                      <a:r>
                        <a:rPr sz="1000" spc="-4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0.7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17.91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×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30,000</a:t>
                      </a:r>
                      <a:endParaRPr sz="100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292.8</a:t>
                      </a:r>
                      <a:r>
                        <a:rPr sz="1000" spc="-5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8.8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11.5</a:t>
                      </a:r>
                      <a:r>
                        <a:rPr sz="1000" spc="-3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1.1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25.44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×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40,000</a:t>
                      </a:r>
                      <a:endParaRPr sz="100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519.6</a:t>
                      </a:r>
                      <a:r>
                        <a:rPr sz="1000" spc="-5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8.8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14.5</a:t>
                      </a:r>
                      <a:r>
                        <a:rPr sz="1000" spc="-3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1.3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35.67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×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50,000</a:t>
                      </a:r>
                      <a:endParaRPr sz="100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>
                    <a:lnB w="12700">
                      <a:solidFill>
                        <a:srgbClr val="1E1E1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790.4</a:t>
                      </a:r>
                      <a:r>
                        <a:rPr sz="1000" spc="-5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19.4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>
                    <a:lnB w="12700">
                      <a:solidFill>
                        <a:srgbClr val="1E1E1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19.9</a:t>
                      </a:r>
                      <a:r>
                        <a:rPr sz="1000" spc="-3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i="1" spc="22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±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sz="1000" spc="-25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0.5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>
                    <a:lnB w="12700">
                      <a:solidFill>
                        <a:srgbClr val="1E1E1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39.70</a:t>
                      </a:r>
                      <a:r>
                        <a:rPr sz="1000" i="1" spc="-10" dirty="0">
                          <a:solidFill>
                            <a:srgbClr val="1E1E1E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×</a:t>
                      </a:r>
                      <a:endParaRPr sz="1000" dirty="0"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22860" marB="0">
                    <a:lnB w="12700">
                      <a:solidFill>
                        <a:srgbClr val="1E1E1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436717" y="2985450"/>
            <a:ext cx="236854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9</a:t>
            </a:fld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Empirical</a:t>
            </a:r>
            <a:r>
              <a:rPr spc="-4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6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Complexity</a:t>
            </a:r>
            <a:r>
              <a:rPr spc="-3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Verification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0413" y="2153547"/>
            <a:ext cx="2579370" cy="4635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Linear</a:t>
            </a: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Scale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093470" marR="30480" indent="-1056005">
              <a:lnSpc>
                <a:spcPts val="1090"/>
              </a:lnSpc>
              <a:spcBef>
                <a:spcPts val="15"/>
              </a:spcBef>
            </a:pPr>
            <a:r>
              <a:rPr sz="8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Brute-</a:t>
            </a:r>
            <a:r>
              <a:rPr sz="8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force </a:t>
            </a:r>
            <a:r>
              <a:rPr sz="8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呈显著的 </a:t>
            </a:r>
            <a:r>
              <a:rPr sz="8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8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8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900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800" spc="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 </a:t>
            </a:r>
            <a:r>
              <a:rPr sz="8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抛物线上凸；分治法耗时贴</a:t>
            </a:r>
            <a:r>
              <a:rPr sz="800" spc="-1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近 </a:t>
            </a:r>
            <a:r>
              <a:rPr sz="800" i="1" spc="1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X</a:t>
            </a:r>
            <a:r>
              <a:rPr sz="800" i="1" spc="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8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轴。</a:t>
            </a:r>
            <a:endParaRPr sz="8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1225" y="2151693"/>
            <a:ext cx="2517775" cy="449931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1000" spc="-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lang="en-US" sz="1000" spc="-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r>
              <a:rPr lang="en-US" sz="1000" spc="-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9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Scale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784860" marR="30480" indent="-747395">
              <a:lnSpc>
                <a:spcPts val="1090"/>
              </a:lnSpc>
              <a:spcBef>
                <a:spcPts val="15"/>
              </a:spcBef>
            </a:pPr>
            <a:r>
              <a:rPr sz="8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实测斜率与理论渐近线</a:t>
            </a:r>
            <a:r>
              <a:rPr sz="8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sz="8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8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8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900" baseline="27777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sz="800" spc="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 </a:t>
            </a:r>
            <a:r>
              <a:rPr sz="800" spc="-8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和 </a:t>
            </a:r>
            <a:r>
              <a:rPr sz="8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8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8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800" i="1" spc="-1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8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 </a:t>
            </a:r>
            <a:r>
              <a:rPr sz="800" i="1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8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)）</a:t>
            </a:r>
            <a:r>
              <a:rPr sz="8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完全吻</a:t>
            </a:r>
            <a:r>
              <a:rPr sz="8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合，印证复杂度结论。</a:t>
            </a:r>
            <a:endParaRPr sz="8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5904C5-0103-0948-6CCE-CEB80A4A1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77" y="631825"/>
            <a:ext cx="2364642" cy="13972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873B32-67D2-A50A-2485-9E9F1BBF6B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816" y="631825"/>
            <a:ext cx="2364642" cy="139728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5436717" y="2985450"/>
            <a:ext cx="236854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10</a:t>
            </a:fld>
            <a:r>
              <a:rPr spc="-2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/10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896" y="54251"/>
            <a:ext cx="403415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683" y="946296"/>
            <a:ext cx="4974590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marR="31115" indent="-161925">
              <a:lnSpc>
                <a:spcPct val="114599"/>
              </a:lnSpc>
              <a:spcBef>
                <a:spcPts val="100"/>
              </a:spcBef>
              <a:buClr>
                <a:srgbClr val="00529B"/>
              </a:buClr>
              <a:buFont typeface="Cambria"/>
              <a:buChar char="►"/>
              <a:tabLst>
                <a:tab pos="173990" algn="l"/>
              </a:tabLst>
            </a:pPr>
            <a:r>
              <a:rPr sz="1000" spc="-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Algorithm</a:t>
            </a: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Design</a:t>
            </a:r>
            <a:r>
              <a:rPr sz="1000" spc="-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spc="-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结合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Divide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&amp;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Conquer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与带状区域过滤，巧妙化解了空间几何计算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的指数</a:t>
            </a:r>
            <a:r>
              <a:rPr sz="1000" spc="-2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二次方爆炸问题。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529B"/>
              </a:buClr>
              <a:buFont typeface="Cambria"/>
              <a:buChar char="►"/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3990" marR="5080" indent="-161925">
              <a:lnSpc>
                <a:spcPct val="114599"/>
              </a:lnSpc>
              <a:buClr>
                <a:srgbClr val="00529B"/>
              </a:buClr>
              <a:buFont typeface="Cambria"/>
              <a:buChar char="►"/>
              <a:tabLst>
                <a:tab pos="173990" algn="l"/>
              </a:tabLst>
            </a:pP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Theoretical </a:t>
            </a:r>
            <a:r>
              <a:rPr sz="1000" spc="-6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Rigor</a:t>
            </a:r>
            <a:r>
              <a:rPr sz="1000" spc="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基于鸽巢原理的证明，为合并操作的 </a:t>
            </a:r>
            <a:r>
              <a:rPr sz="1000" i="1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(1)</a:t>
            </a:r>
            <a:r>
              <a:rPr sz="1000" spc="9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常数内部循环提供了坚实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的数学保障。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529B"/>
              </a:buClr>
              <a:buFont typeface="Cambria"/>
              <a:buChar char="►"/>
            </a:pP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3990" marR="46355" indent="-161925">
              <a:lnSpc>
                <a:spcPct val="114599"/>
              </a:lnSpc>
              <a:buClr>
                <a:srgbClr val="00529B"/>
              </a:buClr>
              <a:buFont typeface="Cambria"/>
              <a:buChar char="►"/>
              <a:tabLst>
                <a:tab pos="173990" algn="l"/>
              </a:tabLst>
            </a:pPr>
            <a:r>
              <a:rPr sz="1000" spc="-3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Empirical</a:t>
            </a:r>
            <a:r>
              <a:rPr sz="1000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Performance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sz="1000" spc="-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实验在 </a:t>
            </a:r>
            <a:r>
              <a:rPr sz="1000" i="1" spc="1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 </a:t>
            </a:r>
            <a:r>
              <a:rPr sz="1000" spc="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= 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50000</a:t>
            </a:r>
            <a:r>
              <a:rPr sz="1000" spc="4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65" dirty="0" err="1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时取得</a:t>
            </a:r>
            <a:r>
              <a:rPr sz="1000" spc="-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r>
              <a:rPr lang="en-US"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9</a:t>
            </a:r>
            <a:r>
              <a:rPr lang="en-US"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  <a:r>
              <a:rPr lang="en-US"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7</a:t>
            </a:r>
            <a:r>
              <a:rPr lang="en-US"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x</a:t>
            </a: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加速比。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Log-</a:t>
            </a:r>
            <a:r>
              <a:rPr sz="100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z="1000" spc="-3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图证实了代</a:t>
            </a:r>
            <a:r>
              <a:rPr sz="1000" spc="-4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码实现与理论 </a:t>
            </a:r>
            <a:r>
              <a:rPr sz="1000" i="1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</a:t>
            </a:r>
            <a:r>
              <a:rPr sz="1000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sz="1000" i="1" spc="6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i="1" spc="-5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log</a:t>
            </a:r>
            <a:r>
              <a:rPr sz="1000" spc="-85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sz="1000" i="1" spc="8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  <a:r>
              <a:rPr sz="1000" spc="7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 </a:t>
            </a:r>
            <a:r>
              <a:rPr sz="1000" spc="-20" dirty="0">
                <a:solidFill>
                  <a:srgbClr val="1E1E1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的完全对应。</a:t>
            </a:r>
            <a:endParaRPr sz="1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666</Words>
  <Application>Microsoft Office PowerPoint</Application>
  <PresentationFormat>自定义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Arial</vt:lpstr>
      <vt:lpstr>Cambria</vt:lpstr>
      <vt:lpstr>Cambria Math</vt:lpstr>
      <vt:lpstr>Lucida Sans Unicode</vt:lpstr>
      <vt:lpstr>Times New Roman</vt:lpstr>
      <vt:lpstr>Trebuchet MS</vt:lpstr>
      <vt:lpstr>Office Theme</vt:lpstr>
      <vt:lpstr>Closest Pair of Points: Divide and Conquer</vt:lpstr>
      <vt:lpstr>Motivation: The O(n2) Bottleneck</vt:lpstr>
      <vt:lpstr>Methodology: Divide and Conquer Framework</vt:lpstr>
      <vt:lpstr>The Merge Bottleneck &amp; Strip Filtering</vt:lpstr>
      <vt:lpstr>Theoretical Core: The O(1) Inner Loop Guarantee</vt:lpstr>
      <vt:lpstr>Algorithm Complexity</vt:lpstr>
      <vt:lpstr>Experiments &amp; Visual Interpretations</vt:lpstr>
      <vt:lpstr>PowerPoint 演示文稿</vt:lpstr>
      <vt:lpstr>Empirical Complexity Verification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Closest Pair of Points: Divide and Conquer - 模型、核心优化与 O(nn) 实证分析</dc:title>
  <dc:creator>汇报人</dc:creator>
  <cp:lastModifiedBy>ooo ooo</cp:lastModifiedBy>
  <cp:revision>39</cp:revision>
  <dcterms:created xsi:type="dcterms:W3CDTF">2026-05-07T11:36:46Z</dcterms:created>
  <dcterms:modified xsi:type="dcterms:W3CDTF">2026-05-08T03:00:36Z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2026-05-07T00:00:00Z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(20250410)</vt:lpwstr>
  </property>
  <property fmtid="{D5CDD505-2E9C-101B-9397-08002B2CF9AE}" pid="6" name="LastSaved">
    <vt:filetime>2026-05-07T00:00:00Z</vt:filetime>
  </property>
</Properties>
</file>