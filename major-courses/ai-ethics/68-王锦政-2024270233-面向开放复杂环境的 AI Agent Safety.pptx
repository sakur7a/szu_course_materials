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2"/>
  </p:notesMasterIdLst>
  <p:handoutMasterIdLst>
    <p:handoutMasterId r:id="rId13"/>
  </p:handoutMasterIdLst>
  <p:sldIdLst>
    <p:sldId id="256" r:id="rId2"/>
    <p:sldId id="257" r:id="rId3"/>
    <p:sldId id="258" r:id="rId4"/>
    <p:sldId id="259" r:id="rId5"/>
    <p:sldId id="260" r:id="rId6"/>
    <p:sldId id="261" r:id="rId7"/>
    <p:sldId id="262" r:id="rId8"/>
    <p:sldId id="263" r:id="rId9"/>
    <p:sldId id="264" r:id="rId10"/>
    <p:sldId id="265" r:id="rId11"/>
  </p:sldIdLst>
  <p:sldSz cx="5765800" cy="3244850"/>
  <p:notesSz cx="5765800" cy="3244850"/>
  <p:custDataLst>
    <p:tags r:id="rId14"/>
  </p:custDataLst>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227" d="100"/>
          <a:sy n="227" d="100"/>
        </p:scale>
        <p:origin x="450" y="180"/>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handoutMaster" Target="handoutMasters/handoutMaster1.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gs" Target="tags/tag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3D9F2713-8A42-386F-608F-0452AEE6CC3F}"/>
              </a:ext>
            </a:extLst>
          </p:cNvPr>
          <p:cNvSpPr>
            <a:spLocks noGrp="1"/>
          </p:cNvSpPr>
          <p:nvPr>
            <p:ph type="hdr" sz="quarter"/>
          </p:nvPr>
        </p:nvSpPr>
        <p:spPr>
          <a:xfrm>
            <a:off x="0" y="0"/>
            <a:ext cx="2498725" cy="161925"/>
          </a:xfrm>
          <a:prstGeom prst="rect">
            <a:avLst/>
          </a:prstGeom>
        </p:spPr>
        <p:txBody>
          <a:bodyPr vert="horz" lIns="91440" tIns="45720" rIns="91440" bIns="45720" rtlCol="0"/>
          <a:lstStyle>
            <a:lvl1pPr algn="l">
              <a:defRPr sz="1200"/>
            </a:lvl1pPr>
          </a:lstStyle>
          <a:p>
            <a:endParaRPr lang="zh-CN" altLang="en-US"/>
          </a:p>
        </p:txBody>
      </p:sp>
      <p:sp>
        <p:nvSpPr>
          <p:cNvPr id="3" name="日期占位符 2">
            <a:extLst>
              <a:ext uri="{FF2B5EF4-FFF2-40B4-BE49-F238E27FC236}">
                <a16:creationId xmlns:a16="http://schemas.microsoft.com/office/drawing/2014/main" id="{9D4152F2-0BFC-8B13-7CF1-5E27912A047C}"/>
              </a:ext>
            </a:extLst>
          </p:cNvPr>
          <p:cNvSpPr>
            <a:spLocks noGrp="1"/>
          </p:cNvSpPr>
          <p:nvPr>
            <p:ph type="dt" sz="quarter" idx="1"/>
          </p:nvPr>
        </p:nvSpPr>
        <p:spPr>
          <a:xfrm>
            <a:off x="3265488" y="0"/>
            <a:ext cx="2498725" cy="161925"/>
          </a:xfrm>
          <a:prstGeom prst="rect">
            <a:avLst/>
          </a:prstGeom>
        </p:spPr>
        <p:txBody>
          <a:bodyPr vert="horz" lIns="91440" tIns="45720" rIns="91440" bIns="45720" rtlCol="0"/>
          <a:lstStyle>
            <a:lvl1pPr algn="r">
              <a:defRPr sz="1200"/>
            </a:lvl1pPr>
          </a:lstStyle>
          <a:p>
            <a:fld id="{94A8A3A8-C16F-4AE0-B002-8AFD1A3882C6}" type="datetimeFigureOut">
              <a:rPr lang="zh-CN" altLang="en-US" smtClean="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2026/5/17</a:t>
            </a:fld>
            <a:endParaRPr lang="zh-CN" altLang="en-US">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endParaRPr>
          </a:p>
        </p:txBody>
      </p:sp>
      <p:sp>
        <p:nvSpPr>
          <p:cNvPr id="4" name="页脚占位符 3">
            <a:extLst>
              <a:ext uri="{FF2B5EF4-FFF2-40B4-BE49-F238E27FC236}">
                <a16:creationId xmlns:a16="http://schemas.microsoft.com/office/drawing/2014/main" id="{BEB50888-3EDB-BAD8-8C70-5F650EDE2CD9}"/>
              </a:ext>
            </a:extLst>
          </p:cNvPr>
          <p:cNvSpPr>
            <a:spLocks noGrp="1"/>
          </p:cNvSpPr>
          <p:nvPr>
            <p:ph type="ftr" sz="quarter" idx="2"/>
          </p:nvPr>
        </p:nvSpPr>
        <p:spPr>
          <a:xfrm>
            <a:off x="0" y="3082925"/>
            <a:ext cx="2498725" cy="161925"/>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a:extLst>
              <a:ext uri="{FF2B5EF4-FFF2-40B4-BE49-F238E27FC236}">
                <a16:creationId xmlns:a16="http://schemas.microsoft.com/office/drawing/2014/main" id="{E625B89C-F04A-2FAE-3DC7-21D9BD3FBC03}"/>
              </a:ext>
            </a:extLst>
          </p:cNvPr>
          <p:cNvSpPr>
            <a:spLocks noGrp="1"/>
          </p:cNvSpPr>
          <p:nvPr>
            <p:ph type="sldNum" sz="quarter" idx="3"/>
          </p:nvPr>
        </p:nvSpPr>
        <p:spPr>
          <a:xfrm>
            <a:off x="3265488" y="3082925"/>
            <a:ext cx="2498725" cy="161925"/>
          </a:xfrm>
          <a:prstGeom prst="rect">
            <a:avLst/>
          </a:prstGeom>
        </p:spPr>
        <p:txBody>
          <a:bodyPr vert="horz" lIns="91440" tIns="45720" rIns="91440" bIns="45720" rtlCol="0" anchor="b"/>
          <a:lstStyle>
            <a:lvl1pPr algn="r">
              <a:defRPr sz="1200"/>
            </a:lvl1pPr>
          </a:lstStyle>
          <a:p>
            <a:fld id="{465E331E-A777-4E5B-A46A-0B05ACA413CE}" type="slidenum">
              <a:rPr lang="zh-CN" altLang="en-US" smtClean="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a:t>
            </a:fld>
            <a:endParaRPr lang="zh-CN" altLang="en-US">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endParaRPr>
          </a:p>
        </p:txBody>
      </p:sp>
    </p:spTree>
    <p:extLst>
      <p:ext uri="{BB962C8B-B14F-4D97-AF65-F5344CB8AC3E}">
        <p14:creationId xmlns:p14="http://schemas.microsoft.com/office/powerpoint/2010/main" val="373740994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498725" cy="161925"/>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265488" y="0"/>
            <a:ext cx="2498725" cy="161925"/>
          </a:xfrm>
          <a:prstGeom prst="rect">
            <a:avLst/>
          </a:prstGeom>
        </p:spPr>
        <p:txBody>
          <a:bodyPr vert="horz" lIns="91440" tIns="45720" rIns="91440" bIns="45720" rtlCol="0"/>
          <a:lstStyle>
            <a:lvl1pPr algn="r">
              <a:defRPr sz="120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defRPr>
            </a:lvl1pPr>
          </a:lstStyle>
          <a:p>
            <a:fld id="{F9B9077C-1AAF-4D03-811B-E4266B59FC36}" type="datetimeFigureOut">
              <a:rPr lang="zh-CN" altLang="en-US" smtClean="0"/>
              <a:pPr/>
              <a:t>2026/5/17</a:t>
            </a:fld>
            <a:endParaRPr lang="zh-CN" altLang="en-US"/>
          </a:p>
        </p:txBody>
      </p:sp>
      <p:sp>
        <p:nvSpPr>
          <p:cNvPr id="4" name="幻灯片图像占位符 3"/>
          <p:cNvSpPr>
            <a:spLocks noGrp="1" noRot="1" noChangeAspect="1"/>
          </p:cNvSpPr>
          <p:nvPr>
            <p:ph type="sldImg" idx="2"/>
          </p:nvPr>
        </p:nvSpPr>
        <p:spPr>
          <a:xfrm>
            <a:off x="1911350" y="406400"/>
            <a:ext cx="1943100" cy="1093788"/>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576263" y="1562100"/>
            <a:ext cx="4613275" cy="1277938"/>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3082925"/>
            <a:ext cx="2498725" cy="161925"/>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265488" y="3082925"/>
            <a:ext cx="2498725" cy="161925"/>
          </a:xfrm>
          <a:prstGeom prst="rect">
            <a:avLst/>
          </a:prstGeom>
        </p:spPr>
        <p:txBody>
          <a:bodyPr vert="horz" lIns="91440" tIns="45720" rIns="91440" bIns="45720" rtlCol="0" anchor="b"/>
          <a:lstStyle>
            <a:lvl1pPr algn="r">
              <a:defRPr sz="120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defRPr>
            </a:lvl1pPr>
          </a:lstStyle>
          <a:p>
            <a:fld id="{859DD334-766D-4175-B182-309E0917098C}" type="slidenum">
              <a:rPr lang="zh-CN" altLang="en-US" smtClean="0"/>
              <a:pPr/>
              <a:t>‹#›</a:t>
            </a:fld>
            <a:endParaRPr lang="zh-CN" altLang="en-US"/>
          </a:p>
        </p:txBody>
      </p:sp>
    </p:spTree>
    <p:extLst>
      <p:ext uri="{BB962C8B-B14F-4D97-AF65-F5344CB8AC3E}">
        <p14:creationId xmlns:p14="http://schemas.microsoft.com/office/powerpoint/2010/main" val="34205971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defRPr>
    </a:lvl1pPr>
    <a:lvl2pPr marL="457200" algn="l" defTabSz="914400" rtl="0" eaLnBrk="1" latinLnBrk="0" hangingPunct="1">
      <a:defRPr sz="1200" kern="1200">
        <a:solidFill>
          <a:schemeClr val="tx1"/>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defRPr>
    </a:lvl2pPr>
    <a:lvl3pPr marL="914400" algn="l" defTabSz="914400" rtl="0" eaLnBrk="1" latinLnBrk="0" hangingPunct="1">
      <a:defRPr sz="1200" kern="1200">
        <a:solidFill>
          <a:schemeClr val="tx1"/>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defRPr>
    </a:lvl3pPr>
    <a:lvl4pPr marL="1371600" algn="l" defTabSz="914400" rtl="0" eaLnBrk="1" latinLnBrk="0" hangingPunct="1">
      <a:defRPr sz="1200" kern="1200">
        <a:solidFill>
          <a:schemeClr val="tx1"/>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defRPr>
    </a:lvl4pPr>
    <a:lvl5pPr marL="1828800" algn="l" defTabSz="914400" rtl="0" eaLnBrk="1" latinLnBrk="0" hangingPunct="1">
      <a:defRPr sz="1200" kern="1200">
        <a:solidFill>
          <a:schemeClr val="tx1"/>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859DD334-766D-4175-B182-309E0917098C}" type="slidenum">
              <a:rPr lang="zh-CN" altLang="en-US" smtClean="0"/>
              <a:t>1</a:t>
            </a:fld>
            <a:endParaRPr lang="zh-CN" altLang="en-US"/>
          </a:p>
        </p:txBody>
      </p:sp>
    </p:spTree>
    <p:extLst>
      <p:ext uri="{BB962C8B-B14F-4D97-AF65-F5344CB8AC3E}">
        <p14:creationId xmlns:p14="http://schemas.microsoft.com/office/powerpoint/2010/main" val="282981127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859DD334-766D-4175-B182-309E0917098C}" type="slidenum">
              <a:rPr lang="zh-CN" altLang="en-US" smtClean="0"/>
              <a:t>2</a:t>
            </a:fld>
            <a:endParaRPr lang="zh-CN" altLang="en-US"/>
          </a:p>
        </p:txBody>
      </p:sp>
    </p:spTree>
    <p:extLst>
      <p:ext uri="{BB962C8B-B14F-4D97-AF65-F5344CB8AC3E}">
        <p14:creationId xmlns:p14="http://schemas.microsoft.com/office/powerpoint/2010/main" val="394051107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859DD334-766D-4175-B182-309E0917098C}" type="slidenum">
              <a:rPr lang="zh-CN" altLang="en-US" smtClean="0"/>
              <a:t>3</a:t>
            </a:fld>
            <a:endParaRPr lang="zh-CN" altLang="en-US"/>
          </a:p>
        </p:txBody>
      </p:sp>
    </p:spTree>
    <p:extLst>
      <p:ext uri="{BB962C8B-B14F-4D97-AF65-F5344CB8AC3E}">
        <p14:creationId xmlns:p14="http://schemas.microsoft.com/office/powerpoint/2010/main" val="368162285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859DD334-766D-4175-B182-309E0917098C}" type="slidenum">
              <a:rPr lang="zh-CN" altLang="en-US" smtClean="0"/>
              <a:t>4</a:t>
            </a:fld>
            <a:endParaRPr lang="zh-CN" altLang="en-US"/>
          </a:p>
        </p:txBody>
      </p:sp>
    </p:spTree>
    <p:extLst>
      <p:ext uri="{BB962C8B-B14F-4D97-AF65-F5344CB8AC3E}">
        <p14:creationId xmlns:p14="http://schemas.microsoft.com/office/powerpoint/2010/main" val="20512349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859DD334-766D-4175-B182-309E0917098C}" type="slidenum">
              <a:rPr lang="zh-CN" altLang="en-US" smtClean="0"/>
              <a:t>5</a:t>
            </a:fld>
            <a:endParaRPr lang="zh-CN" altLang="en-US"/>
          </a:p>
        </p:txBody>
      </p:sp>
    </p:spTree>
    <p:extLst>
      <p:ext uri="{BB962C8B-B14F-4D97-AF65-F5344CB8AC3E}">
        <p14:creationId xmlns:p14="http://schemas.microsoft.com/office/powerpoint/2010/main" val="98993660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859DD334-766D-4175-B182-309E0917098C}" type="slidenum">
              <a:rPr lang="zh-CN" altLang="en-US" smtClean="0"/>
              <a:t>6</a:t>
            </a:fld>
            <a:endParaRPr lang="zh-CN" altLang="en-US"/>
          </a:p>
        </p:txBody>
      </p:sp>
    </p:spTree>
    <p:extLst>
      <p:ext uri="{BB962C8B-B14F-4D97-AF65-F5344CB8AC3E}">
        <p14:creationId xmlns:p14="http://schemas.microsoft.com/office/powerpoint/2010/main" val="8324662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859DD334-766D-4175-B182-309E0917098C}" type="slidenum">
              <a:rPr lang="zh-CN" altLang="en-US" smtClean="0"/>
              <a:t>7</a:t>
            </a:fld>
            <a:endParaRPr lang="zh-CN" altLang="en-US"/>
          </a:p>
        </p:txBody>
      </p:sp>
    </p:spTree>
    <p:extLst>
      <p:ext uri="{BB962C8B-B14F-4D97-AF65-F5344CB8AC3E}">
        <p14:creationId xmlns:p14="http://schemas.microsoft.com/office/powerpoint/2010/main" val="209880915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859DD334-766D-4175-B182-309E0917098C}" type="slidenum">
              <a:rPr lang="zh-CN" altLang="en-US" smtClean="0"/>
              <a:t>8</a:t>
            </a:fld>
            <a:endParaRPr lang="zh-CN" altLang="en-US"/>
          </a:p>
        </p:txBody>
      </p:sp>
    </p:spTree>
    <p:extLst>
      <p:ext uri="{BB962C8B-B14F-4D97-AF65-F5344CB8AC3E}">
        <p14:creationId xmlns:p14="http://schemas.microsoft.com/office/powerpoint/2010/main" val="219311846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859DD334-766D-4175-B182-309E0917098C}" type="slidenum">
              <a:rPr lang="zh-CN" altLang="en-US" smtClean="0"/>
              <a:t>9</a:t>
            </a:fld>
            <a:endParaRPr lang="zh-CN" altLang="en-US"/>
          </a:p>
        </p:txBody>
      </p:sp>
    </p:spTree>
    <p:extLst>
      <p:ext uri="{BB962C8B-B14F-4D97-AF65-F5344CB8AC3E}">
        <p14:creationId xmlns:p14="http://schemas.microsoft.com/office/powerpoint/2010/main" val="94083540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859DD334-766D-4175-B182-309E0917098C}" type="slidenum">
              <a:rPr lang="zh-CN" altLang="en-US" smtClean="0"/>
              <a:t>10</a:t>
            </a:fld>
            <a:endParaRPr lang="zh-CN" altLang="en-US"/>
          </a:p>
        </p:txBody>
      </p:sp>
    </p:spTree>
    <p:extLst>
      <p:ext uri="{BB962C8B-B14F-4D97-AF65-F5344CB8AC3E}">
        <p14:creationId xmlns:p14="http://schemas.microsoft.com/office/powerpoint/2010/main" val="10839772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347294" y="1110608"/>
            <a:ext cx="4429125" cy="340359"/>
          </a:xfrm>
          <a:prstGeom prst="rect">
            <a:avLst/>
          </a:prstGeom>
        </p:spPr>
        <p:txBody>
          <a:bodyPr wrap="square" lIns="0" tIns="0" rIns="0" bIns="0">
            <a:spAutoFit/>
          </a:bodyPr>
          <a:lstStyle>
            <a:lvl1pPr>
              <a:defRPr sz="1400" b="0" i="0">
                <a:solidFill>
                  <a:srgbClr val="17499E"/>
                </a:solidFill>
                <a:latin typeface="Arial Black"/>
                <a:cs typeface="Arial Black"/>
              </a:defRPr>
            </a:lvl1pPr>
          </a:lstStyle>
          <a:p>
            <a:endParaRPr/>
          </a:p>
        </p:txBody>
      </p:sp>
      <p:sp>
        <p:nvSpPr>
          <p:cNvPr id="3" name="Holder 3"/>
          <p:cNvSpPr>
            <a:spLocks noGrp="1"/>
          </p:cNvSpPr>
          <p:nvPr>
            <p:ph type="subTitle" idx="4"/>
          </p:nvPr>
        </p:nvSpPr>
        <p:spPr>
          <a:xfrm>
            <a:off x="864870" y="1817116"/>
            <a:ext cx="4036060" cy="811212"/>
          </a:xfrm>
          <a:prstGeom prst="rect">
            <a:avLst/>
          </a:prstGeom>
        </p:spPr>
        <p:txBody>
          <a:bodyPr wrap="square" lIns="0" tIns="0" rIns="0" bIns="0">
            <a:spAutoFit/>
          </a:bodyPr>
          <a:lstStyle>
            <a:lvl1pPr>
              <a:defRPr sz="1000" b="1" i="0">
                <a:solidFill>
                  <a:srgbClr val="1E1E1E"/>
                </a:solidFill>
                <a:latin typeface="Microsoft JhengHei UI"/>
                <a:cs typeface="Microsoft JhengHei UI"/>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defRPr>
            </a:lvl1pPr>
          </a:lstStyle>
          <a:p>
            <a:fld id="{1D8BD707-D9CF-40AE-B4C6-C98DA3205C09}" type="datetimeFigureOut">
              <a:rPr lang="en-US" smtClean="0"/>
              <a:pPr/>
              <a:t>5/17/2026</a:t>
            </a:fld>
            <a:endParaRPr lang="en-US"/>
          </a:p>
        </p:txBody>
      </p:sp>
      <p:sp>
        <p:nvSpPr>
          <p:cNvPr id="6" name="Holder 6"/>
          <p:cNvSpPr>
            <a:spLocks noGrp="1"/>
          </p:cNvSpPr>
          <p:nvPr>
            <p:ph type="sldNum" sz="quarter" idx="7"/>
          </p:nvPr>
        </p:nvSpPr>
        <p:spPr/>
        <p:txBody>
          <a:bodyPr lIns="0" tIns="0" rIns="0" bIns="0"/>
          <a:lstStyle>
            <a:lvl1pPr>
              <a:defRPr sz="500" b="0" i="0">
                <a:solidFill>
                  <a:srgbClr val="787878"/>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defRPr>
            </a:lvl1pPr>
          </a:lstStyle>
          <a:p>
            <a:pPr marL="12700">
              <a:spcBef>
                <a:spcPts val="175"/>
              </a:spcBef>
            </a:pPr>
            <a:fld id="{81D60167-4931-47E6-BA6A-407CBD079E47}" type="slidenum">
              <a:rPr lang="en-US" altLang="zh-CN" smtClean="0"/>
              <a:pPr marL="12700">
                <a:spcBef>
                  <a:spcPts val="175"/>
                </a:spcBef>
              </a:pPr>
              <a:t>‹#›</a:t>
            </a:fld>
            <a:r>
              <a:rPr lang="zh-CN" altLang="en-US" spc="25"/>
              <a:t> </a:t>
            </a:r>
            <a:r>
              <a:rPr lang="en-US" altLang="zh-CN"/>
              <a:t>/</a:t>
            </a:r>
            <a:r>
              <a:rPr lang="zh-CN" altLang="en-US" spc="25"/>
              <a:t> </a:t>
            </a:r>
            <a:r>
              <a:rPr lang="en-US" altLang="zh-CN" spc="-25"/>
              <a:t>10</a:t>
            </a:r>
            <a:endParaRPr lang="en-US" altLang="zh-CN" spc="-25"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400" b="0" i="0">
                <a:solidFill>
                  <a:srgbClr val="17499E"/>
                </a:solidFill>
                <a:latin typeface="Arial Black"/>
                <a:cs typeface="Arial Black"/>
              </a:defRPr>
            </a:lvl1pPr>
          </a:lstStyle>
          <a:p>
            <a:endParaRPr/>
          </a:p>
        </p:txBody>
      </p:sp>
      <p:sp>
        <p:nvSpPr>
          <p:cNvPr id="3" name="Holder 3"/>
          <p:cNvSpPr>
            <a:spLocks noGrp="1"/>
          </p:cNvSpPr>
          <p:nvPr>
            <p:ph type="body" idx="1"/>
          </p:nvPr>
        </p:nvSpPr>
        <p:spPr/>
        <p:txBody>
          <a:bodyPr lIns="0" tIns="0" rIns="0" bIns="0"/>
          <a:lstStyle>
            <a:lvl1pPr>
              <a:defRPr sz="1000" b="1" i="0">
                <a:solidFill>
                  <a:srgbClr val="1E1E1E"/>
                </a:solidFill>
                <a:latin typeface="Microsoft JhengHei UI"/>
                <a:cs typeface="Microsoft JhengHei UI"/>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defRPr>
            </a:lvl1pPr>
          </a:lstStyle>
          <a:p>
            <a:fld id="{1D8BD707-D9CF-40AE-B4C6-C98DA3205C09}" type="datetimeFigureOut">
              <a:rPr lang="en-US" smtClean="0"/>
              <a:pPr/>
              <a:t>5/17/2026</a:t>
            </a:fld>
            <a:endParaRPr lang="en-US"/>
          </a:p>
        </p:txBody>
      </p:sp>
      <p:sp>
        <p:nvSpPr>
          <p:cNvPr id="6" name="Holder 6"/>
          <p:cNvSpPr>
            <a:spLocks noGrp="1"/>
          </p:cNvSpPr>
          <p:nvPr>
            <p:ph type="sldNum" sz="quarter" idx="7"/>
          </p:nvPr>
        </p:nvSpPr>
        <p:spPr/>
        <p:txBody>
          <a:bodyPr lIns="0" tIns="0" rIns="0" bIns="0"/>
          <a:lstStyle>
            <a:lvl1pPr>
              <a:defRPr sz="500" b="0" i="0">
                <a:solidFill>
                  <a:srgbClr val="787878"/>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defRPr>
            </a:lvl1pPr>
          </a:lstStyle>
          <a:p>
            <a:pPr marL="12700">
              <a:spcBef>
                <a:spcPts val="175"/>
              </a:spcBef>
            </a:pPr>
            <a:fld id="{81D60167-4931-47E6-BA6A-407CBD079E47}" type="slidenum">
              <a:rPr lang="en-US" altLang="zh-CN" smtClean="0"/>
              <a:pPr marL="12700">
                <a:spcBef>
                  <a:spcPts val="175"/>
                </a:spcBef>
              </a:pPr>
              <a:t>‹#›</a:t>
            </a:fld>
            <a:r>
              <a:rPr lang="zh-CN" altLang="en-US" spc="25"/>
              <a:t> </a:t>
            </a:r>
            <a:r>
              <a:rPr lang="en-US" altLang="zh-CN"/>
              <a:t>/</a:t>
            </a:r>
            <a:r>
              <a:rPr lang="zh-CN" altLang="en-US" spc="25"/>
              <a:t> </a:t>
            </a:r>
            <a:r>
              <a:rPr lang="en-US" altLang="zh-CN" spc="-25"/>
              <a:t>10</a:t>
            </a:r>
            <a:endParaRPr lang="en-US" altLang="zh-CN" spc="-25"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400" b="0" i="0">
                <a:solidFill>
                  <a:srgbClr val="17499E"/>
                </a:solidFill>
                <a:latin typeface="Arial Black"/>
                <a:cs typeface="Arial Black"/>
              </a:defRPr>
            </a:lvl1pPr>
          </a:lstStyle>
          <a:p>
            <a:endParaRPr/>
          </a:p>
        </p:txBody>
      </p:sp>
      <p:sp>
        <p:nvSpPr>
          <p:cNvPr id="3" name="Holder 3"/>
          <p:cNvSpPr>
            <a:spLocks noGrp="1"/>
          </p:cNvSpPr>
          <p:nvPr>
            <p:ph sz="half" idx="2"/>
          </p:nvPr>
        </p:nvSpPr>
        <p:spPr>
          <a:xfrm>
            <a:off x="288290" y="746315"/>
            <a:ext cx="2508123" cy="2141601"/>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2969387" y="746315"/>
            <a:ext cx="2508123" cy="2141601"/>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defRPr>
            </a:lvl1pPr>
          </a:lstStyle>
          <a:p>
            <a:fld id="{1D8BD707-D9CF-40AE-B4C6-C98DA3205C09}" type="datetimeFigureOut">
              <a:rPr lang="en-US" smtClean="0"/>
              <a:pPr/>
              <a:t>5/17/2026</a:t>
            </a:fld>
            <a:endParaRPr lang="en-US"/>
          </a:p>
        </p:txBody>
      </p:sp>
      <p:sp>
        <p:nvSpPr>
          <p:cNvPr id="7" name="Holder 7"/>
          <p:cNvSpPr>
            <a:spLocks noGrp="1"/>
          </p:cNvSpPr>
          <p:nvPr>
            <p:ph type="sldNum" sz="quarter" idx="7"/>
          </p:nvPr>
        </p:nvSpPr>
        <p:spPr/>
        <p:txBody>
          <a:bodyPr lIns="0" tIns="0" rIns="0" bIns="0"/>
          <a:lstStyle>
            <a:lvl1pPr>
              <a:defRPr sz="500" b="0" i="0">
                <a:solidFill>
                  <a:srgbClr val="787878"/>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defRPr>
            </a:lvl1pPr>
          </a:lstStyle>
          <a:p>
            <a:pPr marL="12700">
              <a:spcBef>
                <a:spcPts val="175"/>
              </a:spcBef>
            </a:pPr>
            <a:fld id="{81D60167-4931-47E6-BA6A-407CBD079E47}" type="slidenum">
              <a:rPr lang="en-US" altLang="zh-CN" smtClean="0"/>
              <a:pPr marL="12700">
                <a:spcBef>
                  <a:spcPts val="175"/>
                </a:spcBef>
              </a:pPr>
              <a:t>‹#›</a:t>
            </a:fld>
            <a:r>
              <a:rPr lang="zh-CN" altLang="en-US" spc="25"/>
              <a:t> </a:t>
            </a:r>
            <a:r>
              <a:rPr lang="en-US" altLang="zh-CN"/>
              <a:t>/</a:t>
            </a:r>
            <a:r>
              <a:rPr lang="zh-CN" altLang="en-US" spc="25"/>
              <a:t> </a:t>
            </a:r>
            <a:r>
              <a:rPr lang="en-US" altLang="zh-CN" spc="-25"/>
              <a:t>10</a:t>
            </a:r>
            <a:endParaRPr lang="en-US" altLang="zh-CN" spc="-25"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400" b="0" i="0">
                <a:solidFill>
                  <a:srgbClr val="17499E"/>
                </a:solidFill>
                <a:latin typeface="Arial Black"/>
                <a:cs typeface="Arial Black"/>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defRPr>
            </a:lvl1pPr>
          </a:lstStyle>
          <a:p>
            <a:fld id="{1D8BD707-D9CF-40AE-B4C6-C98DA3205C09}" type="datetimeFigureOut">
              <a:rPr lang="en-US" smtClean="0"/>
              <a:pPr/>
              <a:t>5/17/2026</a:t>
            </a:fld>
            <a:endParaRPr lang="en-US"/>
          </a:p>
        </p:txBody>
      </p:sp>
      <p:sp>
        <p:nvSpPr>
          <p:cNvPr id="5" name="Holder 5"/>
          <p:cNvSpPr>
            <a:spLocks noGrp="1"/>
          </p:cNvSpPr>
          <p:nvPr>
            <p:ph type="sldNum" sz="quarter" idx="7"/>
          </p:nvPr>
        </p:nvSpPr>
        <p:spPr/>
        <p:txBody>
          <a:bodyPr lIns="0" tIns="0" rIns="0" bIns="0"/>
          <a:lstStyle>
            <a:lvl1pPr>
              <a:defRPr sz="500" b="0" i="0">
                <a:solidFill>
                  <a:srgbClr val="787878"/>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defRPr>
            </a:lvl1pPr>
          </a:lstStyle>
          <a:p>
            <a:pPr marL="12700">
              <a:spcBef>
                <a:spcPts val="175"/>
              </a:spcBef>
            </a:pPr>
            <a:fld id="{81D60167-4931-47E6-BA6A-407CBD079E47}" type="slidenum">
              <a:rPr lang="en-US" altLang="zh-CN" smtClean="0"/>
              <a:pPr marL="12700">
                <a:spcBef>
                  <a:spcPts val="175"/>
                </a:spcBef>
              </a:pPr>
              <a:t>‹#›</a:t>
            </a:fld>
            <a:r>
              <a:rPr lang="zh-CN" altLang="en-US" spc="25"/>
              <a:t> </a:t>
            </a:r>
            <a:r>
              <a:rPr lang="en-US" altLang="zh-CN"/>
              <a:t>/</a:t>
            </a:r>
            <a:r>
              <a:rPr lang="zh-CN" altLang="en-US" spc="25"/>
              <a:t> </a:t>
            </a:r>
            <a:r>
              <a:rPr lang="en-US" altLang="zh-CN" spc="-25"/>
              <a:t>10</a:t>
            </a:r>
            <a:endParaRPr lang="en-US" altLang="zh-CN" spc="-25"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defRPr>
            </a:lvl1pPr>
          </a:lstStyle>
          <a:p>
            <a:fld id="{1D8BD707-D9CF-40AE-B4C6-C98DA3205C09}" type="datetimeFigureOut">
              <a:rPr lang="en-US" smtClean="0"/>
              <a:pPr/>
              <a:t>5/17/2026</a:t>
            </a:fld>
            <a:endParaRPr lang="en-US"/>
          </a:p>
        </p:txBody>
      </p:sp>
      <p:sp>
        <p:nvSpPr>
          <p:cNvPr id="4" name="Holder 4"/>
          <p:cNvSpPr>
            <a:spLocks noGrp="1"/>
          </p:cNvSpPr>
          <p:nvPr>
            <p:ph type="sldNum" sz="quarter" idx="7"/>
          </p:nvPr>
        </p:nvSpPr>
        <p:spPr/>
        <p:txBody>
          <a:bodyPr lIns="0" tIns="0" rIns="0" bIns="0"/>
          <a:lstStyle>
            <a:lvl1pPr>
              <a:defRPr sz="500" b="0" i="0">
                <a:solidFill>
                  <a:srgbClr val="787878"/>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defRPr>
            </a:lvl1pPr>
          </a:lstStyle>
          <a:p>
            <a:pPr marL="12700">
              <a:spcBef>
                <a:spcPts val="175"/>
              </a:spcBef>
            </a:pPr>
            <a:fld id="{81D60167-4931-47E6-BA6A-407CBD079E47}" type="slidenum">
              <a:rPr lang="en-US" altLang="zh-CN" smtClean="0"/>
              <a:pPr marL="12700">
                <a:spcBef>
                  <a:spcPts val="175"/>
                </a:spcBef>
              </a:pPr>
              <a:t>‹#›</a:t>
            </a:fld>
            <a:r>
              <a:rPr lang="zh-CN" altLang="en-US" spc="25"/>
              <a:t> </a:t>
            </a:r>
            <a:r>
              <a:rPr lang="en-US" altLang="zh-CN"/>
              <a:t>/</a:t>
            </a:r>
            <a:r>
              <a:rPr lang="zh-CN" altLang="en-US" spc="25"/>
              <a:t> </a:t>
            </a:r>
            <a:r>
              <a:rPr lang="en-US" altLang="zh-CN" spc="-25"/>
              <a:t>10</a:t>
            </a:r>
            <a:endParaRPr lang="en-US" altLang="zh-CN" spc="-25"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347294" y="248879"/>
            <a:ext cx="4479290" cy="244475"/>
          </a:xfrm>
          <a:prstGeom prst="rect">
            <a:avLst/>
          </a:prstGeom>
        </p:spPr>
        <p:txBody>
          <a:bodyPr wrap="square" lIns="0" tIns="0" rIns="0" bIns="0">
            <a:spAutoFit/>
          </a:bodyPr>
          <a:lstStyle>
            <a:lvl1pPr>
              <a:defRPr sz="1400" b="0" i="0">
                <a:solidFill>
                  <a:srgbClr val="17499E"/>
                </a:solidFill>
                <a:latin typeface="Arial Black"/>
                <a:cs typeface="Arial Black"/>
              </a:defRPr>
            </a:lvl1pPr>
          </a:lstStyle>
          <a:p>
            <a:endParaRPr/>
          </a:p>
        </p:txBody>
      </p:sp>
      <p:sp>
        <p:nvSpPr>
          <p:cNvPr id="3" name="Holder 3"/>
          <p:cNvSpPr>
            <a:spLocks noGrp="1"/>
          </p:cNvSpPr>
          <p:nvPr>
            <p:ph type="body" idx="1"/>
          </p:nvPr>
        </p:nvSpPr>
        <p:spPr>
          <a:xfrm>
            <a:off x="347294" y="826482"/>
            <a:ext cx="5066030" cy="2053589"/>
          </a:xfrm>
          <a:prstGeom prst="rect">
            <a:avLst/>
          </a:prstGeom>
        </p:spPr>
        <p:txBody>
          <a:bodyPr wrap="square" lIns="0" tIns="0" rIns="0" bIns="0">
            <a:spAutoFit/>
          </a:bodyPr>
          <a:lstStyle>
            <a:lvl1pPr>
              <a:defRPr sz="1000" b="1" i="0">
                <a:solidFill>
                  <a:srgbClr val="1E1E1E"/>
                </a:solidFill>
                <a:latin typeface="Microsoft JhengHei UI"/>
                <a:cs typeface="Microsoft JhengHei UI"/>
              </a:defRPr>
            </a:lvl1pPr>
          </a:lstStyle>
          <a:p>
            <a:endParaRPr/>
          </a:p>
        </p:txBody>
      </p:sp>
      <p:sp>
        <p:nvSpPr>
          <p:cNvPr id="4" name="Holder 4"/>
          <p:cNvSpPr>
            <a:spLocks noGrp="1"/>
          </p:cNvSpPr>
          <p:nvPr>
            <p:ph type="ftr" sz="quarter" idx="5"/>
          </p:nvPr>
        </p:nvSpPr>
        <p:spPr>
          <a:xfrm>
            <a:off x="1960372" y="3017710"/>
            <a:ext cx="1845056" cy="162242"/>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288290" y="3017710"/>
            <a:ext cx="1326134" cy="276999"/>
          </a:xfrm>
          <a:prstGeom prst="rect">
            <a:avLst/>
          </a:prstGeom>
        </p:spPr>
        <p:txBody>
          <a:bodyPr wrap="square" lIns="0" tIns="0" rIns="0" bIns="0">
            <a:spAutoFit/>
          </a:bodyPr>
          <a:lstStyle>
            <a:lvl1pPr algn="l">
              <a:defRPr>
                <a:solidFill>
                  <a:schemeClr val="tx1">
                    <a:tint val="75000"/>
                  </a:schemeClr>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defRPr>
            </a:lvl1pPr>
          </a:lstStyle>
          <a:p>
            <a:fld id="{1D8BD707-D9CF-40AE-B4C6-C98DA3205C09}" type="datetimeFigureOut">
              <a:rPr lang="en-US" smtClean="0"/>
              <a:pPr/>
              <a:t>5/17/2026</a:t>
            </a:fld>
            <a:endParaRPr lang="en-US"/>
          </a:p>
        </p:txBody>
      </p:sp>
      <p:sp>
        <p:nvSpPr>
          <p:cNvPr id="6" name="Holder 6"/>
          <p:cNvSpPr>
            <a:spLocks noGrp="1"/>
          </p:cNvSpPr>
          <p:nvPr>
            <p:ph type="sldNum" sz="quarter" idx="7"/>
          </p:nvPr>
        </p:nvSpPr>
        <p:spPr>
          <a:xfrm>
            <a:off x="5478373" y="3112193"/>
            <a:ext cx="238125" cy="76944"/>
          </a:xfrm>
          <a:prstGeom prst="rect">
            <a:avLst/>
          </a:prstGeom>
        </p:spPr>
        <p:txBody>
          <a:bodyPr wrap="square" lIns="0" tIns="0" rIns="0" bIns="0">
            <a:spAutoFit/>
          </a:bodyPr>
          <a:lstStyle>
            <a:lvl1pPr>
              <a:defRPr sz="500" b="0" i="0">
                <a:solidFill>
                  <a:srgbClr val="787878"/>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defRPr>
            </a:lvl1pPr>
          </a:lstStyle>
          <a:p>
            <a:pPr marL="12700">
              <a:spcBef>
                <a:spcPts val="175"/>
              </a:spcBef>
            </a:pPr>
            <a:fld id="{81D60167-4931-47E6-BA6A-407CBD079E47}" type="slidenum">
              <a:rPr lang="en-US" altLang="zh-CN" smtClean="0"/>
              <a:pPr marL="12700">
                <a:spcBef>
                  <a:spcPts val="175"/>
                </a:spcBef>
              </a:pPr>
              <a:t>‹#›</a:t>
            </a:fld>
            <a:r>
              <a:rPr lang="zh-CN" altLang="en-US" spc="25"/>
              <a:t> </a:t>
            </a:r>
            <a:r>
              <a:rPr lang="en-US" altLang="zh-CN"/>
              <a:t>/</a:t>
            </a:r>
            <a:r>
              <a:rPr lang="zh-CN" altLang="en-US" spc="25"/>
              <a:t> </a:t>
            </a:r>
            <a:r>
              <a:rPr lang="en-US" altLang="zh-CN" spc="-25"/>
              <a:t>10</a:t>
            </a:r>
            <a:endParaRPr lang="en-US" altLang="zh-CN" spc="-25"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ctrTitle"/>
          </p:nvPr>
        </p:nvSpPr>
        <p:spPr>
          <a:prstGeom prst="rect">
            <a:avLst/>
          </a:prstGeom>
        </p:spPr>
        <p:txBody>
          <a:bodyPr vert="horz" wrap="square" lIns="0" tIns="14604" rIns="0" bIns="0" rtlCol="0">
            <a:spAutoFit/>
          </a:bodyPr>
          <a:lstStyle/>
          <a:p>
            <a:pPr marL="12700">
              <a:lnSpc>
                <a:spcPct val="100000"/>
              </a:lnSpc>
              <a:spcBef>
                <a:spcPts val="114"/>
              </a:spcBef>
            </a:pPr>
            <a:r>
              <a:rPr sz="2050" b="1" spc="10" dirty="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面向开放复杂环境的</a:t>
            </a:r>
            <a:r>
              <a:rPr sz="2050" b="1" dirty="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 </a:t>
            </a:r>
            <a:r>
              <a:rPr sz="2050" dirty="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AI Agent Safety</a:t>
            </a:r>
          </a:p>
        </p:txBody>
      </p:sp>
      <p:sp>
        <p:nvSpPr>
          <p:cNvPr id="4" name="object 4"/>
          <p:cNvSpPr txBox="1"/>
          <p:nvPr/>
        </p:nvSpPr>
        <p:spPr>
          <a:xfrm>
            <a:off x="327922" y="1537945"/>
            <a:ext cx="3669665" cy="196849"/>
          </a:xfrm>
          <a:prstGeom prst="rect">
            <a:avLst/>
          </a:prstGeom>
        </p:spPr>
        <p:txBody>
          <a:bodyPr vert="horz" wrap="square" lIns="0" tIns="12065" rIns="0" bIns="0" rtlCol="0">
            <a:spAutoFit/>
          </a:bodyPr>
          <a:lstStyle/>
          <a:p>
            <a:pPr marL="12700">
              <a:lnSpc>
                <a:spcPct val="100000"/>
              </a:lnSpc>
              <a:spcBef>
                <a:spcPts val="95"/>
              </a:spcBef>
            </a:pPr>
            <a:r>
              <a:rPr sz="1200" spc="-25" dirty="0">
                <a:solidFill>
                  <a:srgbClr val="787878"/>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从</a:t>
            </a:r>
            <a:r>
              <a:rPr lang="zh-CN" altLang="en-US" sz="1200" spc="-25" dirty="0">
                <a:solidFill>
                  <a:srgbClr val="787878"/>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伦理</a:t>
            </a:r>
            <a:r>
              <a:rPr sz="1200" spc="-25" dirty="0" err="1">
                <a:solidFill>
                  <a:srgbClr val="787878"/>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责任、安全知识与泛化看护出发的技术方案研究</a:t>
            </a:r>
            <a:endParaRPr sz="1200" dirty="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endParaRPr>
          </a:p>
        </p:txBody>
      </p:sp>
      <p:sp>
        <p:nvSpPr>
          <p:cNvPr id="5" name="object 5"/>
          <p:cNvSpPr txBox="1"/>
          <p:nvPr/>
        </p:nvSpPr>
        <p:spPr>
          <a:xfrm>
            <a:off x="347294" y="2215470"/>
            <a:ext cx="991869" cy="600805"/>
          </a:xfrm>
          <a:prstGeom prst="rect">
            <a:avLst/>
          </a:prstGeom>
        </p:spPr>
        <p:txBody>
          <a:bodyPr vert="horz" wrap="square" lIns="0" tIns="92075" rIns="0" bIns="0" rtlCol="0">
            <a:spAutoFit/>
          </a:bodyPr>
          <a:lstStyle/>
          <a:p>
            <a:pPr marL="12700">
              <a:lnSpc>
                <a:spcPct val="100000"/>
              </a:lnSpc>
              <a:spcBef>
                <a:spcPts val="725"/>
              </a:spcBef>
            </a:pPr>
            <a:r>
              <a:rPr sz="1000" spc="-20" dirty="0">
                <a:solidFill>
                  <a:srgbClr val="1E1E1E"/>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研究成果汇报</a:t>
            </a:r>
            <a:endParaRPr sz="100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endParaRPr>
          </a:p>
          <a:p>
            <a:pPr marL="12700">
              <a:lnSpc>
                <a:spcPct val="100000"/>
              </a:lnSpc>
              <a:spcBef>
                <a:spcPts val="560"/>
              </a:spcBef>
            </a:pPr>
            <a:r>
              <a:rPr sz="900" spc="-45" dirty="0">
                <a:solidFill>
                  <a:srgbClr val="787878"/>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王锦政</a:t>
            </a:r>
            <a:r>
              <a:rPr sz="900" dirty="0">
                <a:solidFill>
                  <a:srgbClr val="787878"/>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 2024270223</a:t>
            </a:r>
            <a:endParaRPr sz="90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endParaRPr>
          </a:p>
        </p:txBody>
      </p:sp>
    </p:spTree>
  </p:cSld>
  <p:clrMapOvr>
    <a:masterClrMapping/>
  </p:clrMapOvr>
  <p:transition>
    <p:cut/>
  </p:transition>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347294" y="248879"/>
            <a:ext cx="3406775" cy="232756"/>
          </a:xfrm>
          <a:prstGeom prst="rect">
            <a:avLst/>
          </a:prstGeom>
        </p:spPr>
        <p:txBody>
          <a:bodyPr vert="horz" wrap="square" lIns="0" tIns="17145" rIns="0" bIns="0" rtlCol="0">
            <a:spAutoFit/>
          </a:bodyPr>
          <a:lstStyle/>
          <a:p>
            <a:pPr marL="12700">
              <a:lnSpc>
                <a:spcPct val="100000"/>
              </a:lnSpc>
              <a:spcBef>
                <a:spcPts val="135"/>
              </a:spcBef>
            </a:pPr>
            <a:r>
              <a:rPr b="1" dirty="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核心命题：</a:t>
            </a:r>
            <a:r>
              <a:rPr dirty="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AI Agent </a:t>
            </a:r>
            <a:r>
              <a:rPr b="1" spc="-10" dirty="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伦理风险的范式转换</a:t>
            </a:r>
          </a:p>
        </p:txBody>
      </p:sp>
      <p:sp>
        <p:nvSpPr>
          <p:cNvPr id="3" name="object 3"/>
          <p:cNvSpPr/>
          <p:nvPr/>
        </p:nvSpPr>
        <p:spPr>
          <a:xfrm>
            <a:off x="365061" y="626541"/>
            <a:ext cx="5040630" cy="0"/>
          </a:xfrm>
          <a:custGeom>
            <a:avLst/>
            <a:gdLst/>
            <a:ahLst/>
            <a:cxnLst/>
            <a:rect l="l" t="t" r="r" b="b"/>
            <a:pathLst>
              <a:path w="5040630">
                <a:moveTo>
                  <a:pt x="0" y="0"/>
                </a:moveTo>
                <a:lnTo>
                  <a:pt x="5040064" y="0"/>
                </a:lnTo>
              </a:path>
            </a:pathLst>
          </a:custGeom>
          <a:ln w="10122">
            <a:solidFill>
              <a:srgbClr val="BBBBBB"/>
            </a:solidFill>
          </a:ln>
        </p:spPr>
        <p:txBody>
          <a:bodyPr wrap="square" lIns="0" tIns="0" rIns="0" bIns="0" rtlCol="0"/>
          <a:lstStyle/>
          <a:p>
            <a:endParaRPr/>
          </a:p>
        </p:txBody>
      </p:sp>
      <p:pic>
        <p:nvPicPr>
          <p:cNvPr id="4" name="object 4"/>
          <p:cNvPicPr/>
          <p:nvPr/>
        </p:nvPicPr>
        <p:blipFill>
          <a:blip r:embed="rId3" cstate="print"/>
          <a:stretch>
            <a:fillRect/>
          </a:stretch>
        </p:blipFill>
        <p:spPr>
          <a:xfrm>
            <a:off x="5150189" y="1425282"/>
            <a:ext cx="120650" cy="117475"/>
          </a:xfrm>
          <a:prstGeom prst="rect">
            <a:avLst/>
          </a:prstGeom>
        </p:spPr>
      </p:pic>
      <p:sp>
        <p:nvSpPr>
          <p:cNvPr id="6" name="object 6"/>
          <p:cNvSpPr txBox="1">
            <a:spLocks noGrp="1"/>
          </p:cNvSpPr>
          <p:nvPr>
            <p:ph type="body" idx="1"/>
          </p:nvPr>
        </p:nvSpPr>
        <p:spPr>
          <a:xfrm>
            <a:off x="366056" y="680962"/>
            <a:ext cx="5066030" cy="1882925"/>
          </a:xfrm>
          <a:prstGeom prst="rect">
            <a:avLst/>
          </a:prstGeom>
        </p:spPr>
        <p:txBody>
          <a:bodyPr vert="horz" wrap="square" lIns="0" tIns="310235" rIns="0" bIns="0" rtlCol="0">
            <a:spAutoFit/>
          </a:bodyPr>
          <a:lstStyle/>
          <a:p>
            <a:pPr marL="12700">
              <a:lnSpc>
                <a:spcPct val="100000"/>
              </a:lnSpc>
              <a:spcBef>
                <a:spcPts val="95"/>
              </a:spcBef>
            </a:pPr>
            <a:r>
              <a:rPr b="0" spc="-65" dirty="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传统</a:t>
            </a:r>
            <a:r>
              <a:rPr b="0" dirty="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 AI </a:t>
            </a:r>
            <a:r>
              <a:rPr b="0" spc="-10" dirty="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安全侧重于大模型</a:t>
            </a:r>
            <a:r>
              <a:rPr spc="65" dirty="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“输出内容安全”</a:t>
            </a:r>
            <a:r>
              <a:rPr b="0" spc="55" dirty="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a:t>
            </a:r>
            <a:r>
              <a:rPr b="0" spc="-10" dirty="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如：不生成有害文本</a:t>
            </a:r>
            <a:r>
              <a:rPr b="0" spc="-509" dirty="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a:t>
            </a:r>
            <a:r>
              <a:rPr b="0" spc="-50" dirty="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a:t>
            </a:r>
          </a:p>
          <a:p>
            <a:pPr marL="12700" marR="5080">
              <a:lnSpc>
                <a:spcPct val="100000"/>
              </a:lnSpc>
              <a:spcBef>
                <a:spcPts val="844"/>
              </a:spcBef>
            </a:pPr>
            <a:r>
              <a:rPr b="0" spc="-15" dirty="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在开放真实环境中，</a:t>
            </a:r>
            <a:r>
              <a:rPr b="0" dirty="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AI Agent </a:t>
            </a:r>
            <a:r>
              <a:rPr b="0" spc="-20" dirty="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会持续与用户、界面、工具及物理世界进行交互，其核心</a:t>
            </a:r>
            <a:r>
              <a:rPr b="0" dirty="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 </a:t>
            </a:r>
            <a:r>
              <a:rPr b="0" spc="-20" dirty="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理</a:t>
            </a:r>
            <a:r>
              <a:rPr b="0" spc="-15" dirty="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风险发生了根本性转移：</a:t>
            </a:r>
          </a:p>
          <a:p>
            <a:pPr>
              <a:lnSpc>
                <a:spcPct val="100000"/>
              </a:lnSpc>
              <a:spcBef>
                <a:spcPts val="235"/>
              </a:spcBef>
            </a:pPr>
            <a:endParaRPr b="0" spc="-15" dirty="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endParaRPr>
          </a:p>
          <a:p>
            <a:pPr marL="155575">
              <a:lnSpc>
                <a:spcPct val="100000"/>
              </a:lnSpc>
            </a:pPr>
            <a:r>
              <a:rPr sz="1400" b="0" dirty="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a:t>
            </a:r>
            <a:r>
              <a:rPr sz="1400" b="0" i="1" dirty="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AI Agent </a:t>
            </a:r>
            <a:r>
              <a:rPr sz="1400" b="0" spc="5" dirty="0" err="1">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的风险不只来自</a:t>
            </a:r>
            <a:r>
              <a:rPr sz="1400" b="0" dirty="0" err="1">
                <a:solidFill>
                  <a:srgbClr val="787878"/>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说错话</a:t>
            </a:r>
            <a:r>
              <a:rPr sz="1400" b="0" spc="-50" dirty="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a:t>
            </a:r>
            <a:endParaRPr sz="1400" dirty="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endParaRPr>
          </a:p>
          <a:p>
            <a:pPr marL="265430">
              <a:lnSpc>
                <a:spcPct val="100000"/>
              </a:lnSpc>
              <a:spcBef>
                <a:spcPts val="110"/>
              </a:spcBef>
            </a:pPr>
            <a:r>
              <a:rPr sz="1400" b="0" dirty="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更来自在错误理解、错误检索或错误授权下</a:t>
            </a:r>
            <a:r>
              <a:rPr sz="1400" dirty="0">
                <a:solidFill>
                  <a:srgbClr val="B12121"/>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做错事</a:t>
            </a:r>
            <a:r>
              <a:rPr sz="1400" b="0" spc="-375" dirty="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a:t>
            </a:r>
            <a:endParaRPr sz="1400" dirty="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endParaRPr>
          </a:p>
          <a:p>
            <a:pPr>
              <a:lnSpc>
                <a:spcPct val="100000"/>
              </a:lnSpc>
              <a:spcBef>
                <a:spcPts val="100"/>
              </a:spcBef>
            </a:pPr>
            <a:endParaRPr sz="1400" dirty="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endParaRPr>
          </a:p>
          <a:p>
            <a:pPr marL="12700">
              <a:lnSpc>
                <a:spcPct val="100000"/>
              </a:lnSpc>
              <a:spcBef>
                <a:spcPts val="5"/>
              </a:spcBef>
            </a:pPr>
            <a:r>
              <a:rPr spc="-10" dirty="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后果升级</a:t>
            </a:r>
            <a:r>
              <a:rPr b="0" spc="-10" dirty="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：从信息污染升级为</a:t>
            </a:r>
            <a:r>
              <a:rPr b="0" spc="-10" dirty="0">
                <a:solidFill>
                  <a:srgbClr val="B12121"/>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财产损失</a:t>
            </a:r>
            <a:r>
              <a:rPr b="0" spc="-10" dirty="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a:t>
            </a:r>
            <a:r>
              <a:rPr b="0" spc="-10" dirty="0">
                <a:solidFill>
                  <a:srgbClr val="B12121"/>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人身伤害</a:t>
            </a:r>
            <a:r>
              <a:rPr b="0" spc="-15" dirty="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或</a:t>
            </a:r>
            <a:r>
              <a:rPr b="0" spc="-10" dirty="0">
                <a:solidFill>
                  <a:srgbClr val="B12121"/>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责任归属混乱</a:t>
            </a:r>
            <a:r>
              <a:rPr b="0" spc="-50" dirty="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a:t>
            </a:r>
          </a:p>
        </p:txBody>
      </p:sp>
      <p:sp>
        <p:nvSpPr>
          <p:cNvPr id="7" name="object 7"/>
          <p:cNvSpPr txBox="1"/>
          <p:nvPr/>
        </p:nvSpPr>
        <p:spPr>
          <a:xfrm>
            <a:off x="5511965" y="3112193"/>
            <a:ext cx="205104" cy="99386"/>
          </a:xfrm>
          <a:prstGeom prst="rect">
            <a:avLst/>
          </a:prstGeom>
        </p:spPr>
        <p:txBody>
          <a:bodyPr vert="horz" wrap="square" lIns="0" tIns="22225" rIns="0" bIns="0" rtlCol="0">
            <a:spAutoFit/>
          </a:bodyPr>
          <a:lstStyle/>
          <a:p>
            <a:pPr marL="12700">
              <a:lnSpc>
                <a:spcPct val="100000"/>
              </a:lnSpc>
              <a:spcBef>
                <a:spcPts val="175"/>
              </a:spcBef>
            </a:pPr>
            <a:r>
              <a:rPr sz="500" dirty="0">
                <a:solidFill>
                  <a:srgbClr val="787878"/>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2 / 10</a:t>
            </a:r>
            <a:endParaRPr sz="50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endParaRPr>
          </a:p>
        </p:txBody>
      </p:sp>
    </p:spTree>
  </p:cSld>
  <p:clrMapOvr>
    <a:masterClrMapping/>
  </p:clrMapOvr>
  <p:transition>
    <p:cut/>
  </p:transition>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347294" y="248879"/>
            <a:ext cx="2212340" cy="232756"/>
          </a:xfrm>
          <a:prstGeom prst="rect">
            <a:avLst/>
          </a:prstGeom>
        </p:spPr>
        <p:txBody>
          <a:bodyPr vert="horz" wrap="square" lIns="0" tIns="17145" rIns="0" bIns="0" rtlCol="0">
            <a:spAutoFit/>
          </a:bodyPr>
          <a:lstStyle/>
          <a:p>
            <a:pPr marL="12700">
              <a:lnSpc>
                <a:spcPct val="100000"/>
              </a:lnSpc>
              <a:spcBef>
                <a:spcPts val="135"/>
              </a:spcBef>
            </a:pPr>
            <a:r>
              <a:rPr sz="1400" b="1" spc="-5" dirty="0">
                <a:solidFill>
                  <a:srgbClr val="17499E"/>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典型场景下的多维伦理风险</a:t>
            </a:r>
            <a:endParaRPr sz="1400" dirty="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endParaRPr>
          </a:p>
        </p:txBody>
      </p:sp>
      <p:sp>
        <p:nvSpPr>
          <p:cNvPr id="3" name="object 3"/>
          <p:cNvSpPr/>
          <p:nvPr/>
        </p:nvSpPr>
        <p:spPr>
          <a:xfrm>
            <a:off x="365061" y="626541"/>
            <a:ext cx="5040630" cy="0"/>
          </a:xfrm>
          <a:custGeom>
            <a:avLst/>
            <a:gdLst/>
            <a:ahLst/>
            <a:cxnLst/>
            <a:rect l="l" t="t" r="r" b="b"/>
            <a:pathLst>
              <a:path w="5040630">
                <a:moveTo>
                  <a:pt x="0" y="0"/>
                </a:moveTo>
                <a:lnTo>
                  <a:pt x="5040064" y="0"/>
                </a:lnTo>
              </a:path>
            </a:pathLst>
          </a:custGeom>
          <a:ln w="10122">
            <a:solidFill>
              <a:srgbClr val="BBBBBB"/>
            </a:solidFill>
          </a:ln>
        </p:spPr>
        <p:txBody>
          <a:bodyPr wrap="square" lIns="0" tIns="0" rIns="0" bIns="0" rtlCol="0"/>
          <a:lstStyle/>
          <a:p>
            <a:endParaRPr/>
          </a:p>
        </p:txBody>
      </p:sp>
      <p:graphicFrame>
        <p:nvGraphicFramePr>
          <p:cNvPr id="4" name="object 4"/>
          <p:cNvGraphicFramePr>
            <a:graphicFrameLocks noGrp="1"/>
          </p:cNvGraphicFramePr>
          <p:nvPr>
            <p:extLst>
              <p:ext uri="{D42A27DB-BD31-4B8C-83A1-F6EECF244321}">
                <p14:modId xmlns:p14="http://schemas.microsoft.com/office/powerpoint/2010/main" val="3686627232"/>
              </p:ext>
            </p:extLst>
          </p:nvPr>
        </p:nvGraphicFramePr>
        <p:xfrm>
          <a:off x="693889" y="775385"/>
          <a:ext cx="4373245" cy="2313940"/>
        </p:xfrm>
        <a:graphic>
          <a:graphicData uri="http://schemas.openxmlformats.org/drawingml/2006/table">
            <a:tbl>
              <a:tblPr firstRow="1" bandRow="1">
                <a:tableStyleId>{2D5ABB26-0587-4C30-8999-92F81FD0307C}</a:tableStyleId>
              </a:tblPr>
              <a:tblGrid>
                <a:gridCol w="724535">
                  <a:extLst>
                    <a:ext uri="{9D8B030D-6E8A-4147-A177-3AD203B41FA5}">
                      <a16:colId xmlns:a16="http://schemas.microsoft.com/office/drawing/2014/main" val="20000"/>
                    </a:ext>
                  </a:extLst>
                </a:gridCol>
                <a:gridCol w="1772285">
                  <a:extLst>
                    <a:ext uri="{9D8B030D-6E8A-4147-A177-3AD203B41FA5}">
                      <a16:colId xmlns:a16="http://schemas.microsoft.com/office/drawing/2014/main" val="20001"/>
                    </a:ext>
                  </a:extLst>
                </a:gridCol>
                <a:gridCol w="1876425">
                  <a:extLst>
                    <a:ext uri="{9D8B030D-6E8A-4147-A177-3AD203B41FA5}">
                      <a16:colId xmlns:a16="http://schemas.microsoft.com/office/drawing/2014/main" val="20002"/>
                    </a:ext>
                  </a:extLst>
                </a:gridCol>
              </a:tblGrid>
              <a:tr h="294640">
                <a:tc>
                  <a:txBody>
                    <a:bodyPr/>
                    <a:lstStyle/>
                    <a:p>
                      <a:pPr>
                        <a:lnSpc>
                          <a:spcPct val="100000"/>
                        </a:lnSpc>
                        <a:spcBef>
                          <a:spcPts val="580"/>
                        </a:spcBef>
                      </a:pPr>
                      <a:r>
                        <a:rPr sz="1000" b="1" spc="0" dirty="0">
                          <a:solidFill>
                            <a:srgbClr val="1E1E1E"/>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Agent </a:t>
                      </a:r>
                      <a:r>
                        <a:rPr sz="1000" b="1" spc="-30" dirty="0">
                          <a:solidFill>
                            <a:srgbClr val="1E1E1E"/>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类型</a:t>
                      </a:r>
                      <a:endParaRPr sz="1000" dirty="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endParaRPr>
                    </a:p>
                  </a:txBody>
                  <a:tcPr marL="0" marR="0" marT="73660" marB="0">
                    <a:lnT w="12700">
                      <a:solidFill>
                        <a:srgbClr val="1E1E1E"/>
                      </a:solidFill>
                      <a:prstDash val="solid"/>
                    </a:lnT>
                    <a:lnB w="6350">
                      <a:solidFill>
                        <a:srgbClr val="1E1E1E"/>
                      </a:solidFill>
                      <a:prstDash val="solid"/>
                    </a:lnB>
                  </a:tcPr>
                </a:tc>
                <a:tc>
                  <a:txBody>
                    <a:bodyPr/>
                    <a:lstStyle/>
                    <a:p>
                      <a:pPr marL="75565">
                        <a:lnSpc>
                          <a:spcPct val="100000"/>
                        </a:lnSpc>
                        <a:spcBef>
                          <a:spcPts val="580"/>
                        </a:spcBef>
                      </a:pPr>
                      <a:r>
                        <a:rPr sz="1000" b="1" spc="-20" dirty="0">
                          <a:solidFill>
                            <a:srgbClr val="1E1E1E"/>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典型失效案例</a:t>
                      </a:r>
                      <a:endParaRPr sz="100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endParaRPr>
                    </a:p>
                  </a:txBody>
                  <a:tcPr marL="0" marR="0" marT="73660" marB="0">
                    <a:lnT w="12700">
                      <a:solidFill>
                        <a:srgbClr val="1E1E1E"/>
                      </a:solidFill>
                      <a:prstDash val="solid"/>
                    </a:lnT>
                    <a:lnB w="6350">
                      <a:solidFill>
                        <a:srgbClr val="1E1E1E"/>
                      </a:solidFill>
                      <a:prstDash val="solid"/>
                    </a:lnB>
                  </a:tcPr>
                </a:tc>
                <a:tc>
                  <a:txBody>
                    <a:bodyPr/>
                    <a:lstStyle/>
                    <a:p>
                      <a:pPr marL="75565">
                        <a:lnSpc>
                          <a:spcPct val="100000"/>
                        </a:lnSpc>
                        <a:spcBef>
                          <a:spcPts val="580"/>
                        </a:spcBef>
                      </a:pPr>
                      <a:r>
                        <a:rPr sz="1000" b="1" spc="-20" dirty="0">
                          <a:solidFill>
                            <a:srgbClr val="1E1E1E"/>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核心伦理问题</a:t>
                      </a:r>
                      <a:endParaRPr sz="100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endParaRPr>
                    </a:p>
                  </a:txBody>
                  <a:tcPr marL="0" marR="0" marT="73660" marB="0">
                    <a:lnT w="12700">
                      <a:solidFill>
                        <a:srgbClr val="1E1E1E"/>
                      </a:solidFill>
                      <a:prstDash val="solid"/>
                    </a:lnT>
                    <a:lnB w="6350">
                      <a:solidFill>
                        <a:srgbClr val="1E1E1E"/>
                      </a:solidFill>
                      <a:prstDash val="solid"/>
                    </a:lnB>
                  </a:tcPr>
                </a:tc>
                <a:extLst>
                  <a:ext uri="{0D108BD9-81ED-4DB2-BD59-A6C34878D82A}">
                    <a16:rowId xmlns:a16="http://schemas.microsoft.com/office/drawing/2014/main" val="10000"/>
                  </a:ext>
                </a:extLst>
              </a:tr>
              <a:tr h="408940">
                <a:tc>
                  <a:txBody>
                    <a:bodyPr/>
                    <a:lstStyle/>
                    <a:p>
                      <a:pPr>
                        <a:lnSpc>
                          <a:spcPct val="100000"/>
                        </a:lnSpc>
                        <a:spcBef>
                          <a:spcPts val="565"/>
                        </a:spcBef>
                      </a:pPr>
                      <a:r>
                        <a:rPr sz="1000" b="1" spc="0" dirty="0">
                          <a:solidFill>
                            <a:srgbClr val="1E1E1E"/>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UI Agent</a:t>
                      </a:r>
                      <a:endParaRPr sz="1000" b="1" spc="0" dirty="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endParaRPr>
                    </a:p>
                  </a:txBody>
                  <a:tcPr marL="0" marR="0" marT="71755" marB="0">
                    <a:lnT w="6350">
                      <a:solidFill>
                        <a:srgbClr val="1E1E1E"/>
                      </a:solidFill>
                      <a:prstDash val="solid"/>
                    </a:lnT>
                  </a:tcPr>
                </a:tc>
                <a:tc>
                  <a:txBody>
                    <a:bodyPr/>
                    <a:lstStyle/>
                    <a:p>
                      <a:pPr marL="75565" marR="67945">
                        <a:lnSpc>
                          <a:spcPct val="100000"/>
                        </a:lnSpc>
                        <a:spcBef>
                          <a:spcPts val="565"/>
                        </a:spcBef>
                      </a:pPr>
                      <a:r>
                        <a:rPr sz="1000" spc="-90" dirty="0" err="1">
                          <a:solidFill>
                            <a:srgbClr val="1E1E1E"/>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用户要求</a:t>
                      </a:r>
                      <a:r>
                        <a:rPr lang="zh-CN" altLang="en-US" sz="1000" spc="-90" dirty="0">
                          <a:solidFill>
                            <a:srgbClr val="1E1E1E"/>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a:t>
                      </a:r>
                      <a:r>
                        <a:rPr sz="1000" spc="-90" dirty="0" err="1">
                          <a:solidFill>
                            <a:srgbClr val="1E1E1E"/>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查询余额</a:t>
                      </a:r>
                      <a:r>
                        <a:rPr lang="zh-CN" altLang="en-US" sz="1000" spc="-90" dirty="0">
                          <a:solidFill>
                            <a:srgbClr val="1E1E1E"/>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a:t>
                      </a:r>
                      <a:r>
                        <a:rPr sz="1000" spc="-90" dirty="0">
                          <a:solidFill>
                            <a:srgbClr val="1E1E1E"/>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a:t>
                      </a:r>
                      <a:r>
                        <a:rPr sz="1000" spc="0" dirty="0">
                          <a:solidFill>
                            <a:srgbClr val="1E1E1E"/>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Agent</a:t>
                      </a:r>
                      <a:r>
                        <a:rPr sz="1000" spc="-15" dirty="0">
                          <a:solidFill>
                            <a:srgbClr val="1E1E1E"/>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却越权直接执行转账</a:t>
                      </a:r>
                      <a:endParaRPr sz="1000" dirty="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endParaRPr>
                    </a:p>
                  </a:txBody>
                  <a:tcPr marL="0" marR="0" marT="71755" marB="0">
                    <a:lnT w="6350">
                      <a:solidFill>
                        <a:srgbClr val="1E1E1E"/>
                      </a:solidFill>
                      <a:prstDash val="solid"/>
                    </a:lnT>
                  </a:tcPr>
                </a:tc>
                <a:tc>
                  <a:txBody>
                    <a:bodyPr/>
                    <a:lstStyle/>
                    <a:p>
                      <a:pPr marL="75565">
                        <a:lnSpc>
                          <a:spcPct val="100000"/>
                        </a:lnSpc>
                        <a:spcBef>
                          <a:spcPts val="565"/>
                        </a:spcBef>
                      </a:pPr>
                      <a:r>
                        <a:rPr sz="1000" b="1" dirty="0">
                          <a:solidFill>
                            <a:srgbClr val="B12121"/>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自主权受损</a:t>
                      </a:r>
                      <a:r>
                        <a:rPr sz="1000" b="1" spc="0" dirty="0">
                          <a:solidFill>
                            <a:srgbClr val="B12121"/>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 </a:t>
                      </a:r>
                      <a:r>
                        <a:rPr sz="1000" spc="0" dirty="0">
                          <a:solidFill>
                            <a:srgbClr val="1E1E1E"/>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a:t>
                      </a:r>
                      <a:r>
                        <a:rPr sz="1000" spc="-10" dirty="0">
                          <a:solidFill>
                            <a:srgbClr val="1E1E1E"/>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越权操作</a:t>
                      </a:r>
                      <a:r>
                        <a:rPr sz="1000" spc="0" dirty="0">
                          <a:solidFill>
                            <a:srgbClr val="1E1E1E"/>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a:t>
                      </a:r>
                      <a:endParaRPr sz="1000" spc="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endParaRPr>
                    </a:p>
                  </a:txBody>
                  <a:tcPr marL="0" marR="0" marT="71755" marB="0">
                    <a:lnT w="6350">
                      <a:solidFill>
                        <a:srgbClr val="1E1E1E"/>
                      </a:solidFill>
                      <a:prstDash val="solid"/>
                    </a:lnT>
                  </a:tcPr>
                </a:tc>
                <a:extLst>
                  <a:ext uri="{0D108BD9-81ED-4DB2-BD59-A6C34878D82A}">
                    <a16:rowId xmlns:a16="http://schemas.microsoft.com/office/drawing/2014/main" val="10001"/>
                  </a:ext>
                </a:extLst>
              </a:tr>
              <a:tr h="263525">
                <a:tc>
                  <a:txBody>
                    <a:bodyPr/>
                    <a:lstStyle/>
                    <a:p>
                      <a:pPr>
                        <a:lnSpc>
                          <a:spcPct val="100000"/>
                        </a:lnSpc>
                      </a:pPr>
                      <a:endParaRPr sz="1000" dirty="0">
                        <a:latin typeface="Times New Roman"/>
                        <a:cs typeface="Times New Roman"/>
                      </a:endParaRPr>
                    </a:p>
                  </a:txBody>
                  <a:tcPr marL="0" marR="0" marT="0" marB="0">
                    <a:lnB w="6350">
                      <a:solidFill>
                        <a:srgbClr val="1E1E1E"/>
                      </a:solidFill>
                      <a:prstDash val="solid"/>
                    </a:lnB>
                  </a:tcPr>
                </a:tc>
                <a:tc>
                  <a:txBody>
                    <a:bodyPr/>
                    <a:lstStyle/>
                    <a:p>
                      <a:pPr>
                        <a:lnSpc>
                          <a:spcPct val="100000"/>
                        </a:lnSpc>
                      </a:pPr>
                      <a:endParaRPr sz="1000">
                        <a:latin typeface="Times New Roman"/>
                        <a:cs typeface="Times New Roman"/>
                      </a:endParaRPr>
                    </a:p>
                  </a:txBody>
                  <a:tcPr marL="0" marR="0" marT="0" marB="0">
                    <a:lnB w="6350">
                      <a:solidFill>
                        <a:srgbClr val="1E1E1E"/>
                      </a:solidFill>
                      <a:prstDash val="solid"/>
                    </a:lnB>
                  </a:tcPr>
                </a:tc>
                <a:tc>
                  <a:txBody>
                    <a:bodyPr/>
                    <a:lstStyle/>
                    <a:p>
                      <a:pPr marL="75565">
                        <a:lnSpc>
                          <a:spcPct val="100000"/>
                        </a:lnSpc>
                        <a:spcBef>
                          <a:spcPts val="335"/>
                        </a:spcBef>
                      </a:pPr>
                      <a:r>
                        <a:rPr sz="1000" b="1" spc="5" dirty="0">
                          <a:solidFill>
                            <a:srgbClr val="B12121"/>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财产安全</a:t>
                      </a:r>
                      <a:r>
                        <a:rPr sz="1000" b="1" spc="0" dirty="0">
                          <a:solidFill>
                            <a:srgbClr val="B12121"/>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 </a:t>
                      </a:r>
                      <a:r>
                        <a:rPr sz="1000" spc="0" dirty="0">
                          <a:solidFill>
                            <a:srgbClr val="1E1E1E"/>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a:t>
                      </a:r>
                      <a:r>
                        <a:rPr sz="1000" spc="-10" dirty="0">
                          <a:solidFill>
                            <a:srgbClr val="1E1E1E"/>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直接经济损失</a:t>
                      </a:r>
                      <a:r>
                        <a:rPr sz="1000" spc="0" dirty="0">
                          <a:solidFill>
                            <a:srgbClr val="1E1E1E"/>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a:t>
                      </a:r>
                      <a:endParaRPr sz="1000" spc="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endParaRPr>
                    </a:p>
                  </a:txBody>
                  <a:tcPr marL="0" marR="0" marT="42545" marB="0">
                    <a:lnB w="6350">
                      <a:solidFill>
                        <a:srgbClr val="1E1E1E"/>
                      </a:solidFill>
                      <a:prstDash val="solid"/>
                    </a:lnB>
                  </a:tcPr>
                </a:tc>
                <a:extLst>
                  <a:ext uri="{0D108BD9-81ED-4DB2-BD59-A6C34878D82A}">
                    <a16:rowId xmlns:a16="http://schemas.microsoft.com/office/drawing/2014/main" val="10002"/>
                  </a:ext>
                </a:extLst>
              </a:tr>
              <a:tr h="408940">
                <a:tc>
                  <a:txBody>
                    <a:bodyPr/>
                    <a:lstStyle/>
                    <a:p>
                      <a:pPr>
                        <a:lnSpc>
                          <a:spcPct val="100000"/>
                        </a:lnSpc>
                        <a:spcBef>
                          <a:spcPts val="565"/>
                        </a:spcBef>
                      </a:pPr>
                      <a:r>
                        <a:rPr sz="1000" b="1" spc="-20" dirty="0">
                          <a:solidFill>
                            <a:srgbClr val="1E1E1E"/>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自动驾驶</a:t>
                      </a:r>
                      <a:endParaRPr sz="100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endParaRPr>
                    </a:p>
                  </a:txBody>
                  <a:tcPr marL="0" marR="0" marT="71755" marB="0">
                    <a:lnT w="6350">
                      <a:solidFill>
                        <a:srgbClr val="1E1E1E"/>
                      </a:solidFill>
                      <a:prstDash val="solid"/>
                    </a:lnT>
                  </a:tcPr>
                </a:tc>
                <a:tc>
                  <a:txBody>
                    <a:bodyPr/>
                    <a:lstStyle/>
                    <a:p>
                      <a:pPr marL="75565" marR="67945">
                        <a:lnSpc>
                          <a:spcPct val="100000"/>
                        </a:lnSpc>
                        <a:spcBef>
                          <a:spcPts val="565"/>
                        </a:spcBef>
                      </a:pPr>
                      <a:r>
                        <a:rPr sz="1000" spc="0" dirty="0">
                          <a:solidFill>
                            <a:srgbClr val="1E1E1E"/>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CyberTruck FSD </a:t>
                      </a:r>
                      <a:r>
                        <a:rPr sz="1000" spc="-10" dirty="0">
                          <a:solidFill>
                            <a:srgbClr val="1E1E1E"/>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模式下未能</a:t>
                      </a:r>
                      <a:r>
                        <a:rPr sz="1000" spc="-15" dirty="0">
                          <a:solidFill>
                            <a:srgbClr val="1E1E1E"/>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识别电线杆导致撞击</a:t>
                      </a:r>
                      <a:endParaRPr sz="100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endParaRPr>
                    </a:p>
                  </a:txBody>
                  <a:tcPr marL="0" marR="0" marT="71755" marB="0">
                    <a:lnT w="6350">
                      <a:solidFill>
                        <a:srgbClr val="1E1E1E"/>
                      </a:solidFill>
                      <a:prstDash val="solid"/>
                    </a:lnT>
                  </a:tcPr>
                </a:tc>
                <a:tc>
                  <a:txBody>
                    <a:bodyPr/>
                    <a:lstStyle/>
                    <a:p>
                      <a:pPr marL="75565">
                        <a:lnSpc>
                          <a:spcPct val="100000"/>
                        </a:lnSpc>
                        <a:spcBef>
                          <a:spcPts val="565"/>
                        </a:spcBef>
                      </a:pPr>
                      <a:r>
                        <a:rPr sz="1000" b="1" dirty="0">
                          <a:solidFill>
                            <a:srgbClr val="B12121"/>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物理人身安全</a:t>
                      </a:r>
                      <a:r>
                        <a:rPr sz="1000" b="1" spc="0" dirty="0">
                          <a:solidFill>
                            <a:srgbClr val="B12121"/>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 </a:t>
                      </a:r>
                      <a:r>
                        <a:rPr sz="1000" spc="0" dirty="0">
                          <a:solidFill>
                            <a:srgbClr val="1E1E1E"/>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a:t>
                      </a:r>
                      <a:r>
                        <a:rPr sz="1000" spc="-10" dirty="0">
                          <a:solidFill>
                            <a:srgbClr val="1E1E1E"/>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现实世界干预</a:t>
                      </a:r>
                      <a:r>
                        <a:rPr sz="1000" spc="0" dirty="0">
                          <a:solidFill>
                            <a:srgbClr val="1E1E1E"/>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a:t>
                      </a:r>
                      <a:endParaRPr sz="1000" spc="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endParaRPr>
                    </a:p>
                  </a:txBody>
                  <a:tcPr marL="0" marR="0" marT="71755" marB="0">
                    <a:lnT w="6350">
                      <a:solidFill>
                        <a:srgbClr val="1E1E1E"/>
                      </a:solidFill>
                      <a:prstDash val="solid"/>
                    </a:lnT>
                  </a:tcPr>
                </a:tc>
                <a:extLst>
                  <a:ext uri="{0D108BD9-81ED-4DB2-BD59-A6C34878D82A}">
                    <a16:rowId xmlns:a16="http://schemas.microsoft.com/office/drawing/2014/main" val="10003"/>
                  </a:ext>
                </a:extLst>
              </a:tr>
              <a:tr h="263525">
                <a:tc>
                  <a:txBody>
                    <a:bodyPr/>
                    <a:lstStyle/>
                    <a:p>
                      <a:pPr>
                        <a:lnSpc>
                          <a:spcPct val="100000"/>
                        </a:lnSpc>
                      </a:pPr>
                      <a:endParaRPr sz="1000">
                        <a:latin typeface="Times New Roman"/>
                        <a:cs typeface="Times New Roman"/>
                      </a:endParaRPr>
                    </a:p>
                  </a:txBody>
                  <a:tcPr marL="0" marR="0" marT="0" marB="0">
                    <a:lnB w="6350">
                      <a:solidFill>
                        <a:srgbClr val="1E1E1E"/>
                      </a:solidFill>
                      <a:prstDash val="solid"/>
                    </a:lnB>
                  </a:tcPr>
                </a:tc>
                <a:tc>
                  <a:txBody>
                    <a:bodyPr/>
                    <a:lstStyle/>
                    <a:p>
                      <a:pPr>
                        <a:lnSpc>
                          <a:spcPct val="100000"/>
                        </a:lnSpc>
                      </a:pPr>
                      <a:endParaRPr sz="1000">
                        <a:latin typeface="Times New Roman"/>
                        <a:cs typeface="Times New Roman"/>
                      </a:endParaRPr>
                    </a:p>
                  </a:txBody>
                  <a:tcPr marL="0" marR="0" marT="0" marB="0">
                    <a:lnB w="6350">
                      <a:solidFill>
                        <a:srgbClr val="1E1E1E"/>
                      </a:solidFill>
                      <a:prstDash val="solid"/>
                    </a:lnB>
                  </a:tcPr>
                </a:tc>
                <a:tc>
                  <a:txBody>
                    <a:bodyPr/>
                    <a:lstStyle/>
                    <a:p>
                      <a:pPr marL="75565">
                        <a:lnSpc>
                          <a:spcPct val="100000"/>
                        </a:lnSpc>
                        <a:spcBef>
                          <a:spcPts val="335"/>
                        </a:spcBef>
                      </a:pPr>
                      <a:r>
                        <a:rPr sz="1000" b="1" spc="-5" dirty="0">
                          <a:solidFill>
                            <a:srgbClr val="B12121"/>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紧急接管与透明度</a:t>
                      </a:r>
                      <a:r>
                        <a:rPr sz="1000" b="1" spc="0" dirty="0">
                          <a:solidFill>
                            <a:srgbClr val="B12121"/>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 </a:t>
                      </a:r>
                      <a:r>
                        <a:rPr sz="1000" spc="0" dirty="0">
                          <a:solidFill>
                            <a:srgbClr val="1E1E1E"/>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a:t>
                      </a:r>
                      <a:r>
                        <a:rPr sz="1000" spc="-10" dirty="0">
                          <a:solidFill>
                            <a:srgbClr val="1E1E1E"/>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黑盒决策</a:t>
                      </a:r>
                      <a:r>
                        <a:rPr sz="1000" spc="0" dirty="0">
                          <a:solidFill>
                            <a:srgbClr val="1E1E1E"/>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a:t>
                      </a:r>
                      <a:endParaRPr sz="1000" spc="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endParaRPr>
                    </a:p>
                  </a:txBody>
                  <a:tcPr marL="0" marR="0" marT="42545" marB="0">
                    <a:lnB w="6350">
                      <a:solidFill>
                        <a:srgbClr val="1E1E1E"/>
                      </a:solidFill>
                      <a:prstDash val="solid"/>
                    </a:lnB>
                  </a:tcPr>
                </a:tc>
                <a:extLst>
                  <a:ext uri="{0D108BD9-81ED-4DB2-BD59-A6C34878D82A}">
                    <a16:rowId xmlns:a16="http://schemas.microsoft.com/office/drawing/2014/main" val="10004"/>
                  </a:ext>
                </a:extLst>
              </a:tr>
              <a:tr h="408940">
                <a:tc>
                  <a:txBody>
                    <a:bodyPr/>
                    <a:lstStyle/>
                    <a:p>
                      <a:pPr>
                        <a:lnSpc>
                          <a:spcPct val="100000"/>
                        </a:lnSpc>
                        <a:spcBef>
                          <a:spcPts val="565"/>
                        </a:spcBef>
                      </a:pPr>
                      <a:r>
                        <a:rPr sz="1000" b="1" spc="-20" dirty="0">
                          <a:solidFill>
                            <a:srgbClr val="1E1E1E"/>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企业办公</a:t>
                      </a:r>
                      <a:endParaRPr sz="100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endParaRPr>
                    </a:p>
                  </a:txBody>
                  <a:tcPr marL="0" marR="0" marT="71755" marB="0">
                    <a:lnT w="6350">
                      <a:solidFill>
                        <a:srgbClr val="1E1E1E"/>
                      </a:solidFill>
                      <a:prstDash val="solid"/>
                    </a:lnT>
                  </a:tcPr>
                </a:tc>
                <a:tc>
                  <a:txBody>
                    <a:bodyPr/>
                    <a:lstStyle/>
                    <a:p>
                      <a:pPr marL="75565" marR="67945">
                        <a:lnSpc>
                          <a:spcPct val="100000"/>
                        </a:lnSpc>
                        <a:spcBef>
                          <a:spcPts val="565"/>
                        </a:spcBef>
                      </a:pPr>
                      <a:r>
                        <a:rPr sz="1000" spc="50" dirty="0">
                          <a:solidFill>
                            <a:srgbClr val="1E1E1E"/>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自动生成报表时越权读取并</a:t>
                      </a:r>
                      <a:r>
                        <a:rPr sz="1000" spc="-15" dirty="0">
                          <a:solidFill>
                            <a:srgbClr val="1E1E1E"/>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输出了全员敏感数据</a:t>
                      </a:r>
                      <a:endParaRPr sz="100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endParaRPr>
                    </a:p>
                  </a:txBody>
                  <a:tcPr marL="0" marR="0" marT="71755" marB="0">
                    <a:lnT w="6350">
                      <a:solidFill>
                        <a:srgbClr val="1E1E1E"/>
                      </a:solidFill>
                      <a:prstDash val="solid"/>
                    </a:lnT>
                  </a:tcPr>
                </a:tc>
                <a:tc>
                  <a:txBody>
                    <a:bodyPr/>
                    <a:lstStyle/>
                    <a:p>
                      <a:pPr marL="75565">
                        <a:lnSpc>
                          <a:spcPct val="100000"/>
                        </a:lnSpc>
                        <a:spcBef>
                          <a:spcPts val="565"/>
                        </a:spcBef>
                      </a:pPr>
                      <a:r>
                        <a:rPr sz="1000" b="1" spc="5" dirty="0">
                          <a:solidFill>
                            <a:srgbClr val="B12121"/>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隐私泄露</a:t>
                      </a:r>
                      <a:r>
                        <a:rPr sz="1000" b="1" spc="0" dirty="0">
                          <a:solidFill>
                            <a:srgbClr val="B12121"/>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 </a:t>
                      </a:r>
                      <a:r>
                        <a:rPr sz="1000" spc="0" dirty="0">
                          <a:solidFill>
                            <a:srgbClr val="1E1E1E"/>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a:t>
                      </a:r>
                      <a:r>
                        <a:rPr sz="1000" spc="-10" dirty="0">
                          <a:solidFill>
                            <a:srgbClr val="1E1E1E"/>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数据合规</a:t>
                      </a:r>
                      <a:r>
                        <a:rPr sz="1000" spc="0" dirty="0">
                          <a:solidFill>
                            <a:srgbClr val="1E1E1E"/>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a:t>
                      </a:r>
                      <a:endParaRPr sz="1000" spc="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endParaRPr>
                    </a:p>
                  </a:txBody>
                  <a:tcPr marL="0" marR="0" marT="71755" marB="0">
                    <a:lnT w="6350">
                      <a:solidFill>
                        <a:srgbClr val="1E1E1E"/>
                      </a:solidFill>
                      <a:prstDash val="solid"/>
                    </a:lnT>
                  </a:tcPr>
                </a:tc>
                <a:extLst>
                  <a:ext uri="{0D108BD9-81ED-4DB2-BD59-A6C34878D82A}">
                    <a16:rowId xmlns:a16="http://schemas.microsoft.com/office/drawing/2014/main" val="10005"/>
                  </a:ext>
                </a:extLst>
              </a:tr>
              <a:tr h="265430">
                <a:tc>
                  <a:txBody>
                    <a:bodyPr/>
                    <a:lstStyle/>
                    <a:p>
                      <a:pPr>
                        <a:lnSpc>
                          <a:spcPct val="100000"/>
                        </a:lnSpc>
                      </a:pPr>
                      <a:endParaRPr sz="1000">
                        <a:latin typeface="Times New Roman"/>
                        <a:cs typeface="Times New Roman"/>
                      </a:endParaRPr>
                    </a:p>
                  </a:txBody>
                  <a:tcPr marL="0" marR="0" marT="0" marB="0">
                    <a:lnB w="12700">
                      <a:solidFill>
                        <a:srgbClr val="1E1E1E"/>
                      </a:solidFill>
                      <a:prstDash val="solid"/>
                    </a:lnB>
                  </a:tcPr>
                </a:tc>
                <a:tc>
                  <a:txBody>
                    <a:bodyPr/>
                    <a:lstStyle/>
                    <a:p>
                      <a:pPr>
                        <a:lnSpc>
                          <a:spcPct val="100000"/>
                        </a:lnSpc>
                      </a:pPr>
                      <a:endParaRPr sz="1000">
                        <a:latin typeface="Times New Roman"/>
                        <a:cs typeface="Times New Roman"/>
                      </a:endParaRPr>
                    </a:p>
                  </a:txBody>
                  <a:tcPr marL="0" marR="0" marT="0" marB="0">
                    <a:lnB w="12700">
                      <a:solidFill>
                        <a:srgbClr val="1E1E1E"/>
                      </a:solidFill>
                      <a:prstDash val="solid"/>
                    </a:lnB>
                  </a:tcPr>
                </a:tc>
                <a:tc>
                  <a:txBody>
                    <a:bodyPr/>
                    <a:lstStyle/>
                    <a:p>
                      <a:pPr marL="75565">
                        <a:lnSpc>
                          <a:spcPct val="100000"/>
                        </a:lnSpc>
                        <a:spcBef>
                          <a:spcPts val="335"/>
                        </a:spcBef>
                      </a:pPr>
                      <a:r>
                        <a:rPr sz="1000" b="1" dirty="0">
                          <a:solidFill>
                            <a:srgbClr val="B12121"/>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公平与声誉</a:t>
                      </a:r>
                      <a:r>
                        <a:rPr sz="1000" b="1" spc="0" dirty="0">
                          <a:solidFill>
                            <a:srgbClr val="B12121"/>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 </a:t>
                      </a:r>
                      <a:r>
                        <a:rPr sz="1000" spc="0" dirty="0">
                          <a:solidFill>
                            <a:srgbClr val="1E1E1E"/>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a:t>
                      </a:r>
                      <a:r>
                        <a:rPr sz="1000" spc="-10" dirty="0">
                          <a:solidFill>
                            <a:srgbClr val="1E1E1E"/>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绕过审计流程</a:t>
                      </a:r>
                      <a:r>
                        <a:rPr sz="1000" spc="0" dirty="0">
                          <a:solidFill>
                            <a:srgbClr val="1E1E1E"/>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a:t>
                      </a:r>
                      <a:endParaRPr sz="1000" spc="0" dirty="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endParaRPr>
                    </a:p>
                  </a:txBody>
                  <a:tcPr marL="0" marR="0" marT="42545" marB="0">
                    <a:lnB w="12700">
                      <a:solidFill>
                        <a:srgbClr val="1E1E1E"/>
                      </a:solidFill>
                      <a:prstDash val="solid"/>
                    </a:lnB>
                  </a:tcPr>
                </a:tc>
                <a:extLst>
                  <a:ext uri="{0D108BD9-81ED-4DB2-BD59-A6C34878D82A}">
                    <a16:rowId xmlns:a16="http://schemas.microsoft.com/office/drawing/2014/main" val="10006"/>
                  </a:ext>
                </a:extLst>
              </a:tr>
            </a:tbl>
          </a:graphicData>
        </a:graphic>
      </p:graphicFrame>
      <p:sp>
        <p:nvSpPr>
          <p:cNvPr id="5" name="object 5"/>
          <p:cNvSpPr txBox="1">
            <a:spLocks noGrp="1"/>
          </p:cNvSpPr>
          <p:nvPr>
            <p:ph type="sldNum" sz="quarter" idx="7"/>
          </p:nvPr>
        </p:nvSpPr>
        <p:spPr>
          <a:xfrm>
            <a:off x="5478373" y="3112193"/>
            <a:ext cx="238125" cy="99386"/>
          </a:xfrm>
          <a:prstGeom prst="rect">
            <a:avLst/>
          </a:prstGeom>
        </p:spPr>
        <p:txBody>
          <a:bodyPr vert="horz" wrap="square" lIns="0" tIns="22225" rIns="0" bIns="0" rtlCol="0">
            <a:spAutoFit/>
          </a:bodyPr>
          <a:lstStyle/>
          <a:p>
            <a:pPr marL="12700">
              <a:lnSpc>
                <a:spcPct val="100000"/>
              </a:lnSpc>
              <a:spcBef>
                <a:spcPts val="175"/>
              </a:spcBef>
            </a:pPr>
            <a:fld id="{81D60167-4931-47E6-BA6A-407CBD079E47}" type="slidenum">
              <a:rPr dirty="0"/>
              <a:t>3</a:t>
            </a:fld>
            <a:r>
              <a:rPr dirty="0"/>
              <a:t> / 10</a:t>
            </a:r>
          </a:p>
        </p:txBody>
      </p:sp>
    </p:spTree>
  </p:cSld>
  <p:clrMapOvr>
    <a:masterClrMapping/>
  </p:clrMapOvr>
  <p:transition>
    <p:cut/>
  </p:transition>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347294" y="248879"/>
            <a:ext cx="1665605" cy="232756"/>
          </a:xfrm>
          <a:prstGeom prst="rect">
            <a:avLst/>
          </a:prstGeom>
        </p:spPr>
        <p:txBody>
          <a:bodyPr vert="horz" wrap="square" lIns="0" tIns="17145" rIns="0" bIns="0" rtlCol="0">
            <a:spAutoFit/>
          </a:bodyPr>
          <a:lstStyle/>
          <a:p>
            <a:pPr marL="12700">
              <a:lnSpc>
                <a:spcPct val="100000"/>
              </a:lnSpc>
              <a:spcBef>
                <a:spcPts val="135"/>
              </a:spcBef>
            </a:pPr>
            <a:r>
              <a:rPr b="1" spc="-10" dirty="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当前面临的核心痛点</a:t>
            </a:r>
          </a:p>
        </p:txBody>
      </p:sp>
      <p:sp>
        <p:nvSpPr>
          <p:cNvPr id="3" name="object 3"/>
          <p:cNvSpPr/>
          <p:nvPr/>
        </p:nvSpPr>
        <p:spPr>
          <a:xfrm>
            <a:off x="365061" y="626541"/>
            <a:ext cx="5040630" cy="0"/>
          </a:xfrm>
          <a:custGeom>
            <a:avLst/>
            <a:gdLst/>
            <a:ahLst/>
            <a:cxnLst/>
            <a:rect l="l" t="t" r="r" b="b"/>
            <a:pathLst>
              <a:path w="5040630">
                <a:moveTo>
                  <a:pt x="0" y="0"/>
                </a:moveTo>
                <a:lnTo>
                  <a:pt x="5040064" y="0"/>
                </a:lnTo>
              </a:path>
            </a:pathLst>
          </a:custGeom>
          <a:ln w="10122">
            <a:solidFill>
              <a:srgbClr val="BBBBBB"/>
            </a:solidFill>
          </a:ln>
        </p:spPr>
        <p:txBody>
          <a:bodyPr wrap="square" lIns="0" tIns="0" rIns="0" bIns="0" rtlCol="0"/>
          <a:lstStyle/>
          <a:p>
            <a:endParaRPr/>
          </a:p>
        </p:txBody>
      </p:sp>
      <p:sp>
        <p:nvSpPr>
          <p:cNvPr id="4" name="object 4"/>
          <p:cNvSpPr/>
          <p:nvPr/>
        </p:nvSpPr>
        <p:spPr>
          <a:xfrm>
            <a:off x="527316" y="1290561"/>
            <a:ext cx="0" cy="45085"/>
          </a:xfrm>
          <a:custGeom>
            <a:avLst/>
            <a:gdLst/>
            <a:ahLst/>
            <a:cxnLst/>
            <a:rect l="l" t="t" r="r" b="b"/>
            <a:pathLst>
              <a:path h="45084">
                <a:moveTo>
                  <a:pt x="0" y="44945"/>
                </a:moveTo>
                <a:lnTo>
                  <a:pt x="0" y="0"/>
                </a:lnTo>
              </a:path>
            </a:pathLst>
          </a:custGeom>
          <a:ln w="44941">
            <a:solidFill>
              <a:srgbClr val="17499E"/>
            </a:solidFill>
          </a:ln>
        </p:spPr>
        <p:txBody>
          <a:bodyPr wrap="square" lIns="0" tIns="0" rIns="0" bIns="0" rtlCol="0"/>
          <a:lstStyle/>
          <a:p>
            <a:endParaRPr/>
          </a:p>
        </p:txBody>
      </p:sp>
      <p:sp>
        <p:nvSpPr>
          <p:cNvPr id="5" name="object 5"/>
          <p:cNvSpPr/>
          <p:nvPr/>
        </p:nvSpPr>
        <p:spPr>
          <a:xfrm>
            <a:off x="527316" y="1892007"/>
            <a:ext cx="0" cy="45085"/>
          </a:xfrm>
          <a:custGeom>
            <a:avLst/>
            <a:gdLst/>
            <a:ahLst/>
            <a:cxnLst/>
            <a:rect l="l" t="t" r="r" b="b"/>
            <a:pathLst>
              <a:path h="45085">
                <a:moveTo>
                  <a:pt x="0" y="44945"/>
                </a:moveTo>
                <a:lnTo>
                  <a:pt x="0" y="0"/>
                </a:lnTo>
              </a:path>
            </a:pathLst>
          </a:custGeom>
          <a:ln w="44941">
            <a:solidFill>
              <a:srgbClr val="17499E"/>
            </a:solidFill>
          </a:ln>
        </p:spPr>
        <p:txBody>
          <a:bodyPr wrap="square" lIns="0" tIns="0" rIns="0" bIns="0" rtlCol="0"/>
          <a:lstStyle/>
          <a:p>
            <a:endParaRPr/>
          </a:p>
        </p:txBody>
      </p:sp>
      <p:sp>
        <p:nvSpPr>
          <p:cNvPr id="6" name="object 6"/>
          <p:cNvSpPr/>
          <p:nvPr/>
        </p:nvSpPr>
        <p:spPr>
          <a:xfrm>
            <a:off x="527316" y="2493454"/>
            <a:ext cx="0" cy="45085"/>
          </a:xfrm>
          <a:custGeom>
            <a:avLst/>
            <a:gdLst/>
            <a:ahLst/>
            <a:cxnLst/>
            <a:rect l="l" t="t" r="r" b="b"/>
            <a:pathLst>
              <a:path h="45085">
                <a:moveTo>
                  <a:pt x="0" y="44945"/>
                </a:moveTo>
                <a:lnTo>
                  <a:pt x="0" y="0"/>
                </a:lnTo>
              </a:path>
            </a:pathLst>
          </a:custGeom>
          <a:ln w="44941">
            <a:solidFill>
              <a:srgbClr val="17499E"/>
            </a:solidFill>
          </a:ln>
        </p:spPr>
        <p:txBody>
          <a:bodyPr wrap="square" lIns="0" tIns="0" rIns="0" bIns="0" rtlCol="0"/>
          <a:lstStyle/>
          <a:p>
            <a:endParaRPr/>
          </a:p>
        </p:txBody>
      </p:sp>
      <p:sp>
        <p:nvSpPr>
          <p:cNvPr id="7" name="object 7"/>
          <p:cNvSpPr txBox="1">
            <a:spLocks noGrp="1"/>
          </p:cNvSpPr>
          <p:nvPr>
            <p:ph type="body" idx="1"/>
          </p:nvPr>
        </p:nvSpPr>
        <p:spPr>
          <a:prstGeom prst="rect">
            <a:avLst/>
          </a:prstGeom>
        </p:spPr>
        <p:txBody>
          <a:bodyPr vert="horz" wrap="square" lIns="0" tIns="12065" rIns="0" bIns="0" rtlCol="0">
            <a:spAutoFit/>
          </a:bodyPr>
          <a:lstStyle/>
          <a:p>
            <a:pPr marL="12700">
              <a:lnSpc>
                <a:spcPct val="100000"/>
              </a:lnSpc>
              <a:spcBef>
                <a:spcPts val="95"/>
              </a:spcBef>
            </a:pPr>
            <a:r>
              <a:rPr b="0" spc="-20" dirty="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传统依赖“海量数据微调”的安全方案在</a:t>
            </a:r>
            <a:r>
              <a:rPr b="0" dirty="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 Agent </a:t>
            </a:r>
            <a:r>
              <a:rPr b="0" spc="-15" dirty="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场景下面临三大痛点：</a:t>
            </a:r>
          </a:p>
          <a:p>
            <a:pPr>
              <a:lnSpc>
                <a:spcPct val="100000"/>
              </a:lnSpc>
              <a:spcBef>
                <a:spcPts val="430"/>
              </a:spcBef>
            </a:pPr>
            <a:endParaRPr b="0" spc="-15" dirty="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endParaRPr>
          </a:p>
          <a:p>
            <a:pPr marL="265430">
              <a:lnSpc>
                <a:spcPts val="1200"/>
              </a:lnSpc>
            </a:pPr>
            <a:r>
              <a:rPr dirty="0">
                <a:solidFill>
                  <a:srgbClr val="B12121"/>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长尾风险难以穷举 </a:t>
            </a:r>
            <a:r>
              <a:rPr b="0" dirty="0">
                <a:solidFill>
                  <a:srgbClr val="B12121"/>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(Long-ta</a:t>
            </a:r>
            <a:r>
              <a:rPr lang="en-US" b="0" dirty="0">
                <a:solidFill>
                  <a:srgbClr val="B12121"/>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i</a:t>
            </a:r>
            <a:r>
              <a:rPr b="0" dirty="0">
                <a:solidFill>
                  <a:srgbClr val="B12121"/>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l Risks)</a:t>
            </a:r>
          </a:p>
          <a:p>
            <a:pPr marL="265430" marR="30480">
              <a:lnSpc>
                <a:spcPts val="1200"/>
              </a:lnSpc>
              <a:spcBef>
                <a:spcPts val="40"/>
              </a:spcBef>
            </a:pPr>
            <a:r>
              <a:rPr b="0" spc="-25" dirty="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自动驾驶的“前方电线杆”与</a:t>
            </a:r>
            <a:r>
              <a:rPr b="0" dirty="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 UI </a:t>
            </a:r>
            <a:r>
              <a:rPr b="0" spc="-15" dirty="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操作的“错误收款号”表象不同，但本质均属“末端</a:t>
            </a:r>
            <a:r>
              <a:rPr b="0" spc="-60" dirty="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动作前缺少风险校验”。</a:t>
            </a:r>
          </a:p>
          <a:p>
            <a:pPr marL="265430">
              <a:lnSpc>
                <a:spcPts val="1200"/>
              </a:lnSpc>
              <a:spcBef>
                <a:spcPts val="1100"/>
              </a:spcBef>
            </a:pPr>
            <a:r>
              <a:rPr dirty="0">
                <a:solidFill>
                  <a:srgbClr val="B12121"/>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缺乏稳定的安全约束 </a:t>
            </a:r>
            <a:r>
              <a:rPr b="0" dirty="0">
                <a:solidFill>
                  <a:srgbClr val="B12121"/>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(Safety Knowledge)</a:t>
            </a:r>
          </a:p>
          <a:p>
            <a:pPr marL="265430" marR="5080">
              <a:lnSpc>
                <a:spcPts val="1200"/>
              </a:lnSpc>
              <a:spcBef>
                <a:spcPts val="35"/>
              </a:spcBef>
            </a:pPr>
            <a:r>
              <a:rPr b="0" spc="-40" dirty="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大模型具备“转账需谨慎”的泛泛常识，但不具备可在关键时刻稳定触发的、强制动作</a:t>
            </a:r>
            <a:r>
              <a:rPr b="0" spc="-20" dirty="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约束规则。</a:t>
            </a:r>
          </a:p>
          <a:p>
            <a:pPr marL="265430">
              <a:lnSpc>
                <a:spcPts val="1200"/>
              </a:lnSpc>
              <a:spcBef>
                <a:spcPts val="1100"/>
              </a:spcBef>
            </a:pPr>
            <a:r>
              <a:rPr spc="5" dirty="0">
                <a:solidFill>
                  <a:srgbClr val="CD6600"/>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安全与效率的伦理张力</a:t>
            </a:r>
            <a:r>
              <a:rPr dirty="0">
                <a:solidFill>
                  <a:srgbClr val="CD6600"/>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 </a:t>
            </a:r>
            <a:r>
              <a:rPr b="0" dirty="0">
                <a:solidFill>
                  <a:srgbClr val="CD6600"/>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(Safety-Utility Trade-off)</a:t>
            </a:r>
          </a:p>
          <a:p>
            <a:pPr marL="265430" marR="28575">
              <a:lnSpc>
                <a:spcPts val="1200"/>
              </a:lnSpc>
              <a:spcBef>
                <a:spcPts val="40"/>
              </a:spcBef>
            </a:pPr>
            <a:r>
              <a:rPr b="0" dirty="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Benchmark </a:t>
            </a:r>
            <a:r>
              <a:rPr b="0" spc="-25" dirty="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显示，强行引入安全规则会使</a:t>
            </a:r>
            <a:r>
              <a:rPr b="0" dirty="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 Llama3.3-70B </a:t>
            </a:r>
            <a:r>
              <a:rPr b="0" spc="-30" dirty="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推理耗时上升约</a:t>
            </a:r>
            <a:r>
              <a:rPr b="0" dirty="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 20%</a:t>
            </a:r>
            <a:r>
              <a:rPr b="0" spc="-20" dirty="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。需在干</a:t>
            </a:r>
            <a:r>
              <a:rPr b="0" spc="-15" dirty="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预与可用性间寻找平衡。</a:t>
            </a:r>
          </a:p>
        </p:txBody>
      </p:sp>
      <p:sp>
        <p:nvSpPr>
          <p:cNvPr id="8" name="object 8"/>
          <p:cNvSpPr txBox="1">
            <a:spLocks noGrp="1"/>
          </p:cNvSpPr>
          <p:nvPr>
            <p:ph type="sldNum" sz="quarter" idx="7"/>
          </p:nvPr>
        </p:nvSpPr>
        <p:spPr>
          <a:xfrm>
            <a:off x="5478373" y="3112193"/>
            <a:ext cx="238125" cy="99386"/>
          </a:xfrm>
          <a:prstGeom prst="rect">
            <a:avLst/>
          </a:prstGeom>
        </p:spPr>
        <p:txBody>
          <a:bodyPr vert="horz" wrap="square" lIns="0" tIns="22225" rIns="0" bIns="0" rtlCol="0">
            <a:spAutoFit/>
          </a:bodyPr>
          <a:lstStyle/>
          <a:p>
            <a:pPr marL="12700">
              <a:lnSpc>
                <a:spcPct val="100000"/>
              </a:lnSpc>
              <a:spcBef>
                <a:spcPts val="175"/>
              </a:spcBef>
            </a:pPr>
            <a:fld id="{81D60167-4931-47E6-BA6A-407CBD079E47}" type="slidenum">
              <a:rPr dirty="0"/>
              <a:t>4</a:t>
            </a:fld>
            <a:r>
              <a:rPr dirty="0"/>
              <a:t> / 10</a:t>
            </a:r>
          </a:p>
        </p:txBody>
      </p:sp>
    </p:spTree>
  </p:cSld>
  <p:clrMapOvr>
    <a:masterClrMapping/>
  </p:clrMapOvr>
  <p:transition>
    <p:cut/>
  </p:transition>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347294" y="248879"/>
            <a:ext cx="4479290" cy="232756"/>
          </a:xfrm>
          <a:prstGeom prst="rect">
            <a:avLst/>
          </a:prstGeom>
        </p:spPr>
        <p:txBody>
          <a:bodyPr vert="horz" wrap="square" lIns="0" tIns="17145" rIns="0" bIns="0" rtlCol="0">
            <a:spAutoFit/>
          </a:bodyPr>
          <a:lstStyle/>
          <a:p>
            <a:pPr marL="12700">
              <a:lnSpc>
                <a:spcPct val="100000"/>
              </a:lnSpc>
              <a:spcBef>
                <a:spcPts val="135"/>
              </a:spcBef>
            </a:pPr>
            <a:r>
              <a:rPr b="1" spc="170" dirty="0" err="1">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伦理维度重构：从单点模型到系统链路</a:t>
            </a:r>
            <a:endParaRPr b="1" spc="170" dirty="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endParaRPr>
          </a:p>
        </p:txBody>
      </p:sp>
      <p:sp>
        <p:nvSpPr>
          <p:cNvPr id="3" name="object 3"/>
          <p:cNvSpPr/>
          <p:nvPr/>
        </p:nvSpPr>
        <p:spPr>
          <a:xfrm>
            <a:off x="365061" y="626541"/>
            <a:ext cx="5040630" cy="0"/>
          </a:xfrm>
          <a:custGeom>
            <a:avLst/>
            <a:gdLst/>
            <a:ahLst/>
            <a:cxnLst/>
            <a:rect l="l" t="t" r="r" b="b"/>
            <a:pathLst>
              <a:path w="5040630">
                <a:moveTo>
                  <a:pt x="0" y="0"/>
                </a:moveTo>
                <a:lnTo>
                  <a:pt x="5040064" y="0"/>
                </a:lnTo>
              </a:path>
            </a:pathLst>
          </a:custGeom>
          <a:ln w="10122">
            <a:solidFill>
              <a:srgbClr val="BBBBBB"/>
            </a:solidFill>
          </a:ln>
        </p:spPr>
        <p:txBody>
          <a:bodyPr wrap="square" lIns="0" tIns="0" rIns="0" bIns="0" rtlCol="0"/>
          <a:lstStyle/>
          <a:p>
            <a:endParaRPr/>
          </a:p>
        </p:txBody>
      </p:sp>
      <p:sp>
        <p:nvSpPr>
          <p:cNvPr id="4" name="object 4"/>
          <p:cNvSpPr txBox="1"/>
          <p:nvPr/>
        </p:nvSpPr>
        <p:spPr>
          <a:xfrm>
            <a:off x="347294" y="1007546"/>
            <a:ext cx="4327525" cy="166071"/>
          </a:xfrm>
          <a:prstGeom prst="rect">
            <a:avLst/>
          </a:prstGeom>
        </p:spPr>
        <p:txBody>
          <a:bodyPr vert="horz" wrap="square" lIns="0" tIns="12065" rIns="0" bIns="0" rtlCol="0">
            <a:spAutoFit/>
          </a:bodyPr>
          <a:lstStyle/>
          <a:p>
            <a:pPr marL="12700">
              <a:lnSpc>
                <a:spcPct val="100000"/>
              </a:lnSpc>
              <a:spcBef>
                <a:spcPts val="95"/>
              </a:spcBef>
            </a:pPr>
            <a:r>
              <a:rPr sz="1000" spc="-15" dirty="0">
                <a:solidFill>
                  <a:srgbClr val="1E1E1E"/>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安全治理对象应从单轮文本输出，扩展到感知、推理、执行的完整行动链路。</a:t>
            </a:r>
            <a:endParaRPr sz="100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endParaRPr>
          </a:p>
        </p:txBody>
      </p:sp>
      <p:sp>
        <p:nvSpPr>
          <p:cNvPr id="9" name="object 9"/>
          <p:cNvSpPr txBox="1">
            <a:spLocks noGrp="1"/>
          </p:cNvSpPr>
          <p:nvPr>
            <p:ph type="sldNum" sz="quarter" idx="7"/>
          </p:nvPr>
        </p:nvSpPr>
        <p:spPr>
          <a:xfrm>
            <a:off x="5478373" y="3112193"/>
            <a:ext cx="238125" cy="99386"/>
          </a:xfrm>
          <a:prstGeom prst="rect">
            <a:avLst/>
          </a:prstGeom>
        </p:spPr>
        <p:txBody>
          <a:bodyPr vert="horz" wrap="square" lIns="0" tIns="22225" rIns="0" bIns="0" rtlCol="0">
            <a:spAutoFit/>
          </a:bodyPr>
          <a:lstStyle/>
          <a:p>
            <a:pPr marL="12700">
              <a:lnSpc>
                <a:spcPct val="100000"/>
              </a:lnSpc>
              <a:spcBef>
                <a:spcPts val="175"/>
              </a:spcBef>
            </a:pPr>
            <a:fld id="{81D60167-4931-47E6-BA6A-407CBD079E47}" type="slidenum">
              <a:rPr dirty="0"/>
              <a:t>5</a:t>
            </a:fld>
            <a:r>
              <a:rPr dirty="0"/>
              <a:t> / 10</a:t>
            </a:r>
          </a:p>
        </p:txBody>
      </p:sp>
      <p:sp>
        <p:nvSpPr>
          <p:cNvPr id="5" name="object 5"/>
          <p:cNvSpPr txBox="1"/>
          <p:nvPr/>
        </p:nvSpPr>
        <p:spPr>
          <a:xfrm>
            <a:off x="294513" y="1380368"/>
            <a:ext cx="2429510" cy="481330"/>
          </a:xfrm>
          <a:prstGeom prst="rect">
            <a:avLst/>
          </a:prstGeom>
        </p:spPr>
        <p:txBody>
          <a:bodyPr vert="horz" wrap="square" lIns="0" tIns="12065" rIns="0" bIns="0" rtlCol="0">
            <a:spAutoFit/>
          </a:bodyPr>
          <a:lstStyle/>
          <a:p>
            <a:pPr marL="12700">
              <a:lnSpc>
                <a:spcPts val="1200"/>
              </a:lnSpc>
              <a:spcBef>
                <a:spcPts val="95"/>
              </a:spcBef>
            </a:pPr>
            <a:r>
              <a:rPr sz="1000" dirty="0">
                <a:solidFill>
                  <a:srgbClr val="17499E"/>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1. </a:t>
            </a:r>
            <a:r>
              <a:rPr sz="1000" b="1" spc="5" dirty="0">
                <a:solidFill>
                  <a:srgbClr val="17499E"/>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安全性</a:t>
            </a:r>
            <a:r>
              <a:rPr sz="1000" b="1" dirty="0">
                <a:solidFill>
                  <a:srgbClr val="17499E"/>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 </a:t>
            </a:r>
            <a:r>
              <a:rPr sz="1000" dirty="0">
                <a:solidFill>
                  <a:srgbClr val="17499E"/>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(Safety)</a:t>
            </a:r>
            <a:endParaRPr sz="100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endParaRPr>
          </a:p>
          <a:p>
            <a:pPr marL="12700" marR="5080">
              <a:lnSpc>
                <a:spcPts val="1200"/>
              </a:lnSpc>
              <a:spcBef>
                <a:spcPts val="40"/>
              </a:spcBef>
            </a:pPr>
            <a:r>
              <a:rPr sz="1000" spc="-10" dirty="0">
                <a:solidFill>
                  <a:srgbClr val="787878"/>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从输出安全跨越到</a:t>
            </a:r>
            <a:r>
              <a:rPr sz="1000" b="1" spc="-10" dirty="0">
                <a:solidFill>
                  <a:srgbClr val="787878"/>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行动安全</a:t>
            </a:r>
            <a:r>
              <a:rPr sz="1000" spc="-20" dirty="0">
                <a:solidFill>
                  <a:srgbClr val="787878"/>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。系统干预重心</a:t>
            </a:r>
            <a:r>
              <a:rPr sz="1000" spc="-15" dirty="0">
                <a:solidFill>
                  <a:srgbClr val="787878"/>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后移至动作生成与末端校验。</a:t>
            </a:r>
            <a:endParaRPr sz="100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endParaRPr>
          </a:p>
        </p:txBody>
      </p:sp>
      <p:sp>
        <p:nvSpPr>
          <p:cNvPr id="6" name="object 6"/>
          <p:cNvSpPr txBox="1"/>
          <p:nvPr/>
        </p:nvSpPr>
        <p:spPr>
          <a:xfrm>
            <a:off x="294513" y="2015863"/>
            <a:ext cx="2366645" cy="481330"/>
          </a:xfrm>
          <a:prstGeom prst="rect">
            <a:avLst/>
          </a:prstGeom>
        </p:spPr>
        <p:txBody>
          <a:bodyPr vert="horz" wrap="square" lIns="0" tIns="12065" rIns="0" bIns="0" rtlCol="0">
            <a:spAutoFit/>
          </a:bodyPr>
          <a:lstStyle/>
          <a:p>
            <a:pPr marL="12700">
              <a:lnSpc>
                <a:spcPts val="1200"/>
              </a:lnSpc>
              <a:spcBef>
                <a:spcPts val="95"/>
              </a:spcBef>
            </a:pPr>
            <a:r>
              <a:rPr sz="1000" dirty="0">
                <a:solidFill>
                  <a:srgbClr val="17499E"/>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2. </a:t>
            </a:r>
            <a:r>
              <a:rPr sz="1000" b="1" spc="5" dirty="0">
                <a:solidFill>
                  <a:srgbClr val="17499E"/>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责任性</a:t>
            </a:r>
            <a:r>
              <a:rPr sz="1000" b="1" dirty="0">
                <a:solidFill>
                  <a:srgbClr val="17499E"/>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 </a:t>
            </a:r>
            <a:r>
              <a:rPr sz="1000" dirty="0">
                <a:solidFill>
                  <a:srgbClr val="17499E"/>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(Responsibility)</a:t>
            </a:r>
            <a:endParaRPr sz="1000" dirty="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endParaRPr>
          </a:p>
          <a:p>
            <a:pPr marL="12700" marR="5080">
              <a:lnSpc>
                <a:spcPts val="1200"/>
              </a:lnSpc>
              <a:spcBef>
                <a:spcPts val="40"/>
              </a:spcBef>
            </a:pPr>
            <a:r>
              <a:rPr sz="1000" spc="-60" dirty="0" err="1">
                <a:solidFill>
                  <a:srgbClr val="787878"/>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避免</a:t>
            </a:r>
            <a:r>
              <a:rPr lang="zh-CN" altLang="en-US" sz="1000" spc="-60" dirty="0">
                <a:solidFill>
                  <a:srgbClr val="787878"/>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a:t>
            </a:r>
            <a:r>
              <a:rPr sz="1000" spc="-60" dirty="0" err="1">
                <a:solidFill>
                  <a:srgbClr val="787878"/>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责任真空</a:t>
            </a:r>
            <a:r>
              <a:rPr lang="zh-CN" altLang="en-US" sz="1000" spc="-60" dirty="0">
                <a:solidFill>
                  <a:srgbClr val="787878"/>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a:t>
            </a:r>
            <a:r>
              <a:rPr sz="1000" spc="-60" dirty="0">
                <a:solidFill>
                  <a:srgbClr val="787878"/>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。建立从用户指令到权限</a:t>
            </a:r>
            <a:r>
              <a:rPr sz="1000" spc="-15" dirty="0">
                <a:solidFill>
                  <a:srgbClr val="787878"/>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调用、再到最终执行的完整审计日志。</a:t>
            </a:r>
            <a:endParaRPr sz="1000" dirty="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endParaRPr>
          </a:p>
        </p:txBody>
      </p:sp>
      <p:sp>
        <p:nvSpPr>
          <p:cNvPr id="7" name="object 7"/>
          <p:cNvSpPr txBox="1"/>
          <p:nvPr/>
        </p:nvSpPr>
        <p:spPr>
          <a:xfrm>
            <a:off x="3020909" y="1378602"/>
            <a:ext cx="2450377" cy="633095"/>
          </a:xfrm>
          <a:prstGeom prst="rect">
            <a:avLst/>
          </a:prstGeom>
        </p:spPr>
        <p:txBody>
          <a:bodyPr vert="horz" wrap="square" lIns="0" tIns="12065" rIns="0" bIns="0" rtlCol="0">
            <a:spAutoFit/>
          </a:bodyPr>
          <a:lstStyle/>
          <a:p>
            <a:pPr marL="12700">
              <a:lnSpc>
                <a:spcPts val="1200"/>
              </a:lnSpc>
              <a:spcBef>
                <a:spcPts val="95"/>
              </a:spcBef>
            </a:pPr>
            <a:r>
              <a:rPr sz="1000" dirty="0">
                <a:solidFill>
                  <a:srgbClr val="17499E"/>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3. </a:t>
            </a:r>
            <a:r>
              <a:rPr sz="1000" b="1" spc="5" dirty="0">
                <a:solidFill>
                  <a:srgbClr val="17499E"/>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透明性</a:t>
            </a:r>
            <a:r>
              <a:rPr sz="1000" b="1" dirty="0">
                <a:solidFill>
                  <a:srgbClr val="17499E"/>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 </a:t>
            </a:r>
            <a:r>
              <a:rPr sz="1000" dirty="0">
                <a:solidFill>
                  <a:srgbClr val="17499E"/>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(Transparency)</a:t>
            </a:r>
            <a:endParaRPr sz="1000" dirty="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endParaRPr>
          </a:p>
          <a:p>
            <a:pPr marL="12700" marR="5080">
              <a:lnSpc>
                <a:spcPts val="1200"/>
              </a:lnSpc>
              <a:spcBef>
                <a:spcPts val="40"/>
              </a:spcBef>
            </a:pPr>
            <a:r>
              <a:rPr sz="1000" spc="-15" dirty="0" err="1">
                <a:solidFill>
                  <a:srgbClr val="787878"/>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安全模块不能是黑箱补丁。触发拦截时必须</a:t>
            </a:r>
            <a:r>
              <a:rPr sz="1000" spc="-10" dirty="0" err="1">
                <a:solidFill>
                  <a:srgbClr val="787878"/>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提供简明解释（</a:t>
            </a:r>
            <a:r>
              <a:rPr sz="1000" spc="-65" dirty="0" err="1">
                <a:solidFill>
                  <a:srgbClr val="787878"/>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如</a:t>
            </a:r>
            <a:r>
              <a:rPr lang="zh-CN" altLang="en-US" sz="1000" spc="-65" dirty="0">
                <a:solidFill>
                  <a:srgbClr val="787878"/>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a:t>
            </a:r>
            <a:r>
              <a:rPr sz="1000" spc="-65" dirty="0" err="1">
                <a:solidFill>
                  <a:srgbClr val="787878"/>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涉及资金，需二次确</a:t>
            </a:r>
            <a:r>
              <a:rPr lang="zh-CN" altLang="en-US" sz="1000" spc="-10" dirty="0">
                <a:solidFill>
                  <a:srgbClr val="787878"/>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认</a:t>
            </a:r>
            <a:r>
              <a:rPr lang="zh-CN" altLang="en-US" sz="1000" spc="-509" dirty="0">
                <a:solidFill>
                  <a:srgbClr val="787878"/>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a:t>
            </a:r>
            <a:r>
              <a:rPr lang="zh-CN" altLang="en-US" sz="1000" spc="-50" dirty="0">
                <a:solidFill>
                  <a:srgbClr val="787878"/>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a:t>
            </a:r>
            <a:endParaRPr sz="1000" dirty="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endParaRPr>
          </a:p>
        </p:txBody>
      </p:sp>
      <p:sp>
        <p:nvSpPr>
          <p:cNvPr id="8" name="object 8"/>
          <p:cNvSpPr txBox="1"/>
          <p:nvPr/>
        </p:nvSpPr>
        <p:spPr>
          <a:xfrm>
            <a:off x="3020910" y="2165926"/>
            <a:ext cx="2303145" cy="481330"/>
          </a:xfrm>
          <a:prstGeom prst="rect">
            <a:avLst/>
          </a:prstGeom>
        </p:spPr>
        <p:txBody>
          <a:bodyPr vert="horz" wrap="square" lIns="0" tIns="12065" rIns="0" bIns="0" rtlCol="0">
            <a:spAutoFit/>
          </a:bodyPr>
          <a:lstStyle/>
          <a:p>
            <a:pPr marL="12700">
              <a:lnSpc>
                <a:spcPts val="1200"/>
              </a:lnSpc>
              <a:spcBef>
                <a:spcPts val="95"/>
              </a:spcBef>
            </a:pPr>
            <a:r>
              <a:rPr sz="1000" dirty="0">
                <a:solidFill>
                  <a:srgbClr val="17499E"/>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4. </a:t>
            </a:r>
            <a:r>
              <a:rPr sz="1000" b="1" spc="5" dirty="0">
                <a:solidFill>
                  <a:srgbClr val="17499E"/>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公平性</a:t>
            </a:r>
            <a:r>
              <a:rPr sz="1000" b="1" dirty="0">
                <a:solidFill>
                  <a:srgbClr val="17499E"/>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 </a:t>
            </a:r>
            <a:r>
              <a:rPr sz="1000" dirty="0">
                <a:solidFill>
                  <a:srgbClr val="17499E"/>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(Fairness)</a:t>
            </a:r>
            <a:endParaRPr sz="100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endParaRPr>
          </a:p>
          <a:p>
            <a:pPr marL="12700" marR="5080">
              <a:lnSpc>
                <a:spcPts val="1200"/>
              </a:lnSpc>
              <a:spcBef>
                <a:spcPts val="40"/>
              </a:spcBef>
            </a:pPr>
            <a:r>
              <a:rPr sz="1000" spc="-15" dirty="0">
                <a:solidFill>
                  <a:srgbClr val="787878"/>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确保看护机制的高泛化性。不因用户的方言、弱势群体特征而放大越权操作风险。</a:t>
            </a:r>
            <a:endParaRPr sz="100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endParaRPr>
          </a:p>
        </p:txBody>
      </p:sp>
    </p:spTree>
  </p:cSld>
  <p:clrMapOvr>
    <a:masterClrMapping/>
  </p:clrMapOvr>
  <p:transition>
    <p:cut/>
  </p:transition>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347294" y="248879"/>
            <a:ext cx="2940685" cy="232756"/>
          </a:xfrm>
          <a:prstGeom prst="rect">
            <a:avLst/>
          </a:prstGeom>
        </p:spPr>
        <p:txBody>
          <a:bodyPr vert="horz" wrap="square" lIns="0" tIns="17145" rIns="0" bIns="0" rtlCol="0">
            <a:spAutoFit/>
          </a:bodyPr>
          <a:lstStyle/>
          <a:p>
            <a:pPr marL="12700">
              <a:lnSpc>
                <a:spcPct val="100000"/>
              </a:lnSpc>
              <a:spcBef>
                <a:spcPts val="135"/>
              </a:spcBef>
            </a:pPr>
            <a:r>
              <a:rPr b="1" spc="-5" dirty="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核心架构：高泛化三层安全看护机制</a:t>
            </a:r>
          </a:p>
        </p:txBody>
      </p:sp>
      <p:sp>
        <p:nvSpPr>
          <p:cNvPr id="3" name="object 3"/>
          <p:cNvSpPr/>
          <p:nvPr/>
        </p:nvSpPr>
        <p:spPr>
          <a:xfrm>
            <a:off x="365061" y="626541"/>
            <a:ext cx="5040630" cy="0"/>
          </a:xfrm>
          <a:custGeom>
            <a:avLst/>
            <a:gdLst/>
            <a:ahLst/>
            <a:cxnLst/>
            <a:rect l="l" t="t" r="r" b="b"/>
            <a:pathLst>
              <a:path w="5040630">
                <a:moveTo>
                  <a:pt x="0" y="0"/>
                </a:moveTo>
                <a:lnTo>
                  <a:pt x="5040064" y="0"/>
                </a:lnTo>
              </a:path>
            </a:pathLst>
          </a:custGeom>
          <a:ln w="10122">
            <a:solidFill>
              <a:srgbClr val="BBBBBB"/>
            </a:solidFill>
          </a:ln>
        </p:spPr>
        <p:txBody>
          <a:bodyPr wrap="square" lIns="0" tIns="0" rIns="0" bIns="0" rtlCol="0"/>
          <a:lstStyle/>
          <a:p>
            <a:endParaRPr/>
          </a:p>
        </p:txBody>
      </p:sp>
      <p:sp>
        <p:nvSpPr>
          <p:cNvPr id="4" name="object 4"/>
          <p:cNvSpPr txBox="1"/>
          <p:nvPr/>
        </p:nvSpPr>
        <p:spPr>
          <a:xfrm>
            <a:off x="593992" y="1562729"/>
            <a:ext cx="1260475" cy="357149"/>
          </a:xfrm>
          <a:prstGeom prst="rect">
            <a:avLst/>
          </a:prstGeom>
          <a:ln w="10122">
            <a:solidFill>
              <a:srgbClr val="184A9E"/>
            </a:solidFill>
          </a:ln>
        </p:spPr>
        <p:txBody>
          <a:bodyPr vert="horz" wrap="square" lIns="0" tIns="79375" rIns="0" bIns="0" rtlCol="0">
            <a:spAutoFit/>
          </a:bodyPr>
          <a:lstStyle/>
          <a:p>
            <a:pPr marL="52069">
              <a:lnSpc>
                <a:spcPct val="100000"/>
              </a:lnSpc>
              <a:spcBef>
                <a:spcPts val="625"/>
              </a:spcBef>
            </a:pPr>
            <a:r>
              <a:rPr sz="900" dirty="0">
                <a:solidFill>
                  <a:srgbClr val="1E1E1E"/>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Layer 1: </a:t>
            </a:r>
            <a:r>
              <a:rPr sz="900" b="1" spc="-20" dirty="0">
                <a:solidFill>
                  <a:srgbClr val="1E1E1E"/>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环境风险建模</a:t>
            </a:r>
            <a:endParaRPr sz="900" dirty="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endParaRPr>
          </a:p>
          <a:p>
            <a:pPr marL="115570">
              <a:lnSpc>
                <a:spcPct val="100000"/>
              </a:lnSpc>
              <a:spcBef>
                <a:spcPts val="20"/>
              </a:spcBef>
            </a:pPr>
            <a:r>
              <a:rPr sz="900" spc="-10" dirty="0">
                <a:solidFill>
                  <a:srgbClr val="787878"/>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识别目标</a:t>
            </a:r>
            <a:r>
              <a:rPr sz="900" dirty="0">
                <a:solidFill>
                  <a:srgbClr val="787878"/>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a:t>
            </a:r>
            <a:r>
              <a:rPr sz="900" spc="-20" dirty="0">
                <a:solidFill>
                  <a:srgbClr val="787878"/>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对象</a:t>
            </a:r>
            <a:r>
              <a:rPr sz="900" dirty="0">
                <a:solidFill>
                  <a:srgbClr val="787878"/>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a:t>
            </a:r>
            <a:r>
              <a:rPr sz="900" spc="-30" dirty="0">
                <a:solidFill>
                  <a:srgbClr val="787878"/>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权限</a:t>
            </a:r>
            <a:endParaRPr sz="900" dirty="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endParaRPr>
          </a:p>
        </p:txBody>
      </p:sp>
      <p:sp>
        <p:nvSpPr>
          <p:cNvPr id="5" name="object 5"/>
          <p:cNvSpPr txBox="1"/>
          <p:nvPr/>
        </p:nvSpPr>
        <p:spPr>
          <a:xfrm>
            <a:off x="2250014" y="1562729"/>
            <a:ext cx="1260475" cy="361637"/>
          </a:xfrm>
          <a:prstGeom prst="rect">
            <a:avLst/>
          </a:prstGeom>
          <a:ln w="10122">
            <a:solidFill>
              <a:srgbClr val="184A9E"/>
            </a:solidFill>
          </a:ln>
        </p:spPr>
        <p:txBody>
          <a:bodyPr vert="horz" wrap="square" lIns="0" tIns="83820" rIns="0" bIns="0" rtlCol="0">
            <a:spAutoFit/>
          </a:bodyPr>
          <a:lstStyle/>
          <a:p>
            <a:pPr marL="52069">
              <a:lnSpc>
                <a:spcPct val="100000"/>
              </a:lnSpc>
              <a:spcBef>
                <a:spcPts val="660"/>
              </a:spcBef>
            </a:pPr>
            <a:r>
              <a:rPr sz="900" dirty="0">
                <a:solidFill>
                  <a:srgbClr val="1E1E1E"/>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Layer 2: </a:t>
            </a:r>
            <a:r>
              <a:rPr sz="900" b="1" spc="-20" dirty="0">
                <a:solidFill>
                  <a:srgbClr val="1E1E1E"/>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安全知识记忆</a:t>
            </a:r>
            <a:endParaRPr sz="900" dirty="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endParaRPr>
          </a:p>
          <a:p>
            <a:pPr marL="117475">
              <a:lnSpc>
                <a:spcPct val="100000"/>
              </a:lnSpc>
              <a:spcBef>
                <a:spcPts val="15"/>
              </a:spcBef>
            </a:pPr>
            <a:r>
              <a:rPr sz="900" spc="-15" dirty="0">
                <a:solidFill>
                  <a:srgbClr val="787878"/>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精准匹配与反思嵌入</a:t>
            </a:r>
            <a:endParaRPr sz="900" dirty="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endParaRPr>
          </a:p>
        </p:txBody>
      </p:sp>
      <p:sp>
        <p:nvSpPr>
          <p:cNvPr id="6" name="object 6"/>
          <p:cNvSpPr txBox="1"/>
          <p:nvPr/>
        </p:nvSpPr>
        <p:spPr>
          <a:xfrm>
            <a:off x="3906032" y="1562729"/>
            <a:ext cx="1260475" cy="361637"/>
          </a:xfrm>
          <a:prstGeom prst="rect">
            <a:avLst/>
          </a:prstGeom>
          <a:ln w="10122">
            <a:solidFill>
              <a:srgbClr val="B22121"/>
            </a:solidFill>
          </a:ln>
        </p:spPr>
        <p:txBody>
          <a:bodyPr vert="horz" wrap="square" lIns="0" tIns="83820" rIns="0" bIns="0" rtlCol="0">
            <a:spAutoFit/>
          </a:bodyPr>
          <a:lstStyle/>
          <a:p>
            <a:pPr marL="52069">
              <a:lnSpc>
                <a:spcPct val="100000"/>
              </a:lnSpc>
              <a:spcBef>
                <a:spcPts val="660"/>
              </a:spcBef>
            </a:pPr>
            <a:r>
              <a:rPr sz="900" dirty="0">
                <a:solidFill>
                  <a:srgbClr val="B12121"/>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Layer 3: </a:t>
            </a:r>
            <a:r>
              <a:rPr sz="900" b="1" spc="-20" dirty="0">
                <a:solidFill>
                  <a:srgbClr val="B12121"/>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末端动作门控</a:t>
            </a:r>
            <a:endParaRPr sz="900" dirty="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endParaRPr>
          </a:p>
          <a:p>
            <a:pPr marL="117475">
              <a:lnSpc>
                <a:spcPct val="100000"/>
              </a:lnSpc>
              <a:spcBef>
                <a:spcPts val="20"/>
              </a:spcBef>
            </a:pPr>
            <a:r>
              <a:rPr sz="900" spc="-15" dirty="0">
                <a:solidFill>
                  <a:srgbClr val="787878"/>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风险分级与硬性拦截</a:t>
            </a:r>
            <a:endParaRPr sz="900" dirty="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endParaRPr>
          </a:p>
        </p:txBody>
      </p:sp>
      <p:sp>
        <p:nvSpPr>
          <p:cNvPr id="7" name="object 7"/>
          <p:cNvSpPr txBox="1"/>
          <p:nvPr/>
        </p:nvSpPr>
        <p:spPr>
          <a:xfrm>
            <a:off x="918527" y="987521"/>
            <a:ext cx="611505" cy="289182"/>
          </a:xfrm>
          <a:prstGeom prst="rect">
            <a:avLst/>
          </a:prstGeom>
        </p:spPr>
        <p:txBody>
          <a:bodyPr vert="horz" wrap="square" lIns="0" tIns="12065" rIns="0" bIns="0" rtlCol="0">
            <a:spAutoFit/>
          </a:bodyPr>
          <a:lstStyle/>
          <a:p>
            <a:pPr marL="77470">
              <a:lnSpc>
                <a:spcPct val="100000"/>
              </a:lnSpc>
              <a:spcBef>
                <a:spcPts val="95"/>
              </a:spcBef>
            </a:pPr>
            <a:r>
              <a:rPr sz="900" spc="-20" dirty="0">
                <a:solidFill>
                  <a:srgbClr val="1E1E1E"/>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用户意图</a:t>
            </a:r>
            <a:endParaRPr sz="90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endParaRPr>
          </a:p>
          <a:p>
            <a:pPr marL="12700">
              <a:lnSpc>
                <a:spcPct val="100000"/>
              </a:lnSpc>
              <a:spcBef>
                <a:spcPts val="15"/>
              </a:spcBef>
            </a:pPr>
            <a:r>
              <a:rPr sz="900" dirty="0">
                <a:solidFill>
                  <a:srgbClr val="1E1E1E"/>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 </a:t>
            </a:r>
            <a:r>
              <a:rPr sz="900" spc="-20" dirty="0">
                <a:solidFill>
                  <a:srgbClr val="1E1E1E"/>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环境感知</a:t>
            </a:r>
            <a:endParaRPr sz="90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endParaRPr>
          </a:p>
        </p:txBody>
      </p:sp>
      <p:sp>
        <p:nvSpPr>
          <p:cNvPr id="8" name="object 8"/>
          <p:cNvSpPr txBox="1"/>
          <p:nvPr/>
        </p:nvSpPr>
        <p:spPr>
          <a:xfrm>
            <a:off x="4238650" y="986721"/>
            <a:ext cx="594995" cy="280141"/>
          </a:xfrm>
          <a:prstGeom prst="rect">
            <a:avLst/>
          </a:prstGeom>
        </p:spPr>
        <p:txBody>
          <a:bodyPr vert="horz" wrap="square" lIns="0" tIns="10160" rIns="0" bIns="0" rtlCol="0">
            <a:spAutoFit/>
          </a:bodyPr>
          <a:lstStyle/>
          <a:p>
            <a:pPr marL="12700" marR="5080" indent="56515">
              <a:lnSpc>
                <a:spcPct val="101499"/>
              </a:lnSpc>
              <a:spcBef>
                <a:spcPts val="80"/>
              </a:spcBef>
            </a:pPr>
            <a:r>
              <a:rPr sz="900" spc="-25" dirty="0">
                <a:solidFill>
                  <a:srgbClr val="218A21"/>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安全执行</a:t>
            </a:r>
            <a:r>
              <a:rPr sz="900" spc="-20" dirty="0">
                <a:solidFill>
                  <a:srgbClr val="1E1E1E"/>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或人工接管</a:t>
            </a:r>
            <a:endParaRPr sz="90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endParaRPr>
          </a:p>
        </p:txBody>
      </p:sp>
      <p:grpSp>
        <p:nvGrpSpPr>
          <p:cNvPr id="9" name="object 9"/>
          <p:cNvGrpSpPr/>
          <p:nvPr/>
        </p:nvGrpSpPr>
        <p:grpSpPr>
          <a:xfrm>
            <a:off x="1192729" y="1316535"/>
            <a:ext cx="62865" cy="231775"/>
            <a:chOff x="1192729" y="1316535"/>
            <a:chExt cx="62865" cy="231775"/>
          </a:xfrm>
        </p:grpSpPr>
        <p:sp>
          <p:nvSpPr>
            <p:cNvPr id="10" name="object 10"/>
            <p:cNvSpPr/>
            <p:nvPr/>
          </p:nvSpPr>
          <p:spPr>
            <a:xfrm>
              <a:off x="1224000" y="1316535"/>
              <a:ext cx="0" cy="177800"/>
            </a:xfrm>
            <a:custGeom>
              <a:avLst/>
              <a:gdLst/>
              <a:ahLst/>
              <a:cxnLst/>
              <a:rect l="l" t="t" r="r" b="b"/>
              <a:pathLst>
                <a:path h="177800">
                  <a:moveTo>
                    <a:pt x="0" y="0"/>
                  </a:moveTo>
                  <a:lnTo>
                    <a:pt x="0" y="177657"/>
                  </a:lnTo>
                </a:path>
              </a:pathLst>
            </a:custGeom>
            <a:ln w="10122">
              <a:solidFill>
                <a:srgbClr val="787878"/>
              </a:solidFill>
            </a:ln>
          </p:spPr>
          <p:txBody>
            <a:bodyPr wrap="square" lIns="0" tIns="0" rIns="0" bIns="0" rtlCol="0"/>
            <a:lstStyle/>
            <a:p>
              <a:endParaRPr/>
            </a:p>
          </p:txBody>
        </p:sp>
        <p:sp>
          <p:nvSpPr>
            <p:cNvPr id="11" name="object 11"/>
            <p:cNvSpPr/>
            <p:nvPr/>
          </p:nvSpPr>
          <p:spPr>
            <a:xfrm>
              <a:off x="1197790" y="1473802"/>
              <a:ext cx="52705" cy="69850"/>
            </a:xfrm>
            <a:custGeom>
              <a:avLst/>
              <a:gdLst/>
              <a:ahLst/>
              <a:cxnLst/>
              <a:rect l="l" t="t" r="r" b="b"/>
              <a:pathLst>
                <a:path w="52705" h="69850">
                  <a:moveTo>
                    <a:pt x="52420" y="0"/>
                  </a:moveTo>
                  <a:lnTo>
                    <a:pt x="26210" y="22920"/>
                  </a:lnTo>
                  <a:lnTo>
                    <a:pt x="0" y="0"/>
                  </a:lnTo>
                  <a:lnTo>
                    <a:pt x="26210" y="69451"/>
                  </a:lnTo>
                  <a:lnTo>
                    <a:pt x="52420" y="0"/>
                  </a:lnTo>
                  <a:close/>
                </a:path>
              </a:pathLst>
            </a:custGeom>
            <a:solidFill>
              <a:srgbClr val="787878"/>
            </a:solidFill>
          </p:spPr>
          <p:txBody>
            <a:bodyPr wrap="square" lIns="0" tIns="0" rIns="0" bIns="0" rtlCol="0"/>
            <a:lstStyle/>
            <a:p>
              <a:endParaRPr/>
            </a:p>
          </p:txBody>
        </p:sp>
        <p:sp>
          <p:nvSpPr>
            <p:cNvPr id="12" name="object 12"/>
            <p:cNvSpPr/>
            <p:nvPr/>
          </p:nvSpPr>
          <p:spPr>
            <a:xfrm>
              <a:off x="1197790" y="1473802"/>
              <a:ext cx="52705" cy="69850"/>
            </a:xfrm>
            <a:custGeom>
              <a:avLst/>
              <a:gdLst/>
              <a:ahLst/>
              <a:cxnLst/>
              <a:rect l="l" t="t" r="r" b="b"/>
              <a:pathLst>
                <a:path w="52705" h="69850">
                  <a:moveTo>
                    <a:pt x="26210" y="69451"/>
                  </a:moveTo>
                  <a:lnTo>
                    <a:pt x="52420" y="0"/>
                  </a:lnTo>
                  <a:lnTo>
                    <a:pt x="26210" y="22920"/>
                  </a:lnTo>
                  <a:lnTo>
                    <a:pt x="0" y="0"/>
                  </a:lnTo>
                  <a:lnTo>
                    <a:pt x="26210" y="69451"/>
                  </a:lnTo>
                  <a:close/>
                </a:path>
              </a:pathLst>
            </a:custGeom>
            <a:ln w="10122">
              <a:solidFill>
                <a:srgbClr val="787878"/>
              </a:solidFill>
            </a:ln>
          </p:spPr>
          <p:txBody>
            <a:bodyPr wrap="square" lIns="0" tIns="0" rIns="0" bIns="0" rtlCol="0"/>
            <a:lstStyle/>
            <a:p>
              <a:endParaRPr/>
            </a:p>
          </p:txBody>
        </p:sp>
      </p:grpSp>
      <p:grpSp>
        <p:nvGrpSpPr>
          <p:cNvPr id="13" name="object 13"/>
          <p:cNvGrpSpPr/>
          <p:nvPr/>
        </p:nvGrpSpPr>
        <p:grpSpPr>
          <a:xfrm>
            <a:off x="1859069" y="1765461"/>
            <a:ext cx="376555" cy="62865"/>
            <a:chOff x="1859069" y="1765461"/>
            <a:chExt cx="376555" cy="62865"/>
          </a:xfrm>
        </p:grpSpPr>
        <p:sp>
          <p:nvSpPr>
            <p:cNvPr id="14" name="object 14"/>
            <p:cNvSpPr/>
            <p:nvPr/>
          </p:nvSpPr>
          <p:spPr>
            <a:xfrm>
              <a:off x="1859069" y="1796732"/>
              <a:ext cx="322580" cy="0"/>
            </a:xfrm>
            <a:custGeom>
              <a:avLst/>
              <a:gdLst/>
              <a:ahLst/>
              <a:cxnLst/>
              <a:rect l="l" t="t" r="r" b="b"/>
              <a:pathLst>
                <a:path w="322580">
                  <a:moveTo>
                    <a:pt x="0" y="0"/>
                  </a:moveTo>
                  <a:lnTo>
                    <a:pt x="322409" y="0"/>
                  </a:lnTo>
                </a:path>
              </a:pathLst>
            </a:custGeom>
            <a:ln w="10122">
              <a:solidFill>
                <a:srgbClr val="787878"/>
              </a:solidFill>
            </a:ln>
          </p:spPr>
          <p:txBody>
            <a:bodyPr wrap="square" lIns="0" tIns="0" rIns="0" bIns="0" rtlCol="0"/>
            <a:lstStyle/>
            <a:p>
              <a:endParaRPr/>
            </a:p>
          </p:txBody>
        </p:sp>
        <p:sp>
          <p:nvSpPr>
            <p:cNvPr id="15" name="object 15"/>
            <p:cNvSpPr/>
            <p:nvPr/>
          </p:nvSpPr>
          <p:spPr>
            <a:xfrm>
              <a:off x="2161088" y="1770522"/>
              <a:ext cx="69850" cy="52705"/>
            </a:xfrm>
            <a:custGeom>
              <a:avLst/>
              <a:gdLst/>
              <a:ahLst/>
              <a:cxnLst/>
              <a:rect l="l" t="t" r="r" b="b"/>
              <a:pathLst>
                <a:path w="69850" h="52705">
                  <a:moveTo>
                    <a:pt x="0" y="0"/>
                  </a:moveTo>
                  <a:lnTo>
                    <a:pt x="22920" y="26210"/>
                  </a:lnTo>
                  <a:lnTo>
                    <a:pt x="0" y="52420"/>
                  </a:lnTo>
                  <a:lnTo>
                    <a:pt x="69451" y="26210"/>
                  </a:lnTo>
                  <a:lnTo>
                    <a:pt x="0" y="0"/>
                  </a:lnTo>
                  <a:close/>
                </a:path>
              </a:pathLst>
            </a:custGeom>
            <a:solidFill>
              <a:srgbClr val="787878"/>
            </a:solidFill>
          </p:spPr>
          <p:txBody>
            <a:bodyPr wrap="square" lIns="0" tIns="0" rIns="0" bIns="0" rtlCol="0"/>
            <a:lstStyle/>
            <a:p>
              <a:endParaRPr/>
            </a:p>
          </p:txBody>
        </p:sp>
        <p:sp>
          <p:nvSpPr>
            <p:cNvPr id="16" name="object 16"/>
            <p:cNvSpPr/>
            <p:nvPr/>
          </p:nvSpPr>
          <p:spPr>
            <a:xfrm>
              <a:off x="2161088" y="1770522"/>
              <a:ext cx="69850" cy="52705"/>
            </a:xfrm>
            <a:custGeom>
              <a:avLst/>
              <a:gdLst/>
              <a:ahLst/>
              <a:cxnLst/>
              <a:rect l="l" t="t" r="r" b="b"/>
              <a:pathLst>
                <a:path w="69850" h="52705">
                  <a:moveTo>
                    <a:pt x="69451" y="26210"/>
                  </a:moveTo>
                  <a:lnTo>
                    <a:pt x="0" y="0"/>
                  </a:lnTo>
                  <a:lnTo>
                    <a:pt x="22920" y="26210"/>
                  </a:lnTo>
                  <a:lnTo>
                    <a:pt x="0" y="52420"/>
                  </a:lnTo>
                  <a:lnTo>
                    <a:pt x="69451" y="26210"/>
                  </a:lnTo>
                  <a:close/>
                </a:path>
              </a:pathLst>
            </a:custGeom>
            <a:ln w="10122">
              <a:solidFill>
                <a:srgbClr val="787878"/>
              </a:solidFill>
            </a:ln>
          </p:spPr>
          <p:txBody>
            <a:bodyPr wrap="square" lIns="0" tIns="0" rIns="0" bIns="0" rtlCol="0"/>
            <a:lstStyle/>
            <a:p>
              <a:endParaRPr/>
            </a:p>
          </p:txBody>
        </p:sp>
      </p:grpSp>
      <p:grpSp>
        <p:nvGrpSpPr>
          <p:cNvPr id="17" name="object 17"/>
          <p:cNvGrpSpPr/>
          <p:nvPr/>
        </p:nvGrpSpPr>
        <p:grpSpPr>
          <a:xfrm>
            <a:off x="3515092" y="1765461"/>
            <a:ext cx="376555" cy="62865"/>
            <a:chOff x="3515092" y="1765461"/>
            <a:chExt cx="376555" cy="62865"/>
          </a:xfrm>
        </p:grpSpPr>
        <p:sp>
          <p:nvSpPr>
            <p:cNvPr id="18" name="object 18"/>
            <p:cNvSpPr/>
            <p:nvPr/>
          </p:nvSpPr>
          <p:spPr>
            <a:xfrm>
              <a:off x="3515092" y="1796732"/>
              <a:ext cx="322580" cy="0"/>
            </a:xfrm>
            <a:custGeom>
              <a:avLst/>
              <a:gdLst/>
              <a:ahLst/>
              <a:cxnLst/>
              <a:rect l="l" t="t" r="r" b="b"/>
              <a:pathLst>
                <a:path w="322579">
                  <a:moveTo>
                    <a:pt x="0" y="0"/>
                  </a:moveTo>
                  <a:lnTo>
                    <a:pt x="322404" y="0"/>
                  </a:lnTo>
                </a:path>
              </a:pathLst>
            </a:custGeom>
            <a:ln w="10122">
              <a:solidFill>
                <a:srgbClr val="787878"/>
              </a:solidFill>
            </a:ln>
          </p:spPr>
          <p:txBody>
            <a:bodyPr wrap="square" lIns="0" tIns="0" rIns="0" bIns="0" rtlCol="0"/>
            <a:lstStyle/>
            <a:p>
              <a:endParaRPr/>
            </a:p>
          </p:txBody>
        </p:sp>
        <p:sp>
          <p:nvSpPr>
            <p:cNvPr id="19" name="object 19"/>
            <p:cNvSpPr/>
            <p:nvPr/>
          </p:nvSpPr>
          <p:spPr>
            <a:xfrm>
              <a:off x="3817106" y="1770522"/>
              <a:ext cx="69850" cy="52705"/>
            </a:xfrm>
            <a:custGeom>
              <a:avLst/>
              <a:gdLst/>
              <a:ahLst/>
              <a:cxnLst/>
              <a:rect l="l" t="t" r="r" b="b"/>
              <a:pathLst>
                <a:path w="69850" h="52705">
                  <a:moveTo>
                    <a:pt x="0" y="0"/>
                  </a:moveTo>
                  <a:lnTo>
                    <a:pt x="22920" y="26210"/>
                  </a:lnTo>
                  <a:lnTo>
                    <a:pt x="0" y="52420"/>
                  </a:lnTo>
                  <a:lnTo>
                    <a:pt x="69451" y="26210"/>
                  </a:lnTo>
                  <a:lnTo>
                    <a:pt x="0" y="0"/>
                  </a:lnTo>
                  <a:close/>
                </a:path>
              </a:pathLst>
            </a:custGeom>
            <a:solidFill>
              <a:srgbClr val="787878"/>
            </a:solidFill>
          </p:spPr>
          <p:txBody>
            <a:bodyPr wrap="square" lIns="0" tIns="0" rIns="0" bIns="0" rtlCol="0"/>
            <a:lstStyle/>
            <a:p>
              <a:endParaRPr/>
            </a:p>
          </p:txBody>
        </p:sp>
        <p:sp>
          <p:nvSpPr>
            <p:cNvPr id="20" name="object 20"/>
            <p:cNvSpPr/>
            <p:nvPr/>
          </p:nvSpPr>
          <p:spPr>
            <a:xfrm>
              <a:off x="3817106" y="1770522"/>
              <a:ext cx="69850" cy="52705"/>
            </a:xfrm>
            <a:custGeom>
              <a:avLst/>
              <a:gdLst/>
              <a:ahLst/>
              <a:cxnLst/>
              <a:rect l="l" t="t" r="r" b="b"/>
              <a:pathLst>
                <a:path w="69850" h="52705">
                  <a:moveTo>
                    <a:pt x="69451" y="26210"/>
                  </a:moveTo>
                  <a:lnTo>
                    <a:pt x="0" y="0"/>
                  </a:lnTo>
                  <a:lnTo>
                    <a:pt x="22920" y="26210"/>
                  </a:lnTo>
                  <a:lnTo>
                    <a:pt x="0" y="52420"/>
                  </a:lnTo>
                  <a:lnTo>
                    <a:pt x="69451" y="26210"/>
                  </a:lnTo>
                  <a:close/>
                </a:path>
              </a:pathLst>
            </a:custGeom>
            <a:ln w="10122">
              <a:solidFill>
                <a:srgbClr val="787878"/>
              </a:solidFill>
            </a:ln>
          </p:spPr>
          <p:txBody>
            <a:bodyPr wrap="square" lIns="0" tIns="0" rIns="0" bIns="0" rtlCol="0"/>
            <a:lstStyle/>
            <a:p>
              <a:endParaRPr/>
            </a:p>
          </p:txBody>
        </p:sp>
      </p:grpSp>
      <p:grpSp>
        <p:nvGrpSpPr>
          <p:cNvPr id="21" name="object 21"/>
          <p:cNvGrpSpPr/>
          <p:nvPr/>
        </p:nvGrpSpPr>
        <p:grpSpPr>
          <a:xfrm>
            <a:off x="4504769" y="1327027"/>
            <a:ext cx="62865" cy="231140"/>
            <a:chOff x="4504769" y="1327027"/>
            <a:chExt cx="62865" cy="231140"/>
          </a:xfrm>
        </p:grpSpPr>
        <p:sp>
          <p:nvSpPr>
            <p:cNvPr id="22" name="object 22"/>
            <p:cNvSpPr/>
            <p:nvPr/>
          </p:nvSpPr>
          <p:spPr>
            <a:xfrm>
              <a:off x="4536040" y="1381149"/>
              <a:ext cx="0" cy="176530"/>
            </a:xfrm>
            <a:custGeom>
              <a:avLst/>
              <a:gdLst/>
              <a:ahLst/>
              <a:cxnLst/>
              <a:rect l="l" t="t" r="r" b="b"/>
              <a:pathLst>
                <a:path h="176530">
                  <a:moveTo>
                    <a:pt x="0" y="176518"/>
                  </a:moveTo>
                  <a:lnTo>
                    <a:pt x="0" y="0"/>
                  </a:lnTo>
                </a:path>
              </a:pathLst>
            </a:custGeom>
            <a:ln w="10122">
              <a:solidFill>
                <a:srgbClr val="787878"/>
              </a:solidFill>
            </a:ln>
          </p:spPr>
          <p:txBody>
            <a:bodyPr wrap="square" lIns="0" tIns="0" rIns="0" bIns="0" rtlCol="0"/>
            <a:lstStyle/>
            <a:p>
              <a:endParaRPr/>
            </a:p>
          </p:txBody>
        </p:sp>
        <p:sp>
          <p:nvSpPr>
            <p:cNvPr id="23" name="object 23"/>
            <p:cNvSpPr/>
            <p:nvPr/>
          </p:nvSpPr>
          <p:spPr>
            <a:xfrm>
              <a:off x="4509830" y="1332088"/>
              <a:ext cx="52705" cy="69850"/>
            </a:xfrm>
            <a:custGeom>
              <a:avLst/>
              <a:gdLst/>
              <a:ahLst/>
              <a:cxnLst/>
              <a:rect l="l" t="t" r="r" b="b"/>
              <a:pathLst>
                <a:path w="52704" h="69850">
                  <a:moveTo>
                    <a:pt x="0" y="69451"/>
                  </a:moveTo>
                  <a:lnTo>
                    <a:pt x="26210" y="46530"/>
                  </a:lnTo>
                  <a:lnTo>
                    <a:pt x="52420" y="69451"/>
                  </a:lnTo>
                  <a:lnTo>
                    <a:pt x="26210" y="0"/>
                  </a:lnTo>
                  <a:lnTo>
                    <a:pt x="0" y="69451"/>
                  </a:lnTo>
                  <a:close/>
                </a:path>
              </a:pathLst>
            </a:custGeom>
            <a:solidFill>
              <a:srgbClr val="787878"/>
            </a:solidFill>
          </p:spPr>
          <p:txBody>
            <a:bodyPr wrap="square" lIns="0" tIns="0" rIns="0" bIns="0" rtlCol="0"/>
            <a:lstStyle/>
            <a:p>
              <a:endParaRPr/>
            </a:p>
          </p:txBody>
        </p:sp>
        <p:sp>
          <p:nvSpPr>
            <p:cNvPr id="24" name="object 24"/>
            <p:cNvSpPr/>
            <p:nvPr/>
          </p:nvSpPr>
          <p:spPr>
            <a:xfrm>
              <a:off x="4509830" y="1332088"/>
              <a:ext cx="52705" cy="69850"/>
            </a:xfrm>
            <a:custGeom>
              <a:avLst/>
              <a:gdLst/>
              <a:ahLst/>
              <a:cxnLst/>
              <a:rect l="l" t="t" r="r" b="b"/>
              <a:pathLst>
                <a:path w="52704" h="69850">
                  <a:moveTo>
                    <a:pt x="26210" y="0"/>
                  </a:moveTo>
                  <a:lnTo>
                    <a:pt x="0" y="69451"/>
                  </a:lnTo>
                  <a:lnTo>
                    <a:pt x="26210" y="46530"/>
                  </a:lnTo>
                  <a:lnTo>
                    <a:pt x="52420" y="69451"/>
                  </a:lnTo>
                  <a:lnTo>
                    <a:pt x="26210" y="0"/>
                  </a:lnTo>
                  <a:close/>
                </a:path>
              </a:pathLst>
            </a:custGeom>
            <a:ln w="10122">
              <a:solidFill>
                <a:srgbClr val="787878"/>
              </a:solidFill>
            </a:ln>
          </p:spPr>
          <p:txBody>
            <a:bodyPr wrap="square" lIns="0" tIns="0" rIns="0" bIns="0" rtlCol="0"/>
            <a:lstStyle/>
            <a:p>
              <a:endParaRPr/>
            </a:p>
          </p:txBody>
        </p:sp>
      </p:grpSp>
      <p:grpSp>
        <p:nvGrpSpPr>
          <p:cNvPr id="25" name="object 25"/>
          <p:cNvGrpSpPr/>
          <p:nvPr/>
        </p:nvGrpSpPr>
        <p:grpSpPr>
          <a:xfrm>
            <a:off x="2848751" y="2030735"/>
            <a:ext cx="1692910" cy="298450"/>
            <a:chOff x="2848751" y="2030735"/>
            <a:chExt cx="1692910" cy="298450"/>
          </a:xfrm>
        </p:grpSpPr>
        <p:sp>
          <p:nvSpPr>
            <p:cNvPr id="26" name="object 26"/>
            <p:cNvSpPr/>
            <p:nvPr/>
          </p:nvSpPr>
          <p:spPr>
            <a:xfrm>
              <a:off x="2880023" y="2035796"/>
              <a:ext cx="1656080" cy="288290"/>
            </a:xfrm>
            <a:custGeom>
              <a:avLst/>
              <a:gdLst/>
              <a:ahLst/>
              <a:cxnLst/>
              <a:rect l="l" t="t" r="r" b="b"/>
              <a:pathLst>
                <a:path w="1656079" h="288289">
                  <a:moveTo>
                    <a:pt x="1656017" y="0"/>
                  </a:moveTo>
                  <a:lnTo>
                    <a:pt x="1656017" y="288004"/>
                  </a:lnTo>
                  <a:lnTo>
                    <a:pt x="0" y="288004"/>
                  </a:lnTo>
                  <a:lnTo>
                    <a:pt x="0" y="63474"/>
                  </a:lnTo>
                </a:path>
              </a:pathLst>
            </a:custGeom>
            <a:ln w="10122">
              <a:solidFill>
                <a:srgbClr val="CC6600"/>
              </a:solidFill>
              <a:prstDash val="dash"/>
            </a:ln>
          </p:spPr>
          <p:txBody>
            <a:bodyPr wrap="square" lIns="0" tIns="0" rIns="0" bIns="0" rtlCol="0"/>
            <a:lstStyle/>
            <a:p>
              <a:endParaRPr/>
            </a:p>
          </p:txBody>
        </p:sp>
        <p:sp>
          <p:nvSpPr>
            <p:cNvPr id="27" name="object 27"/>
            <p:cNvSpPr/>
            <p:nvPr/>
          </p:nvSpPr>
          <p:spPr>
            <a:xfrm>
              <a:off x="2853812" y="2050210"/>
              <a:ext cx="52705" cy="69850"/>
            </a:xfrm>
            <a:custGeom>
              <a:avLst/>
              <a:gdLst/>
              <a:ahLst/>
              <a:cxnLst/>
              <a:rect l="l" t="t" r="r" b="b"/>
              <a:pathLst>
                <a:path w="52705" h="69850">
                  <a:moveTo>
                    <a:pt x="0" y="69451"/>
                  </a:moveTo>
                  <a:lnTo>
                    <a:pt x="26210" y="46530"/>
                  </a:lnTo>
                  <a:lnTo>
                    <a:pt x="52420" y="69451"/>
                  </a:lnTo>
                  <a:lnTo>
                    <a:pt x="26210" y="0"/>
                  </a:lnTo>
                  <a:lnTo>
                    <a:pt x="0" y="69451"/>
                  </a:lnTo>
                  <a:close/>
                </a:path>
              </a:pathLst>
            </a:custGeom>
            <a:solidFill>
              <a:srgbClr val="CC6600"/>
            </a:solidFill>
          </p:spPr>
          <p:txBody>
            <a:bodyPr wrap="square" lIns="0" tIns="0" rIns="0" bIns="0" rtlCol="0"/>
            <a:lstStyle/>
            <a:p>
              <a:endParaRPr/>
            </a:p>
          </p:txBody>
        </p:sp>
        <p:sp>
          <p:nvSpPr>
            <p:cNvPr id="28" name="object 28"/>
            <p:cNvSpPr/>
            <p:nvPr/>
          </p:nvSpPr>
          <p:spPr>
            <a:xfrm>
              <a:off x="2853812" y="2050210"/>
              <a:ext cx="52705" cy="69850"/>
            </a:xfrm>
            <a:custGeom>
              <a:avLst/>
              <a:gdLst/>
              <a:ahLst/>
              <a:cxnLst/>
              <a:rect l="l" t="t" r="r" b="b"/>
              <a:pathLst>
                <a:path w="52705" h="69850">
                  <a:moveTo>
                    <a:pt x="26210" y="0"/>
                  </a:moveTo>
                  <a:lnTo>
                    <a:pt x="0" y="69451"/>
                  </a:lnTo>
                  <a:lnTo>
                    <a:pt x="26210" y="46530"/>
                  </a:lnTo>
                  <a:lnTo>
                    <a:pt x="52420" y="69451"/>
                  </a:lnTo>
                  <a:lnTo>
                    <a:pt x="26210" y="0"/>
                  </a:lnTo>
                  <a:close/>
                </a:path>
              </a:pathLst>
            </a:custGeom>
            <a:ln w="10122">
              <a:solidFill>
                <a:srgbClr val="CC6600"/>
              </a:solidFill>
            </a:ln>
          </p:spPr>
          <p:txBody>
            <a:bodyPr wrap="square" lIns="0" tIns="0" rIns="0" bIns="0" rtlCol="0"/>
            <a:lstStyle/>
            <a:p>
              <a:endParaRPr/>
            </a:p>
          </p:txBody>
        </p:sp>
      </p:grpSp>
      <p:sp>
        <p:nvSpPr>
          <p:cNvPr id="29" name="object 29"/>
          <p:cNvSpPr txBox="1"/>
          <p:nvPr/>
        </p:nvSpPr>
        <p:spPr>
          <a:xfrm>
            <a:off x="3040760" y="2153160"/>
            <a:ext cx="1334770" cy="119905"/>
          </a:xfrm>
          <a:prstGeom prst="rect">
            <a:avLst/>
          </a:prstGeom>
        </p:spPr>
        <p:txBody>
          <a:bodyPr vert="horz" wrap="square" lIns="0" tIns="12065" rIns="0" bIns="0" rtlCol="0">
            <a:spAutoFit/>
          </a:bodyPr>
          <a:lstStyle/>
          <a:p>
            <a:pPr marL="12700">
              <a:lnSpc>
                <a:spcPct val="100000"/>
              </a:lnSpc>
              <a:spcBef>
                <a:spcPts val="95"/>
              </a:spcBef>
            </a:pPr>
            <a:r>
              <a:rPr sz="700" spc="-25" dirty="0">
                <a:solidFill>
                  <a:srgbClr val="CD6600"/>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事后反思闭环</a:t>
            </a:r>
            <a:r>
              <a:rPr sz="700" dirty="0">
                <a:solidFill>
                  <a:srgbClr val="CD6600"/>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 (Reflexion Update)</a:t>
            </a:r>
            <a:endParaRPr sz="70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endParaRPr>
          </a:p>
        </p:txBody>
      </p:sp>
      <p:sp>
        <p:nvSpPr>
          <p:cNvPr id="30" name="object 30"/>
          <p:cNvSpPr/>
          <p:nvPr/>
        </p:nvSpPr>
        <p:spPr>
          <a:xfrm>
            <a:off x="527316" y="2833700"/>
            <a:ext cx="0" cy="45085"/>
          </a:xfrm>
          <a:custGeom>
            <a:avLst/>
            <a:gdLst/>
            <a:ahLst/>
            <a:cxnLst/>
            <a:rect l="l" t="t" r="r" b="b"/>
            <a:pathLst>
              <a:path h="45085">
                <a:moveTo>
                  <a:pt x="0" y="44945"/>
                </a:moveTo>
                <a:lnTo>
                  <a:pt x="0" y="0"/>
                </a:lnTo>
              </a:path>
            </a:pathLst>
          </a:custGeom>
          <a:ln w="44941">
            <a:solidFill>
              <a:srgbClr val="17499E"/>
            </a:solidFill>
          </a:ln>
        </p:spPr>
        <p:txBody>
          <a:bodyPr wrap="square" lIns="0" tIns="0" rIns="0" bIns="0" rtlCol="0"/>
          <a:lstStyle/>
          <a:p>
            <a:endParaRPr/>
          </a:p>
        </p:txBody>
      </p:sp>
      <p:sp>
        <p:nvSpPr>
          <p:cNvPr id="31" name="object 31"/>
          <p:cNvSpPr txBox="1"/>
          <p:nvPr/>
        </p:nvSpPr>
        <p:spPr>
          <a:xfrm>
            <a:off x="600354" y="2739420"/>
            <a:ext cx="4749165" cy="166071"/>
          </a:xfrm>
          <a:prstGeom prst="rect">
            <a:avLst/>
          </a:prstGeom>
        </p:spPr>
        <p:txBody>
          <a:bodyPr vert="horz" wrap="square" lIns="0" tIns="12065" rIns="0" bIns="0" rtlCol="0">
            <a:spAutoFit/>
          </a:bodyPr>
          <a:lstStyle/>
          <a:p>
            <a:pPr marL="12700">
              <a:lnSpc>
                <a:spcPct val="100000"/>
              </a:lnSpc>
              <a:spcBef>
                <a:spcPts val="95"/>
              </a:spcBef>
            </a:pPr>
            <a:r>
              <a:rPr sz="1000" spc="-10" dirty="0">
                <a:solidFill>
                  <a:srgbClr val="1E1E1E"/>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不依赖模型直接生成动作，而是</a:t>
            </a:r>
            <a:r>
              <a:rPr sz="1000" b="1" dirty="0">
                <a:solidFill>
                  <a:srgbClr val="1E1E1E"/>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解构环境要素 </a:t>
            </a:r>
            <a:r>
              <a:rPr sz="1000" i="1" spc="35" dirty="0">
                <a:solidFill>
                  <a:srgbClr val="1E1E1E"/>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a:t>
            </a:r>
            <a:r>
              <a:rPr sz="1000" i="1" dirty="0">
                <a:solidFill>
                  <a:srgbClr val="1E1E1E"/>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 </a:t>
            </a:r>
            <a:r>
              <a:rPr sz="1000" b="1" dirty="0">
                <a:solidFill>
                  <a:srgbClr val="1E1E1E"/>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精准匹配知识 </a:t>
            </a:r>
            <a:r>
              <a:rPr sz="1000" i="1" spc="35" dirty="0">
                <a:solidFill>
                  <a:srgbClr val="1E1E1E"/>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a:t>
            </a:r>
            <a:r>
              <a:rPr sz="1000" i="1" dirty="0">
                <a:solidFill>
                  <a:srgbClr val="1E1E1E"/>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 </a:t>
            </a:r>
            <a:r>
              <a:rPr sz="1000" b="1" spc="-10" dirty="0">
                <a:solidFill>
                  <a:srgbClr val="1E1E1E"/>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末端实施硬拦截</a:t>
            </a:r>
            <a:r>
              <a:rPr sz="1000" spc="-50" dirty="0">
                <a:solidFill>
                  <a:srgbClr val="1E1E1E"/>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a:t>
            </a:r>
            <a:endParaRPr sz="100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endParaRPr>
          </a:p>
        </p:txBody>
      </p:sp>
      <p:sp>
        <p:nvSpPr>
          <p:cNvPr id="32" name="object 32"/>
          <p:cNvSpPr txBox="1">
            <a:spLocks noGrp="1"/>
          </p:cNvSpPr>
          <p:nvPr>
            <p:ph type="sldNum" sz="quarter" idx="7"/>
          </p:nvPr>
        </p:nvSpPr>
        <p:spPr>
          <a:xfrm>
            <a:off x="5478373" y="3112193"/>
            <a:ext cx="238125" cy="99386"/>
          </a:xfrm>
          <a:prstGeom prst="rect">
            <a:avLst/>
          </a:prstGeom>
        </p:spPr>
        <p:txBody>
          <a:bodyPr vert="horz" wrap="square" lIns="0" tIns="22225" rIns="0" bIns="0" rtlCol="0">
            <a:spAutoFit/>
          </a:bodyPr>
          <a:lstStyle/>
          <a:p>
            <a:pPr marL="12700">
              <a:lnSpc>
                <a:spcPct val="100000"/>
              </a:lnSpc>
              <a:spcBef>
                <a:spcPts val="175"/>
              </a:spcBef>
            </a:pPr>
            <a:fld id="{81D60167-4931-47E6-BA6A-407CBD079E47}" type="slidenum">
              <a:rPr dirty="0"/>
              <a:t>6</a:t>
            </a:fld>
            <a:r>
              <a:rPr dirty="0"/>
              <a:t> / 10</a:t>
            </a:r>
          </a:p>
        </p:txBody>
      </p:sp>
    </p:spTree>
  </p:cSld>
  <p:clrMapOvr>
    <a:masterClrMapping/>
  </p:clrMapOvr>
  <p:transition>
    <p:cut/>
  </p:transition>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347294" y="248879"/>
            <a:ext cx="4479290" cy="232756"/>
          </a:xfrm>
          <a:prstGeom prst="rect">
            <a:avLst/>
          </a:prstGeom>
        </p:spPr>
        <p:txBody>
          <a:bodyPr vert="horz" wrap="square" lIns="0" tIns="17145" rIns="0" bIns="0" rtlCol="0">
            <a:spAutoFit/>
          </a:bodyPr>
          <a:lstStyle/>
          <a:p>
            <a:pPr marL="12700">
              <a:lnSpc>
                <a:spcPct val="100000"/>
              </a:lnSpc>
              <a:spcBef>
                <a:spcPts val="135"/>
              </a:spcBef>
            </a:pPr>
            <a:r>
              <a:rPr dirty="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Layer 3: </a:t>
            </a:r>
            <a:r>
              <a:rPr b="1" spc="20" dirty="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末端动作门控</a:t>
            </a:r>
            <a:r>
              <a:rPr b="1" dirty="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 </a:t>
            </a:r>
            <a:r>
              <a:rPr dirty="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(Terminal Action Safety Gate)</a:t>
            </a:r>
          </a:p>
        </p:txBody>
      </p:sp>
      <p:sp>
        <p:nvSpPr>
          <p:cNvPr id="3" name="object 3"/>
          <p:cNvSpPr/>
          <p:nvPr/>
        </p:nvSpPr>
        <p:spPr>
          <a:xfrm>
            <a:off x="365061" y="626541"/>
            <a:ext cx="5040630" cy="0"/>
          </a:xfrm>
          <a:custGeom>
            <a:avLst/>
            <a:gdLst/>
            <a:ahLst/>
            <a:cxnLst/>
            <a:rect l="l" t="t" r="r" b="b"/>
            <a:pathLst>
              <a:path w="5040630">
                <a:moveTo>
                  <a:pt x="0" y="0"/>
                </a:moveTo>
                <a:lnTo>
                  <a:pt x="5040064" y="0"/>
                </a:lnTo>
              </a:path>
            </a:pathLst>
          </a:custGeom>
          <a:ln w="10122">
            <a:solidFill>
              <a:srgbClr val="BBBBBB"/>
            </a:solidFill>
          </a:ln>
        </p:spPr>
        <p:txBody>
          <a:bodyPr wrap="square" lIns="0" tIns="0" rIns="0" bIns="0" rtlCol="0"/>
          <a:lstStyle/>
          <a:p>
            <a:endParaRPr/>
          </a:p>
        </p:txBody>
      </p:sp>
      <p:sp>
        <p:nvSpPr>
          <p:cNvPr id="5" name="object 5"/>
          <p:cNvSpPr txBox="1"/>
          <p:nvPr/>
        </p:nvSpPr>
        <p:spPr>
          <a:xfrm>
            <a:off x="347294" y="745953"/>
            <a:ext cx="3947795" cy="166071"/>
          </a:xfrm>
          <a:prstGeom prst="rect">
            <a:avLst/>
          </a:prstGeom>
        </p:spPr>
        <p:txBody>
          <a:bodyPr vert="horz" wrap="square" lIns="0" tIns="12065" rIns="0" bIns="0" rtlCol="0">
            <a:spAutoFit/>
          </a:bodyPr>
          <a:lstStyle/>
          <a:p>
            <a:pPr marL="12700">
              <a:lnSpc>
                <a:spcPct val="100000"/>
              </a:lnSpc>
              <a:spcBef>
                <a:spcPts val="95"/>
              </a:spcBef>
            </a:pPr>
            <a:r>
              <a:rPr sz="1000" spc="-15" dirty="0" err="1">
                <a:solidFill>
                  <a:srgbClr val="1E1E1E"/>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将抽象的</a:t>
            </a:r>
            <a:r>
              <a:rPr lang="zh-CN" altLang="en-US" sz="1000" spc="-15" dirty="0">
                <a:solidFill>
                  <a:srgbClr val="1E1E1E"/>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伦</a:t>
            </a:r>
            <a:r>
              <a:rPr sz="1000" spc="-15" dirty="0" err="1">
                <a:solidFill>
                  <a:srgbClr val="1E1E1E"/>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理原则落为具体的工程约束机制，按风险等级执行硬干预</a:t>
            </a:r>
            <a:r>
              <a:rPr sz="1000" spc="-15" dirty="0">
                <a:solidFill>
                  <a:srgbClr val="1E1E1E"/>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a:t>
            </a:r>
            <a:endParaRPr sz="1000" dirty="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endParaRPr>
          </a:p>
        </p:txBody>
      </p:sp>
      <p:sp>
        <p:nvSpPr>
          <p:cNvPr id="6" name="object 6"/>
          <p:cNvSpPr/>
          <p:nvPr/>
        </p:nvSpPr>
        <p:spPr>
          <a:xfrm>
            <a:off x="765124" y="1177620"/>
            <a:ext cx="4230370" cy="0"/>
          </a:xfrm>
          <a:custGeom>
            <a:avLst/>
            <a:gdLst/>
            <a:ahLst/>
            <a:cxnLst/>
            <a:rect l="l" t="t" r="r" b="b"/>
            <a:pathLst>
              <a:path w="4230370">
                <a:moveTo>
                  <a:pt x="0" y="0"/>
                </a:moveTo>
                <a:lnTo>
                  <a:pt x="4229760" y="0"/>
                </a:lnTo>
              </a:path>
            </a:pathLst>
          </a:custGeom>
          <a:ln w="10121">
            <a:solidFill>
              <a:srgbClr val="1E1E1E"/>
            </a:solidFill>
          </a:ln>
        </p:spPr>
        <p:txBody>
          <a:bodyPr wrap="square" lIns="0" tIns="0" rIns="0" bIns="0" rtlCol="0"/>
          <a:lstStyle/>
          <a:p>
            <a:endParaRPr/>
          </a:p>
        </p:txBody>
      </p:sp>
      <p:sp>
        <p:nvSpPr>
          <p:cNvPr id="7" name="object 7"/>
          <p:cNvSpPr txBox="1"/>
          <p:nvPr/>
        </p:nvSpPr>
        <p:spPr>
          <a:xfrm>
            <a:off x="752424" y="1218138"/>
            <a:ext cx="531495" cy="166071"/>
          </a:xfrm>
          <a:prstGeom prst="rect">
            <a:avLst/>
          </a:prstGeom>
        </p:spPr>
        <p:txBody>
          <a:bodyPr vert="horz" wrap="square" lIns="0" tIns="12065" rIns="0" bIns="0" rtlCol="0">
            <a:spAutoFit/>
          </a:bodyPr>
          <a:lstStyle/>
          <a:p>
            <a:pPr marL="12700">
              <a:lnSpc>
                <a:spcPct val="100000"/>
              </a:lnSpc>
              <a:spcBef>
                <a:spcPts val="95"/>
              </a:spcBef>
            </a:pPr>
            <a:r>
              <a:rPr sz="1000" b="1" spc="-20" dirty="0">
                <a:solidFill>
                  <a:srgbClr val="1E1E1E"/>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风险等级</a:t>
            </a:r>
            <a:endParaRPr sz="100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endParaRPr>
          </a:p>
        </p:txBody>
      </p:sp>
      <p:sp>
        <p:nvSpPr>
          <p:cNvPr id="8" name="object 8"/>
          <p:cNvSpPr txBox="1"/>
          <p:nvPr/>
        </p:nvSpPr>
        <p:spPr>
          <a:xfrm>
            <a:off x="1410227" y="1218138"/>
            <a:ext cx="784860" cy="166071"/>
          </a:xfrm>
          <a:prstGeom prst="rect">
            <a:avLst/>
          </a:prstGeom>
        </p:spPr>
        <p:txBody>
          <a:bodyPr vert="horz" wrap="square" lIns="0" tIns="12065" rIns="0" bIns="0" rtlCol="0">
            <a:spAutoFit/>
          </a:bodyPr>
          <a:lstStyle/>
          <a:p>
            <a:pPr marL="12700">
              <a:lnSpc>
                <a:spcPct val="100000"/>
              </a:lnSpc>
              <a:spcBef>
                <a:spcPts val="95"/>
              </a:spcBef>
            </a:pPr>
            <a:r>
              <a:rPr sz="1000" b="1" spc="-20" dirty="0">
                <a:solidFill>
                  <a:srgbClr val="1E1E1E"/>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典型动作类型</a:t>
            </a:r>
            <a:endParaRPr sz="100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endParaRPr>
          </a:p>
        </p:txBody>
      </p:sp>
      <p:sp>
        <p:nvSpPr>
          <p:cNvPr id="9" name="object 9"/>
          <p:cNvSpPr txBox="1"/>
          <p:nvPr/>
        </p:nvSpPr>
        <p:spPr>
          <a:xfrm>
            <a:off x="3182188" y="1218138"/>
            <a:ext cx="784860" cy="166071"/>
          </a:xfrm>
          <a:prstGeom prst="rect">
            <a:avLst/>
          </a:prstGeom>
        </p:spPr>
        <p:txBody>
          <a:bodyPr vert="horz" wrap="square" lIns="0" tIns="12065" rIns="0" bIns="0" rtlCol="0">
            <a:spAutoFit/>
          </a:bodyPr>
          <a:lstStyle/>
          <a:p>
            <a:pPr marL="12700">
              <a:lnSpc>
                <a:spcPct val="100000"/>
              </a:lnSpc>
              <a:spcBef>
                <a:spcPts val="95"/>
              </a:spcBef>
            </a:pPr>
            <a:r>
              <a:rPr sz="1000" b="1" spc="-20" dirty="0">
                <a:solidFill>
                  <a:srgbClr val="1E1E1E"/>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系统控制策略</a:t>
            </a:r>
            <a:endParaRPr sz="100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endParaRPr>
          </a:p>
        </p:txBody>
      </p:sp>
      <p:sp>
        <p:nvSpPr>
          <p:cNvPr id="10" name="object 10"/>
          <p:cNvSpPr/>
          <p:nvPr/>
        </p:nvSpPr>
        <p:spPr>
          <a:xfrm>
            <a:off x="765124" y="1442211"/>
            <a:ext cx="4230370" cy="0"/>
          </a:xfrm>
          <a:custGeom>
            <a:avLst/>
            <a:gdLst/>
            <a:ahLst/>
            <a:cxnLst/>
            <a:rect l="l" t="t" r="r" b="b"/>
            <a:pathLst>
              <a:path w="4230370">
                <a:moveTo>
                  <a:pt x="0" y="0"/>
                </a:moveTo>
                <a:lnTo>
                  <a:pt x="4229760" y="0"/>
                </a:lnTo>
              </a:path>
            </a:pathLst>
          </a:custGeom>
          <a:ln w="6327">
            <a:solidFill>
              <a:srgbClr val="1E1E1E"/>
            </a:solidFill>
          </a:ln>
        </p:spPr>
        <p:txBody>
          <a:bodyPr wrap="square" lIns="0" tIns="0" rIns="0" bIns="0" rtlCol="0"/>
          <a:lstStyle/>
          <a:p>
            <a:endParaRPr/>
          </a:p>
        </p:txBody>
      </p:sp>
      <p:sp>
        <p:nvSpPr>
          <p:cNvPr id="11" name="object 11"/>
          <p:cNvSpPr txBox="1"/>
          <p:nvPr/>
        </p:nvSpPr>
        <p:spPr>
          <a:xfrm>
            <a:off x="752424" y="1480825"/>
            <a:ext cx="405130" cy="166071"/>
          </a:xfrm>
          <a:prstGeom prst="rect">
            <a:avLst/>
          </a:prstGeom>
        </p:spPr>
        <p:txBody>
          <a:bodyPr vert="horz" wrap="square" lIns="0" tIns="12065" rIns="0" bIns="0" rtlCol="0">
            <a:spAutoFit/>
          </a:bodyPr>
          <a:lstStyle/>
          <a:p>
            <a:pPr marL="12700">
              <a:lnSpc>
                <a:spcPct val="100000"/>
              </a:lnSpc>
              <a:spcBef>
                <a:spcPts val="95"/>
              </a:spcBef>
            </a:pPr>
            <a:r>
              <a:rPr sz="1000" b="1" spc="-25" dirty="0">
                <a:solidFill>
                  <a:srgbClr val="218A21"/>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低风险</a:t>
            </a:r>
            <a:endParaRPr sz="100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endParaRPr>
          </a:p>
        </p:txBody>
      </p:sp>
      <p:sp>
        <p:nvSpPr>
          <p:cNvPr id="12" name="object 12"/>
          <p:cNvSpPr txBox="1"/>
          <p:nvPr/>
        </p:nvSpPr>
        <p:spPr>
          <a:xfrm>
            <a:off x="1410347" y="1480825"/>
            <a:ext cx="1645920" cy="1243289"/>
          </a:xfrm>
          <a:prstGeom prst="rect">
            <a:avLst/>
          </a:prstGeom>
        </p:spPr>
        <p:txBody>
          <a:bodyPr vert="horz" wrap="square" lIns="0" tIns="12065" rIns="0" bIns="0" rtlCol="0">
            <a:spAutoFit/>
          </a:bodyPr>
          <a:lstStyle/>
          <a:p>
            <a:pPr marL="12700" marR="5080">
              <a:lnSpc>
                <a:spcPct val="100000"/>
              </a:lnSpc>
              <a:spcBef>
                <a:spcPts val="95"/>
              </a:spcBef>
            </a:pPr>
            <a:r>
              <a:rPr sz="1000" spc="-45" dirty="0">
                <a:solidFill>
                  <a:srgbClr val="1E1E1E"/>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搜索检索、内容摘要、普通问</a:t>
            </a:r>
            <a:r>
              <a:rPr sz="1000" spc="-50" dirty="0">
                <a:solidFill>
                  <a:srgbClr val="1E1E1E"/>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答</a:t>
            </a:r>
            <a:endParaRPr sz="100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endParaRPr>
          </a:p>
          <a:p>
            <a:pPr marL="12700" marR="5080">
              <a:lnSpc>
                <a:spcPct val="100000"/>
              </a:lnSpc>
              <a:spcBef>
                <a:spcPts val="350"/>
              </a:spcBef>
            </a:pPr>
            <a:r>
              <a:rPr sz="1000" spc="-45" dirty="0">
                <a:solidFill>
                  <a:srgbClr val="1E1E1E"/>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编写邮件、修改日程、填写表</a:t>
            </a:r>
            <a:r>
              <a:rPr sz="1000" spc="-50" dirty="0">
                <a:solidFill>
                  <a:srgbClr val="1E1E1E"/>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单</a:t>
            </a:r>
            <a:endParaRPr sz="100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endParaRPr>
          </a:p>
          <a:p>
            <a:pPr marL="12700" marR="5080">
              <a:lnSpc>
                <a:spcPct val="100000"/>
              </a:lnSpc>
              <a:spcBef>
                <a:spcPts val="350"/>
              </a:spcBef>
            </a:pPr>
            <a:r>
              <a:rPr sz="1000" spc="-45" dirty="0">
                <a:solidFill>
                  <a:srgbClr val="1E1E1E"/>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资金转账、删除数据、车辆控</a:t>
            </a:r>
            <a:r>
              <a:rPr sz="1000" spc="-50" dirty="0">
                <a:solidFill>
                  <a:srgbClr val="1E1E1E"/>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制</a:t>
            </a:r>
            <a:endParaRPr sz="100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endParaRPr>
          </a:p>
          <a:p>
            <a:pPr marL="12700">
              <a:lnSpc>
                <a:spcPct val="100000"/>
              </a:lnSpc>
              <a:spcBef>
                <a:spcPts val="350"/>
              </a:spcBef>
            </a:pPr>
            <a:r>
              <a:rPr sz="1000" spc="-45" dirty="0">
                <a:solidFill>
                  <a:srgbClr val="1E1E1E"/>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明显违法违规、绕过安全审核</a:t>
            </a:r>
            <a:endParaRPr sz="100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endParaRPr>
          </a:p>
        </p:txBody>
      </p:sp>
      <p:sp>
        <p:nvSpPr>
          <p:cNvPr id="13" name="object 13"/>
          <p:cNvSpPr txBox="1"/>
          <p:nvPr/>
        </p:nvSpPr>
        <p:spPr>
          <a:xfrm>
            <a:off x="3182188" y="1480825"/>
            <a:ext cx="1670685" cy="166071"/>
          </a:xfrm>
          <a:prstGeom prst="rect">
            <a:avLst/>
          </a:prstGeom>
        </p:spPr>
        <p:txBody>
          <a:bodyPr vert="horz" wrap="square" lIns="0" tIns="12065" rIns="0" bIns="0" rtlCol="0">
            <a:spAutoFit/>
          </a:bodyPr>
          <a:lstStyle/>
          <a:p>
            <a:pPr marL="12700">
              <a:lnSpc>
                <a:spcPct val="100000"/>
              </a:lnSpc>
              <a:spcBef>
                <a:spcPts val="95"/>
              </a:spcBef>
            </a:pPr>
            <a:r>
              <a:rPr sz="1000" b="1" spc="-10" dirty="0">
                <a:solidFill>
                  <a:srgbClr val="1E1E1E"/>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直接执行</a:t>
            </a:r>
            <a:r>
              <a:rPr sz="1000" spc="-15" dirty="0">
                <a:solidFill>
                  <a:srgbClr val="1E1E1E"/>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，后台保留审计日志</a:t>
            </a:r>
            <a:endParaRPr sz="100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endParaRPr>
          </a:p>
        </p:txBody>
      </p:sp>
      <p:sp>
        <p:nvSpPr>
          <p:cNvPr id="14" name="object 14"/>
          <p:cNvSpPr txBox="1"/>
          <p:nvPr/>
        </p:nvSpPr>
        <p:spPr>
          <a:xfrm>
            <a:off x="752424" y="1830036"/>
            <a:ext cx="405130" cy="166071"/>
          </a:xfrm>
          <a:prstGeom prst="rect">
            <a:avLst/>
          </a:prstGeom>
        </p:spPr>
        <p:txBody>
          <a:bodyPr vert="horz" wrap="square" lIns="0" tIns="12065" rIns="0" bIns="0" rtlCol="0">
            <a:spAutoFit/>
          </a:bodyPr>
          <a:lstStyle/>
          <a:p>
            <a:pPr marL="12700">
              <a:lnSpc>
                <a:spcPct val="100000"/>
              </a:lnSpc>
              <a:spcBef>
                <a:spcPts val="95"/>
              </a:spcBef>
            </a:pPr>
            <a:r>
              <a:rPr sz="1000" b="1" spc="-25" dirty="0">
                <a:solidFill>
                  <a:srgbClr val="CD6600"/>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中风险</a:t>
            </a:r>
            <a:endParaRPr sz="100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endParaRPr>
          </a:p>
        </p:txBody>
      </p:sp>
      <p:sp>
        <p:nvSpPr>
          <p:cNvPr id="15" name="object 15"/>
          <p:cNvSpPr txBox="1"/>
          <p:nvPr/>
        </p:nvSpPr>
        <p:spPr>
          <a:xfrm>
            <a:off x="3182188" y="1830036"/>
            <a:ext cx="1825625" cy="1028065"/>
          </a:xfrm>
          <a:prstGeom prst="rect">
            <a:avLst/>
          </a:prstGeom>
        </p:spPr>
        <p:txBody>
          <a:bodyPr vert="horz" wrap="square" lIns="0" tIns="12065" rIns="0" bIns="0" rtlCol="0">
            <a:spAutoFit/>
          </a:bodyPr>
          <a:lstStyle/>
          <a:p>
            <a:pPr marL="12700" marR="5080">
              <a:lnSpc>
                <a:spcPct val="100000"/>
              </a:lnSpc>
              <a:spcBef>
                <a:spcPts val="95"/>
              </a:spcBef>
            </a:pPr>
            <a:r>
              <a:rPr sz="1000" dirty="0">
                <a:solidFill>
                  <a:srgbClr val="1E1E1E"/>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执行前</a:t>
            </a:r>
            <a:r>
              <a:rPr sz="1000" b="1" spc="-5" dirty="0">
                <a:solidFill>
                  <a:srgbClr val="1E1E1E"/>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展示摘要</a:t>
            </a:r>
            <a:r>
              <a:rPr sz="1000" spc="-10" dirty="0">
                <a:solidFill>
                  <a:srgbClr val="1E1E1E"/>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，允许用户事后</a:t>
            </a:r>
            <a:r>
              <a:rPr sz="1000" spc="-30" dirty="0">
                <a:solidFill>
                  <a:srgbClr val="1E1E1E"/>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撤销</a:t>
            </a:r>
            <a:endParaRPr sz="100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endParaRPr>
          </a:p>
          <a:p>
            <a:pPr marL="12700" marR="5080">
              <a:lnSpc>
                <a:spcPct val="100000"/>
              </a:lnSpc>
              <a:spcBef>
                <a:spcPts val="350"/>
              </a:spcBef>
            </a:pPr>
            <a:r>
              <a:rPr sz="1000" b="1" spc="-5" dirty="0">
                <a:solidFill>
                  <a:srgbClr val="1E1E1E"/>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强制二次确认</a:t>
            </a:r>
            <a:r>
              <a:rPr sz="1000" spc="-10" dirty="0">
                <a:solidFill>
                  <a:srgbClr val="1E1E1E"/>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，或请求人工紧急</a:t>
            </a:r>
            <a:r>
              <a:rPr sz="1000" spc="-30" dirty="0">
                <a:solidFill>
                  <a:srgbClr val="1E1E1E"/>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接管</a:t>
            </a:r>
            <a:endParaRPr sz="100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endParaRPr>
          </a:p>
          <a:p>
            <a:pPr marL="12700" marR="5080">
              <a:lnSpc>
                <a:spcPct val="100000"/>
              </a:lnSpc>
              <a:spcBef>
                <a:spcPts val="350"/>
              </a:spcBef>
            </a:pPr>
            <a:r>
              <a:rPr sz="1000" b="1" spc="-5" dirty="0">
                <a:solidFill>
                  <a:srgbClr val="1E1E1E"/>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硬性拒绝</a:t>
            </a:r>
            <a:r>
              <a:rPr sz="1000" spc="-5" dirty="0">
                <a:solidFill>
                  <a:srgbClr val="1E1E1E"/>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，并向用户提供透明解</a:t>
            </a:r>
            <a:r>
              <a:rPr sz="1000" spc="-50" dirty="0">
                <a:solidFill>
                  <a:srgbClr val="1E1E1E"/>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释</a:t>
            </a:r>
            <a:endParaRPr sz="100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endParaRPr>
          </a:p>
        </p:txBody>
      </p:sp>
      <p:sp>
        <p:nvSpPr>
          <p:cNvPr id="16" name="object 16"/>
          <p:cNvSpPr txBox="1"/>
          <p:nvPr/>
        </p:nvSpPr>
        <p:spPr>
          <a:xfrm>
            <a:off x="752424" y="2179248"/>
            <a:ext cx="405130" cy="166071"/>
          </a:xfrm>
          <a:prstGeom prst="rect">
            <a:avLst/>
          </a:prstGeom>
        </p:spPr>
        <p:txBody>
          <a:bodyPr vert="horz" wrap="square" lIns="0" tIns="12065" rIns="0" bIns="0" rtlCol="0">
            <a:spAutoFit/>
          </a:bodyPr>
          <a:lstStyle/>
          <a:p>
            <a:pPr marL="12700">
              <a:lnSpc>
                <a:spcPct val="100000"/>
              </a:lnSpc>
              <a:spcBef>
                <a:spcPts val="95"/>
              </a:spcBef>
            </a:pPr>
            <a:r>
              <a:rPr sz="1000" b="1" spc="-25" dirty="0">
                <a:solidFill>
                  <a:srgbClr val="B12121"/>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高风险</a:t>
            </a:r>
            <a:endParaRPr sz="100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endParaRPr>
          </a:p>
        </p:txBody>
      </p:sp>
      <p:sp>
        <p:nvSpPr>
          <p:cNvPr id="17" name="object 17"/>
          <p:cNvSpPr txBox="1"/>
          <p:nvPr/>
        </p:nvSpPr>
        <p:spPr>
          <a:xfrm>
            <a:off x="752424" y="2528460"/>
            <a:ext cx="531495" cy="166071"/>
          </a:xfrm>
          <a:prstGeom prst="rect">
            <a:avLst/>
          </a:prstGeom>
        </p:spPr>
        <p:txBody>
          <a:bodyPr vert="horz" wrap="square" lIns="0" tIns="12065" rIns="0" bIns="0" rtlCol="0">
            <a:spAutoFit/>
          </a:bodyPr>
          <a:lstStyle/>
          <a:p>
            <a:pPr marL="12700">
              <a:lnSpc>
                <a:spcPct val="100000"/>
              </a:lnSpc>
              <a:spcBef>
                <a:spcPts val="95"/>
              </a:spcBef>
            </a:pPr>
            <a:r>
              <a:rPr sz="1000" b="1" spc="-20" dirty="0">
                <a:solidFill>
                  <a:srgbClr val="B12121"/>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禁止操作</a:t>
            </a:r>
            <a:endParaRPr sz="100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endParaRPr>
          </a:p>
        </p:txBody>
      </p:sp>
      <p:sp>
        <p:nvSpPr>
          <p:cNvPr id="18" name="object 18"/>
          <p:cNvSpPr/>
          <p:nvPr/>
        </p:nvSpPr>
        <p:spPr>
          <a:xfrm>
            <a:off x="765124" y="2906267"/>
            <a:ext cx="4230370" cy="0"/>
          </a:xfrm>
          <a:custGeom>
            <a:avLst/>
            <a:gdLst/>
            <a:ahLst/>
            <a:cxnLst/>
            <a:rect l="l" t="t" r="r" b="b"/>
            <a:pathLst>
              <a:path w="4230370">
                <a:moveTo>
                  <a:pt x="0" y="0"/>
                </a:moveTo>
                <a:lnTo>
                  <a:pt x="4229760" y="0"/>
                </a:lnTo>
              </a:path>
            </a:pathLst>
          </a:custGeom>
          <a:ln w="10121">
            <a:solidFill>
              <a:srgbClr val="1E1E1E"/>
            </a:solidFill>
          </a:ln>
        </p:spPr>
        <p:txBody>
          <a:bodyPr wrap="square" lIns="0" tIns="0" rIns="0" bIns="0" rtlCol="0"/>
          <a:lstStyle/>
          <a:p>
            <a:endParaRPr/>
          </a:p>
        </p:txBody>
      </p:sp>
      <p:sp>
        <p:nvSpPr>
          <p:cNvPr id="19" name="object 19"/>
          <p:cNvSpPr txBox="1">
            <a:spLocks noGrp="1"/>
          </p:cNvSpPr>
          <p:nvPr>
            <p:ph type="sldNum" sz="quarter" idx="7"/>
          </p:nvPr>
        </p:nvSpPr>
        <p:spPr>
          <a:xfrm>
            <a:off x="5478373" y="3112193"/>
            <a:ext cx="238125" cy="99386"/>
          </a:xfrm>
          <a:prstGeom prst="rect">
            <a:avLst/>
          </a:prstGeom>
        </p:spPr>
        <p:txBody>
          <a:bodyPr vert="horz" wrap="square" lIns="0" tIns="22225" rIns="0" bIns="0" rtlCol="0">
            <a:spAutoFit/>
          </a:bodyPr>
          <a:lstStyle/>
          <a:p>
            <a:pPr marL="12700">
              <a:lnSpc>
                <a:spcPct val="100000"/>
              </a:lnSpc>
              <a:spcBef>
                <a:spcPts val="175"/>
              </a:spcBef>
            </a:pPr>
            <a:fld id="{81D60167-4931-47E6-BA6A-407CBD079E47}" type="slidenum">
              <a:rPr dirty="0"/>
              <a:t>7</a:t>
            </a:fld>
            <a:r>
              <a:rPr dirty="0"/>
              <a:t> / 10</a:t>
            </a:r>
          </a:p>
        </p:txBody>
      </p:sp>
    </p:spTree>
  </p:cSld>
  <p:clrMapOvr>
    <a:masterClrMapping/>
  </p:clrMapOvr>
  <p:transition>
    <p:cut/>
  </p:transition>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347294" y="248879"/>
            <a:ext cx="3029585" cy="232756"/>
          </a:xfrm>
          <a:prstGeom prst="rect">
            <a:avLst/>
          </a:prstGeom>
        </p:spPr>
        <p:txBody>
          <a:bodyPr vert="horz" wrap="square" lIns="0" tIns="17145" rIns="0" bIns="0" rtlCol="0">
            <a:spAutoFit/>
          </a:bodyPr>
          <a:lstStyle/>
          <a:p>
            <a:pPr marL="12700">
              <a:lnSpc>
                <a:spcPct val="100000"/>
              </a:lnSpc>
              <a:spcBef>
                <a:spcPts val="135"/>
              </a:spcBef>
            </a:pPr>
            <a:r>
              <a:rPr b="1" spc="-30" dirty="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实证验证：</a:t>
            </a:r>
            <a:r>
              <a:rPr dirty="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Benchmark </a:t>
            </a:r>
            <a:r>
              <a:rPr b="1" spc="-10" dirty="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与多场景评估</a:t>
            </a:r>
          </a:p>
        </p:txBody>
      </p:sp>
      <p:sp>
        <p:nvSpPr>
          <p:cNvPr id="3" name="object 3"/>
          <p:cNvSpPr/>
          <p:nvPr/>
        </p:nvSpPr>
        <p:spPr>
          <a:xfrm>
            <a:off x="365061" y="626541"/>
            <a:ext cx="5040630" cy="0"/>
          </a:xfrm>
          <a:custGeom>
            <a:avLst/>
            <a:gdLst/>
            <a:ahLst/>
            <a:cxnLst/>
            <a:rect l="l" t="t" r="r" b="b"/>
            <a:pathLst>
              <a:path w="5040630">
                <a:moveTo>
                  <a:pt x="0" y="0"/>
                </a:moveTo>
                <a:lnTo>
                  <a:pt x="5040064" y="0"/>
                </a:lnTo>
              </a:path>
            </a:pathLst>
          </a:custGeom>
          <a:ln w="10122">
            <a:solidFill>
              <a:srgbClr val="BBBBBB"/>
            </a:solidFill>
          </a:ln>
        </p:spPr>
        <p:txBody>
          <a:bodyPr wrap="square" lIns="0" tIns="0" rIns="0" bIns="0" rtlCol="0"/>
          <a:lstStyle/>
          <a:p>
            <a:endParaRPr/>
          </a:p>
        </p:txBody>
      </p:sp>
      <p:sp>
        <p:nvSpPr>
          <p:cNvPr id="4" name="object 4"/>
          <p:cNvSpPr txBox="1"/>
          <p:nvPr/>
        </p:nvSpPr>
        <p:spPr>
          <a:xfrm>
            <a:off x="347294" y="719675"/>
            <a:ext cx="3947795" cy="437515"/>
          </a:xfrm>
          <a:prstGeom prst="rect">
            <a:avLst/>
          </a:prstGeom>
        </p:spPr>
        <p:txBody>
          <a:bodyPr vert="horz" wrap="square" lIns="0" tIns="12065" rIns="0" bIns="0" rtlCol="0">
            <a:spAutoFit/>
          </a:bodyPr>
          <a:lstStyle/>
          <a:p>
            <a:pPr marL="12700">
              <a:lnSpc>
                <a:spcPct val="100000"/>
              </a:lnSpc>
              <a:spcBef>
                <a:spcPts val="95"/>
              </a:spcBef>
            </a:pPr>
            <a:r>
              <a:rPr sz="1000" spc="-15" dirty="0">
                <a:solidFill>
                  <a:srgbClr val="1E1E1E"/>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方案在自动驾驶数据集与跨场景模拟中均表现出显著的风险消减能力。</a:t>
            </a:r>
            <a:endParaRPr sz="100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endParaRPr>
          </a:p>
          <a:p>
            <a:pPr marL="12700">
              <a:lnSpc>
                <a:spcPct val="100000"/>
              </a:lnSpc>
              <a:spcBef>
                <a:spcPts val="844"/>
              </a:spcBef>
            </a:pPr>
            <a:r>
              <a:rPr sz="1000" dirty="0">
                <a:solidFill>
                  <a:srgbClr val="1E1E1E"/>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1. </a:t>
            </a:r>
            <a:r>
              <a:rPr sz="1000" b="1" dirty="0">
                <a:solidFill>
                  <a:srgbClr val="1E1E1E"/>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自动驾驶仿真事故率 </a:t>
            </a:r>
            <a:r>
              <a:rPr sz="1000" dirty="0">
                <a:solidFill>
                  <a:srgbClr val="1E1E1E"/>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(Benchmark </a:t>
            </a:r>
            <a:r>
              <a:rPr sz="1000" b="1" spc="-10" dirty="0">
                <a:solidFill>
                  <a:srgbClr val="1E1E1E"/>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对比</a:t>
            </a:r>
            <a:r>
              <a:rPr sz="1000" dirty="0">
                <a:solidFill>
                  <a:srgbClr val="1E1E1E"/>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a:t>
            </a:r>
            <a:endParaRPr sz="100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endParaRPr>
          </a:p>
        </p:txBody>
      </p:sp>
      <p:sp>
        <p:nvSpPr>
          <p:cNvPr id="8" name="object 8"/>
          <p:cNvSpPr txBox="1">
            <a:spLocks noGrp="1"/>
          </p:cNvSpPr>
          <p:nvPr>
            <p:ph type="sldNum" sz="quarter" idx="7"/>
          </p:nvPr>
        </p:nvSpPr>
        <p:spPr>
          <a:xfrm>
            <a:off x="5478373" y="3112193"/>
            <a:ext cx="238125" cy="99386"/>
          </a:xfrm>
          <a:prstGeom prst="rect">
            <a:avLst/>
          </a:prstGeom>
        </p:spPr>
        <p:txBody>
          <a:bodyPr vert="horz" wrap="square" lIns="0" tIns="22225" rIns="0" bIns="0" rtlCol="0">
            <a:spAutoFit/>
          </a:bodyPr>
          <a:lstStyle/>
          <a:p>
            <a:pPr marL="12700">
              <a:lnSpc>
                <a:spcPct val="100000"/>
              </a:lnSpc>
              <a:spcBef>
                <a:spcPts val="175"/>
              </a:spcBef>
            </a:pPr>
            <a:fld id="{81D60167-4931-47E6-BA6A-407CBD079E47}" type="slidenum">
              <a:rPr dirty="0"/>
              <a:t>8</a:t>
            </a:fld>
            <a:r>
              <a:rPr dirty="0"/>
              <a:t> / 10</a:t>
            </a:r>
          </a:p>
        </p:txBody>
      </p:sp>
      <p:graphicFrame>
        <p:nvGraphicFramePr>
          <p:cNvPr id="5" name="object 5"/>
          <p:cNvGraphicFramePr>
            <a:graphicFrameLocks noGrp="1"/>
          </p:cNvGraphicFramePr>
          <p:nvPr>
            <p:extLst>
              <p:ext uri="{D42A27DB-BD31-4B8C-83A1-F6EECF244321}">
                <p14:modId xmlns:p14="http://schemas.microsoft.com/office/powerpoint/2010/main" val="3967801315"/>
              </p:ext>
            </p:extLst>
          </p:nvPr>
        </p:nvGraphicFramePr>
        <p:xfrm>
          <a:off x="533577" y="1295399"/>
          <a:ext cx="4704079" cy="588645"/>
        </p:xfrm>
        <a:graphic>
          <a:graphicData uri="http://schemas.openxmlformats.org/drawingml/2006/table">
            <a:tbl>
              <a:tblPr firstRow="1" bandRow="1">
                <a:tableStyleId>{2D5ABB26-0587-4C30-8999-92F81FD0307C}</a:tableStyleId>
              </a:tblPr>
              <a:tblGrid>
                <a:gridCol w="1877695">
                  <a:extLst>
                    <a:ext uri="{9D8B030D-6E8A-4147-A177-3AD203B41FA5}">
                      <a16:colId xmlns:a16="http://schemas.microsoft.com/office/drawing/2014/main" val="20000"/>
                    </a:ext>
                  </a:extLst>
                </a:gridCol>
                <a:gridCol w="2107564">
                  <a:extLst>
                    <a:ext uri="{9D8B030D-6E8A-4147-A177-3AD203B41FA5}">
                      <a16:colId xmlns:a16="http://schemas.microsoft.com/office/drawing/2014/main" val="20001"/>
                    </a:ext>
                  </a:extLst>
                </a:gridCol>
                <a:gridCol w="718820">
                  <a:extLst>
                    <a:ext uri="{9D8B030D-6E8A-4147-A177-3AD203B41FA5}">
                      <a16:colId xmlns:a16="http://schemas.microsoft.com/office/drawing/2014/main" val="20002"/>
                    </a:ext>
                  </a:extLst>
                </a:gridCol>
              </a:tblGrid>
              <a:tr h="218440">
                <a:tc>
                  <a:txBody>
                    <a:bodyPr/>
                    <a:lstStyle/>
                    <a:p>
                      <a:pPr>
                        <a:lnSpc>
                          <a:spcPct val="100000"/>
                        </a:lnSpc>
                        <a:spcBef>
                          <a:spcPts val="165"/>
                        </a:spcBef>
                        <a:tabLst>
                          <a:tab pos="887094" algn="l"/>
                        </a:tabLst>
                      </a:pPr>
                      <a:r>
                        <a:rPr sz="1000" b="1" spc="-10" dirty="0">
                          <a:solidFill>
                            <a:srgbClr val="1E1E1E"/>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基础模</a:t>
                      </a:r>
                      <a:r>
                        <a:rPr sz="1000" b="1" spc="-50" dirty="0">
                          <a:solidFill>
                            <a:srgbClr val="1E1E1E"/>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型</a:t>
                      </a:r>
                      <a:r>
                        <a:rPr sz="1000" b="1" dirty="0">
                          <a:solidFill>
                            <a:srgbClr val="1E1E1E"/>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	</a:t>
                      </a:r>
                      <a:r>
                        <a:rPr sz="1000" b="1" spc="-10" dirty="0">
                          <a:solidFill>
                            <a:srgbClr val="1E1E1E"/>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对照</a:t>
                      </a:r>
                      <a:r>
                        <a:rPr sz="1000" b="1" dirty="0">
                          <a:solidFill>
                            <a:srgbClr val="1E1E1E"/>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组</a:t>
                      </a:r>
                      <a:r>
                        <a:rPr sz="1000" b="1" spc="0" dirty="0">
                          <a:solidFill>
                            <a:srgbClr val="1E1E1E"/>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 </a:t>
                      </a:r>
                      <a:r>
                        <a:rPr sz="1000" spc="0" dirty="0">
                          <a:solidFill>
                            <a:srgbClr val="1E1E1E"/>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a:t>
                      </a:r>
                      <a:r>
                        <a:rPr sz="1000" b="1" spc="-10" dirty="0">
                          <a:solidFill>
                            <a:srgbClr val="1E1E1E"/>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仅经验</a:t>
                      </a:r>
                      <a:r>
                        <a:rPr sz="1000" spc="0" dirty="0">
                          <a:solidFill>
                            <a:srgbClr val="1E1E1E"/>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a:t>
                      </a:r>
                      <a:endParaRPr sz="1000" spc="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endParaRPr>
                    </a:p>
                  </a:txBody>
                  <a:tcPr marL="0" marR="0" marT="20955" marB="0">
                    <a:lnT w="12700">
                      <a:solidFill>
                        <a:srgbClr val="1E1E1E"/>
                      </a:solidFill>
                      <a:prstDash val="solid"/>
                    </a:lnT>
                    <a:lnB w="6350">
                      <a:solidFill>
                        <a:srgbClr val="1E1E1E"/>
                      </a:solidFill>
                      <a:prstDash val="solid"/>
                    </a:lnB>
                  </a:tcPr>
                </a:tc>
                <a:tc>
                  <a:txBody>
                    <a:bodyPr/>
                    <a:lstStyle/>
                    <a:p>
                      <a:pPr marL="75565">
                        <a:lnSpc>
                          <a:spcPct val="100000"/>
                        </a:lnSpc>
                        <a:spcBef>
                          <a:spcPts val="165"/>
                        </a:spcBef>
                      </a:pPr>
                      <a:r>
                        <a:rPr sz="1000" b="1" spc="15" dirty="0">
                          <a:solidFill>
                            <a:srgbClr val="1E1E1E"/>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增强组</a:t>
                      </a:r>
                      <a:r>
                        <a:rPr sz="1000" b="1" spc="0" dirty="0">
                          <a:solidFill>
                            <a:srgbClr val="1E1E1E"/>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 </a:t>
                      </a:r>
                      <a:r>
                        <a:rPr sz="1000" spc="0" dirty="0">
                          <a:solidFill>
                            <a:srgbClr val="1E1E1E"/>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(Safety Gate+Knowledge)</a:t>
                      </a:r>
                      <a:endParaRPr sz="1000" spc="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endParaRPr>
                    </a:p>
                  </a:txBody>
                  <a:tcPr marL="0" marR="0" marT="20955" marB="0">
                    <a:lnT w="12700">
                      <a:solidFill>
                        <a:srgbClr val="1E1E1E"/>
                      </a:solidFill>
                      <a:prstDash val="solid"/>
                    </a:lnT>
                    <a:lnB w="6350">
                      <a:solidFill>
                        <a:srgbClr val="1E1E1E"/>
                      </a:solidFill>
                      <a:prstDash val="solid"/>
                    </a:lnB>
                  </a:tcPr>
                </a:tc>
                <a:tc>
                  <a:txBody>
                    <a:bodyPr/>
                    <a:lstStyle/>
                    <a:p>
                      <a:pPr marL="75565" algn="ctr">
                        <a:lnSpc>
                          <a:spcPct val="100000"/>
                        </a:lnSpc>
                        <a:spcBef>
                          <a:spcPts val="165"/>
                        </a:spcBef>
                      </a:pPr>
                      <a:r>
                        <a:rPr sz="1000" b="1" spc="-20" dirty="0">
                          <a:solidFill>
                            <a:srgbClr val="1E1E1E"/>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事故率降幅</a:t>
                      </a:r>
                      <a:endParaRPr sz="100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endParaRPr>
                    </a:p>
                  </a:txBody>
                  <a:tcPr marL="0" marR="0" marT="20955" marB="0">
                    <a:lnT w="12700">
                      <a:solidFill>
                        <a:srgbClr val="1E1E1E"/>
                      </a:solidFill>
                      <a:prstDash val="solid"/>
                    </a:lnT>
                    <a:lnB w="6350">
                      <a:solidFill>
                        <a:srgbClr val="1E1E1E"/>
                      </a:solidFill>
                      <a:prstDash val="solid"/>
                    </a:lnB>
                  </a:tcPr>
                </a:tc>
                <a:extLst>
                  <a:ext uri="{0D108BD9-81ED-4DB2-BD59-A6C34878D82A}">
                    <a16:rowId xmlns:a16="http://schemas.microsoft.com/office/drawing/2014/main" val="10000"/>
                  </a:ext>
                </a:extLst>
              </a:tr>
              <a:tr h="168275">
                <a:tc>
                  <a:txBody>
                    <a:bodyPr/>
                    <a:lstStyle/>
                    <a:p>
                      <a:pPr>
                        <a:lnSpc>
                          <a:spcPts val="1075"/>
                        </a:lnSpc>
                        <a:spcBef>
                          <a:spcPts val="150"/>
                        </a:spcBef>
                        <a:tabLst>
                          <a:tab pos="887094" algn="l"/>
                        </a:tabLst>
                      </a:pPr>
                      <a:r>
                        <a:rPr sz="1000" spc="0" dirty="0">
                          <a:solidFill>
                            <a:srgbClr val="1E1E1E"/>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Llama3.3-70B</a:t>
                      </a:r>
                      <a:r>
                        <a:rPr sz="1000" dirty="0">
                          <a:solidFill>
                            <a:srgbClr val="1E1E1E"/>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	</a:t>
                      </a:r>
                      <a:r>
                        <a:rPr sz="1000" spc="-50" dirty="0">
                          <a:solidFill>
                            <a:srgbClr val="1E1E1E"/>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碰撞率</a:t>
                      </a:r>
                      <a:r>
                        <a:rPr sz="1000" spc="0" dirty="0">
                          <a:solidFill>
                            <a:srgbClr val="1E1E1E"/>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 18%</a:t>
                      </a:r>
                      <a:endParaRPr sz="1000" spc="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endParaRPr>
                    </a:p>
                  </a:txBody>
                  <a:tcPr marL="0" marR="0" marT="19050" marB="0">
                    <a:lnT w="6350">
                      <a:solidFill>
                        <a:srgbClr val="1E1E1E"/>
                      </a:solidFill>
                      <a:prstDash val="solid"/>
                    </a:lnT>
                  </a:tcPr>
                </a:tc>
                <a:tc>
                  <a:txBody>
                    <a:bodyPr/>
                    <a:lstStyle/>
                    <a:p>
                      <a:pPr marL="75565">
                        <a:lnSpc>
                          <a:spcPts val="1075"/>
                        </a:lnSpc>
                        <a:spcBef>
                          <a:spcPts val="150"/>
                        </a:spcBef>
                      </a:pPr>
                      <a:r>
                        <a:rPr sz="1000" spc="-50" dirty="0">
                          <a:solidFill>
                            <a:srgbClr val="1E1E1E"/>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碰撞率</a:t>
                      </a:r>
                      <a:r>
                        <a:rPr sz="1000" spc="0" dirty="0">
                          <a:solidFill>
                            <a:srgbClr val="1E1E1E"/>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 13%</a:t>
                      </a:r>
                      <a:endParaRPr sz="1000" spc="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endParaRPr>
                    </a:p>
                  </a:txBody>
                  <a:tcPr marL="0" marR="0" marT="19050" marB="0">
                    <a:lnT w="6350">
                      <a:solidFill>
                        <a:srgbClr val="1E1E1E"/>
                      </a:solidFill>
                      <a:prstDash val="solid"/>
                    </a:lnT>
                  </a:tcPr>
                </a:tc>
                <a:tc>
                  <a:txBody>
                    <a:bodyPr/>
                    <a:lstStyle/>
                    <a:p>
                      <a:pPr marL="75565" marR="3175" algn="ctr">
                        <a:lnSpc>
                          <a:spcPts val="1075"/>
                        </a:lnSpc>
                        <a:spcBef>
                          <a:spcPts val="150"/>
                        </a:spcBef>
                      </a:pPr>
                      <a:r>
                        <a:rPr sz="1000" i="1" dirty="0">
                          <a:solidFill>
                            <a:srgbClr val="218A21"/>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a:t>
                      </a:r>
                      <a:r>
                        <a:rPr sz="1000" i="1" spc="0" dirty="0">
                          <a:solidFill>
                            <a:srgbClr val="218A21"/>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 </a:t>
                      </a:r>
                      <a:r>
                        <a:rPr sz="1000" spc="0" dirty="0">
                          <a:solidFill>
                            <a:srgbClr val="218A21"/>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27.8%</a:t>
                      </a:r>
                      <a:endParaRPr sz="1000" spc="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endParaRPr>
                    </a:p>
                  </a:txBody>
                  <a:tcPr marL="0" marR="0" marT="19050" marB="0">
                    <a:lnT w="6350">
                      <a:solidFill>
                        <a:srgbClr val="1E1E1E"/>
                      </a:solidFill>
                      <a:prstDash val="solid"/>
                    </a:lnT>
                  </a:tcPr>
                </a:tc>
                <a:extLst>
                  <a:ext uri="{0D108BD9-81ED-4DB2-BD59-A6C34878D82A}">
                    <a16:rowId xmlns:a16="http://schemas.microsoft.com/office/drawing/2014/main" val="10001"/>
                  </a:ext>
                </a:extLst>
              </a:tr>
              <a:tr h="201930">
                <a:tc>
                  <a:txBody>
                    <a:bodyPr/>
                    <a:lstStyle/>
                    <a:p>
                      <a:pPr>
                        <a:lnSpc>
                          <a:spcPct val="100000"/>
                        </a:lnSpc>
                        <a:spcBef>
                          <a:spcPts val="15"/>
                        </a:spcBef>
                        <a:tabLst>
                          <a:tab pos="887094" algn="l"/>
                        </a:tabLst>
                      </a:pPr>
                      <a:r>
                        <a:rPr sz="1000" spc="0" dirty="0">
                          <a:solidFill>
                            <a:srgbClr val="1E1E1E"/>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DeepSeekR1</a:t>
                      </a:r>
                      <a:r>
                        <a:rPr sz="1000" dirty="0">
                          <a:solidFill>
                            <a:srgbClr val="1E1E1E"/>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	</a:t>
                      </a:r>
                      <a:r>
                        <a:rPr sz="1000" spc="-50" dirty="0">
                          <a:solidFill>
                            <a:srgbClr val="1E1E1E"/>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碰撞率</a:t>
                      </a:r>
                      <a:r>
                        <a:rPr sz="1000" spc="0" dirty="0">
                          <a:solidFill>
                            <a:srgbClr val="1E1E1E"/>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 16%</a:t>
                      </a:r>
                      <a:endParaRPr sz="1000" spc="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endParaRPr>
                    </a:p>
                  </a:txBody>
                  <a:tcPr marL="0" marR="0" marT="1905" marB="0">
                    <a:lnB w="12700">
                      <a:solidFill>
                        <a:srgbClr val="1E1E1E"/>
                      </a:solidFill>
                      <a:prstDash val="solid"/>
                    </a:lnB>
                  </a:tcPr>
                </a:tc>
                <a:tc>
                  <a:txBody>
                    <a:bodyPr/>
                    <a:lstStyle/>
                    <a:p>
                      <a:pPr marL="75565">
                        <a:lnSpc>
                          <a:spcPct val="100000"/>
                        </a:lnSpc>
                        <a:spcBef>
                          <a:spcPts val="15"/>
                        </a:spcBef>
                      </a:pPr>
                      <a:r>
                        <a:rPr sz="1000" spc="-50" dirty="0">
                          <a:solidFill>
                            <a:srgbClr val="1E1E1E"/>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碰撞率</a:t>
                      </a:r>
                      <a:r>
                        <a:rPr sz="1000" spc="0" dirty="0">
                          <a:solidFill>
                            <a:srgbClr val="1E1E1E"/>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 8%</a:t>
                      </a:r>
                      <a:endParaRPr sz="1000" spc="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endParaRPr>
                    </a:p>
                  </a:txBody>
                  <a:tcPr marL="0" marR="0" marT="1905" marB="0">
                    <a:lnB w="12700">
                      <a:solidFill>
                        <a:srgbClr val="1E1E1E"/>
                      </a:solidFill>
                      <a:prstDash val="solid"/>
                    </a:lnB>
                  </a:tcPr>
                </a:tc>
                <a:tc>
                  <a:txBody>
                    <a:bodyPr/>
                    <a:lstStyle/>
                    <a:p>
                      <a:pPr marL="75565" marR="3175" algn="ctr">
                        <a:lnSpc>
                          <a:spcPct val="100000"/>
                        </a:lnSpc>
                        <a:spcBef>
                          <a:spcPts val="15"/>
                        </a:spcBef>
                      </a:pPr>
                      <a:r>
                        <a:rPr sz="1000" i="1" dirty="0">
                          <a:solidFill>
                            <a:srgbClr val="218A21"/>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a:t>
                      </a:r>
                      <a:r>
                        <a:rPr sz="1000" i="1" spc="0" dirty="0">
                          <a:solidFill>
                            <a:srgbClr val="218A21"/>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 </a:t>
                      </a:r>
                      <a:r>
                        <a:rPr sz="1000" spc="0" dirty="0">
                          <a:solidFill>
                            <a:srgbClr val="218A21"/>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50.0%</a:t>
                      </a:r>
                      <a:endParaRPr sz="1000" spc="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endParaRPr>
                    </a:p>
                  </a:txBody>
                  <a:tcPr marL="0" marR="0" marT="1905" marB="0">
                    <a:lnB w="12700">
                      <a:solidFill>
                        <a:srgbClr val="1E1E1E"/>
                      </a:solidFill>
                      <a:prstDash val="solid"/>
                    </a:lnB>
                  </a:tcPr>
                </a:tc>
                <a:extLst>
                  <a:ext uri="{0D108BD9-81ED-4DB2-BD59-A6C34878D82A}">
                    <a16:rowId xmlns:a16="http://schemas.microsoft.com/office/drawing/2014/main" val="10002"/>
                  </a:ext>
                </a:extLst>
              </a:tr>
            </a:tbl>
          </a:graphicData>
        </a:graphic>
      </p:graphicFrame>
      <p:sp>
        <p:nvSpPr>
          <p:cNvPr id="6" name="object 6"/>
          <p:cNvSpPr txBox="1"/>
          <p:nvPr/>
        </p:nvSpPr>
        <p:spPr>
          <a:xfrm>
            <a:off x="347294" y="2060808"/>
            <a:ext cx="3067050" cy="166071"/>
          </a:xfrm>
          <a:prstGeom prst="rect">
            <a:avLst/>
          </a:prstGeom>
        </p:spPr>
        <p:txBody>
          <a:bodyPr vert="horz" wrap="square" lIns="0" tIns="12065" rIns="0" bIns="0" rtlCol="0">
            <a:spAutoFit/>
          </a:bodyPr>
          <a:lstStyle/>
          <a:p>
            <a:pPr marL="12700">
              <a:lnSpc>
                <a:spcPct val="100000"/>
              </a:lnSpc>
              <a:spcBef>
                <a:spcPts val="95"/>
              </a:spcBef>
            </a:pPr>
            <a:r>
              <a:rPr sz="1000" dirty="0">
                <a:solidFill>
                  <a:srgbClr val="1E1E1E"/>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2. </a:t>
            </a:r>
            <a:r>
              <a:rPr sz="1000" b="1" spc="-10" dirty="0">
                <a:solidFill>
                  <a:srgbClr val="1E1E1E"/>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开放环境多任务伦理风险拦截</a:t>
            </a:r>
            <a:r>
              <a:rPr sz="1000" b="1" dirty="0">
                <a:solidFill>
                  <a:srgbClr val="1E1E1E"/>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 </a:t>
            </a:r>
            <a:r>
              <a:rPr sz="1000" dirty="0">
                <a:solidFill>
                  <a:srgbClr val="1E1E1E"/>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(12 </a:t>
            </a:r>
            <a:r>
              <a:rPr sz="1000" b="1" spc="-10" dirty="0">
                <a:solidFill>
                  <a:srgbClr val="1E1E1E"/>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种高危场景模拟</a:t>
            </a:r>
            <a:r>
              <a:rPr sz="1000" dirty="0">
                <a:solidFill>
                  <a:srgbClr val="1E1E1E"/>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a:t>
            </a:r>
            <a:endParaRPr sz="100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endParaRPr>
          </a:p>
        </p:txBody>
      </p:sp>
      <p:graphicFrame>
        <p:nvGraphicFramePr>
          <p:cNvPr id="7" name="object 7"/>
          <p:cNvGraphicFramePr>
            <a:graphicFrameLocks noGrp="1"/>
          </p:cNvGraphicFramePr>
          <p:nvPr>
            <p:extLst>
              <p:ext uri="{D42A27DB-BD31-4B8C-83A1-F6EECF244321}">
                <p14:modId xmlns:p14="http://schemas.microsoft.com/office/powerpoint/2010/main" val="3127702531"/>
              </p:ext>
            </p:extLst>
          </p:nvPr>
        </p:nvGraphicFramePr>
        <p:xfrm>
          <a:off x="813206" y="2376715"/>
          <a:ext cx="4208144" cy="588645"/>
        </p:xfrm>
        <a:graphic>
          <a:graphicData uri="http://schemas.openxmlformats.org/drawingml/2006/table">
            <a:tbl>
              <a:tblPr firstRow="1" bandRow="1">
                <a:tableStyleId>{2D5ABB26-0587-4C30-8999-92F81FD0307C}</a:tableStyleId>
              </a:tblPr>
              <a:tblGrid>
                <a:gridCol w="1026794">
                  <a:extLst>
                    <a:ext uri="{9D8B030D-6E8A-4147-A177-3AD203B41FA5}">
                      <a16:colId xmlns:a16="http://schemas.microsoft.com/office/drawing/2014/main" val="20000"/>
                    </a:ext>
                  </a:extLst>
                </a:gridCol>
                <a:gridCol w="1308100">
                  <a:extLst>
                    <a:ext uri="{9D8B030D-6E8A-4147-A177-3AD203B41FA5}">
                      <a16:colId xmlns:a16="http://schemas.microsoft.com/office/drawing/2014/main" val="20001"/>
                    </a:ext>
                  </a:extLst>
                </a:gridCol>
                <a:gridCol w="911225">
                  <a:extLst>
                    <a:ext uri="{9D8B030D-6E8A-4147-A177-3AD203B41FA5}">
                      <a16:colId xmlns:a16="http://schemas.microsoft.com/office/drawing/2014/main" val="20002"/>
                    </a:ext>
                  </a:extLst>
                </a:gridCol>
                <a:gridCol w="962025">
                  <a:extLst>
                    <a:ext uri="{9D8B030D-6E8A-4147-A177-3AD203B41FA5}">
                      <a16:colId xmlns:a16="http://schemas.microsoft.com/office/drawing/2014/main" val="20003"/>
                    </a:ext>
                  </a:extLst>
                </a:gridCol>
              </a:tblGrid>
              <a:tr h="218440">
                <a:tc>
                  <a:txBody>
                    <a:bodyPr/>
                    <a:lstStyle/>
                    <a:p>
                      <a:pPr marR="67310">
                        <a:lnSpc>
                          <a:spcPct val="100000"/>
                        </a:lnSpc>
                        <a:spcBef>
                          <a:spcPts val="165"/>
                        </a:spcBef>
                      </a:pPr>
                      <a:r>
                        <a:rPr sz="1000" b="1" spc="-20" dirty="0">
                          <a:solidFill>
                            <a:srgbClr val="1E1E1E"/>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系统版本</a:t>
                      </a:r>
                      <a:endParaRPr sz="100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endParaRPr>
                    </a:p>
                  </a:txBody>
                  <a:tcPr marL="0" marR="0" marT="20955" marB="0">
                    <a:lnT w="12700">
                      <a:solidFill>
                        <a:srgbClr val="1E1E1E"/>
                      </a:solidFill>
                      <a:prstDash val="solid"/>
                    </a:lnT>
                    <a:lnB w="6350">
                      <a:solidFill>
                        <a:srgbClr val="1E1E1E"/>
                      </a:solidFill>
                      <a:prstDash val="solid"/>
                    </a:lnB>
                  </a:tcPr>
                </a:tc>
                <a:tc>
                  <a:txBody>
                    <a:bodyPr/>
                    <a:lstStyle/>
                    <a:p>
                      <a:pPr marL="346075">
                        <a:lnSpc>
                          <a:spcPct val="100000"/>
                        </a:lnSpc>
                        <a:spcBef>
                          <a:spcPts val="165"/>
                        </a:spcBef>
                      </a:pPr>
                      <a:r>
                        <a:rPr sz="1000" b="1" spc="-20" dirty="0">
                          <a:solidFill>
                            <a:srgbClr val="1E1E1E"/>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成功拦截高风险</a:t>
                      </a:r>
                      <a:endParaRPr sz="100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endParaRPr>
                    </a:p>
                  </a:txBody>
                  <a:tcPr marL="0" marR="0" marT="20955" marB="0">
                    <a:lnT w="12700">
                      <a:solidFill>
                        <a:srgbClr val="1E1E1E"/>
                      </a:solidFill>
                      <a:prstDash val="solid"/>
                    </a:lnT>
                    <a:lnB w="6350">
                      <a:solidFill>
                        <a:srgbClr val="1E1E1E"/>
                      </a:solidFill>
                      <a:prstDash val="solid"/>
                    </a:lnB>
                  </a:tcPr>
                </a:tc>
                <a:tc>
                  <a:txBody>
                    <a:bodyPr/>
                    <a:lstStyle/>
                    <a:p>
                      <a:pPr algn="ctr">
                        <a:lnSpc>
                          <a:spcPct val="100000"/>
                        </a:lnSpc>
                        <a:spcBef>
                          <a:spcPts val="165"/>
                        </a:spcBef>
                      </a:pPr>
                      <a:r>
                        <a:rPr sz="1000" b="1" spc="-20" dirty="0">
                          <a:solidFill>
                            <a:srgbClr val="1E1E1E"/>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错误放行危险</a:t>
                      </a:r>
                      <a:endParaRPr sz="100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endParaRPr>
                    </a:p>
                  </a:txBody>
                  <a:tcPr marL="0" marR="0" marT="20955" marB="0">
                    <a:lnT w="12700">
                      <a:solidFill>
                        <a:srgbClr val="1E1E1E"/>
                      </a:solidFill>
                      <a:prstDash val="solid"/>
                    </a:lnT>
                    <a:lnB w="6350">
                      <a:solidFill>
                        <a:srgbClr val="1E1E1E"/>
                      </a:solidFill>
                      <a:prstDash val="solid"/>
                    </a:lnB>
                  </a:tcPr>
                </a:tc>
                <a:tc>
                  <a:txBody>
                    <a:bodyPr/>
                    <a:lstStyle/>
                    <a:p>
                      <a:pPr marL="75565" algn="ctr">
                        <a:lnSpc>
                          <a:spcPct val="100000"/>
                        </a:lnSpc>
                        <a:spcBef>
                          <a:spcPts val="165"/>
                        </a:spcBef>
                      </a:pPr>
                      <a:r>
                        <a:rPr sz="1000" b="1" spc="-20" dirty="0">
                          <a:solidFill>
                            <a:srgbClr val="1E1E1E"/>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综合安全识别率</a:t>
                      </a:r>
                      <a:endParaRPr sz="100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endParaRPr>
                    </a:p>
                  </a:txBody>
                  <a:tcPr marL="0" marR="0" marT="20955" marB="0">
                    <a:lnT w="12700">
                      <a:solidFill>
                        <a:srgbClr val="1E1E1E"/>
                      </a:solidFill>
                      <a:prstDash val="solid"/>
                    </a:lnT>
                    <a:lnB w="6350">
                      <a:solidFill>
                        <a:srgbClr val="1E1E1E"/>
                      </a:solidFill>
                      <a:prstDash val="solid"/>
                    </a:lnB>
                  </a:tcPr>
                </a:tc>
                <a:extLst>
                  <a:ext uri="{0D108BD9-81ED-4DB2-BD59-A6C34878D82A}">
                    <a16:rowId xmlns:a16="http://schemas.microsoft.com/office/drawing/2014/main" val="10000"/>
                  </a:ext>
                </a:extLst>
              </a:tr>
              <a:tr h="169545">
                <a:tc>
                  <a:txBody>
                    <a:bodyPr/>
                    <a:lstStyle/>
                    <a:p>
                      <a:pPr marR="67310">
                        <a:lnSpc>
                          <a:spcPts val="1085"/>
                        </a:lnSpc>
                        <a:spcBef>
                          <a:spcPts val="150"/>
                        </a:spcBef>
                      </a:pPr>
                      <a:r>
                        <a:rPr sz="1000" spc="0" dirty="0">
                          <a:solidFill>
                            <a:srgbClr val="1E1E1E"/>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Base Agent</a:t>
                      </a:r>
                      <a:endParaRPr sz="1000" spc="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endParaRPr>
                    </a:p>
                  </a:txBody>
                  <a:tcPr marL="0" marR="0" marT="19050" marB="0">
                    <a:lnT w="6350">
                      <a:solidFill>
                        <a:srgbClr val="1E1E1E"/>
                      </a:solidFill>
                      <a:prstDash val="solid"/>
                    </a:lnT>
                  </a:tcPr>
                </a:tc>
                <a:tc>
                  <a:txBody>
                    <a:bodyPr/>
                    <a:lstStyle/>
                    <a:p>
                      <a:pPr marL="662305">
                        <a:lnSpc>
                          <a:spcPts val="1085"/>
                        </a:lnSpc>
                        <a:spcBef>
                          <a:spcPts val="150"/>
                        </a:spcBef>
                      </a:pPr>
                      <a:r>
                        <a:rPr sz="1000" spc="0" dirty="0">
                          <a:solidFill>
                            <a:srgbClr val="1E1E1E"/>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6/12</a:t>
                      </a:r>
                      <a:endParaRPr sz="1000" spc="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endParaRPr>
                    </a:p>
                  </a:txBody>
                  <a:tcPr marL="0" marR="0" marT="19050" marB="0">
                    <a:lnT w="6350">
                      <a:solidFill>
                        <a:srgbClr val="1E1E1E"/>
                      </a:solidFill>
                      <a:prstDash val="solid"/>
                    </a:lnT>
                  </a:tcPr>
                </a:tc>
                <a:tc>
                  <a:txBody>
                    <a:bodyPr/>
                    <a:lstStyle/>
                    <a:p>
                      <a:pPr algn="ctr">
                        <a:lnSpc>
                          <a:spcPts val="1085"/>
                        </a:lnSpc>
                        <a:spcBef>
                          <a:spcPts val="150"/>
                        </a:spcBef>
                      </a:pPr>
                      <a:r>
                        <a:rPr sz="1000" spc="0" dirty="0">
                          <a:solidFill>
                            <a:srgbClr val="1E1E1E"/>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6/12</a:t>
                      </a:r>
                      <a:endParaRPr sz="1000" spc="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endParaRPr>
                    </a:p>
                  </a:txBody>
                  <a:tcPr marL="0" marR="0" marT="19050" marB="0">
                    <a:lnT w="6350">
                      <a:solidFill>
                        <a:srgbClr val="1E1E1E"/>
                      </a:solidFill>
                      <a:prstDash val="solid"/>
                    </a:lnT>
                  </a:tcPr>
                </a:tc>
                <a:tc>
                  <a:txBody>
                    <a:bodyPr/>
                    <a:lstStyle/>
                    <a:p>
                      <a:pPr marL="75565" algn="ctr">
                        <a:lnSpc>
                          <a:spcPts val="1085"/>
                        </a:lnSpc>
                        <a:spcBef>
                          <a:spcPts val="150"/>
                        </a:spcBef>
                      </a:pPr>
                      <a:r>
                        <a:rPr sz="1000" spc="0" dirty="0">
                          <a:solidFill>
                            <a:srgbClr val="1E1E1E"/>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50.0%</a:t>
                      </a:r>
                      <a:endParaRPr sz="1000" spc="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endParaRPr>
                    </a:p>
                  </a:txBody>
                  <a:tcPr marL="0" marR="0" marT="19050" marB="0">
                    <a:lnT w="6350">
                      <a:solidFill>
                        <a:srgbClr val="1E1E1E"/>
                      </a:solidFill>
                      <a:prstDash val="solid"/>
                    </a:lnT>
                  </a:tcPr>
                </a:tc>
                <a:extLst>
                  <a:ext uri="{0D108BD9-81ED-4DB2-BD59-A6C34878D82A}">
                    <a16:rowId xmlns:a16="http://schemas.microsoft.com/office/drawing/2014/main" val="10001"/>
                  </a:ext>
                </a:extLst>
              </a:tr>
              <a:tr h="200660">
                <a:tc>
                  <a:txBody>
                    <a:bodyPr/>
                    <a:lstStyle/>
                    <a:p>
                      <a:pPr>
                        <a:lnSpc>
                          <a:spcPct val="100000"/>
                        </a:lnSpc>
                        <a:spcBef>
                          <a:spcPts val="5"/>
                        </a:spcBef>
                      </a:pPr>
                      <a:r>
                        <a:rPr sz="1000" spc="0" dirty="0">
                          <a:solidFill>
                            <a:srgbClr val="1E1E1E"/>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Safety Guard Age</a:t>
                      </a:r>
                      <a:endParaRPr sz="1000" spc="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endParaRPr>
                    </a:p>
                  </a:txBody>
                  <a:tcPr marL="0" marR="0" marT="635" marB="0">
                    <a:lnB w="12700">
                      <a:solidFill>
                        <a:srgbClr val="1E1E1E"/>
                      </a:solidFill>
                      <a:prstDash val="solid"/>
                    </a:lnB>
                  </a:tcPr>
                </a:tc>
                <a:tc>
                  <a:txBody>
                    <a:bodyPr/>
                    <a:lstStyle/>
                    <a:p>
                      <a:pPr marL="71755">
                        <a:lnSpc>
                          <a:spcPct val="100000"/>
                        </a:lnSpc>
                        <a:spcBef>
                          <a:spcPts val="5"/>
                        </a:spcBef>
                        <a:tabLst>
                          <a:tab pos="614680" algn="l"/>
                        </a:tabLst>
                      </a:pPr>
                      <a:r>
                        <a:rPr sz="1000" spc="0" dirty="0">
                          <a:solidFill>
                            <a:srgbClr val="1E1E1E"/>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nt</a:t>
                      </a:r>
                      <a:r>
                        <a:rPr sz="1000" dirty="0">
                          <a:solidFill>
                            <a:srgbClr val="1E1E1E"/>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	</a:t>
                      </a:r>
                      <a:r>
                        <a:rPr sz="1000" spc="0" dirty="0">
                          <a:solidFill>
                            <a:srgbClr val="218A21"/>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10/12</a:t>
                      </a:r>
                      <a:endParaRPr sz="1000" spc="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endParaRPr>
                    </a:p>
                  </a:txBody>
                  <a:tcPr marL="0" marR="0" marT="635" marB="0">
                    <a:lnB w="12700">
                      <a:solidFill>
                        <a:srgbClr val="1E1E1E"/>
                      </a:solidFill>
                      <a:prstDash val="solid"/>
                    </a:lnB>
                  </a:tcPr>
                </a:tc>
                <a:tc>
                  <a:txBody>
                    <a:bodyPr/>
                    <a:lstStyle/>
                    <a:p>
                      <a:pPr algn="ctr">
                        <a:lnSpc>
                          <a:spcPct val="100000"/>
                        </a:lnSpc>
                        <a:spcBef>
                          <a:spcPts val="5"/>
                        </a:spcBef>
                      </a:pPr>
                      <a:r>
                        <a:rPr sz="1000" spc="0" dirty="0">
                          <a:solidFill>
                            <a:srgbClr val="B12121"/>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2/12</a:t>
                      </a:r>
                      <a:endParaRPr sz="1000" spc="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endParaRPr>
                    </a:p>
                  </a:txBody>
                  <a:tcPr marL="0" marR="0" marT="635" marB="0">
                    <a:lnB w="12700">
                      <a:solidFill>
                        <a:srgbClr val="1E1E1E"/>
                      </a:solidFill>
                      <a:prstDash val="solid"/>
                    </a:lnB>
                  </a:tcPr>
                </a:tc>
                <a:tc>
                  <a:txBody>
                    <a:bodyPr/>
                    <a:lstStyle/>
                    <a:p>
                      <a:pPr marL="75565" algn="ctr">
                        <a:lnSpc>
                          <a:spcPct val="100000"/>
                        </a:lnSpc>
                        <a:spcBef>
                          <a:spcPts val="5"/>
                        </a:spcBef>
                      </a:pPr>
                      <a:r>
                        <a:rPr sz="1000" spc="0" dirty="0">
                          <a:solidFill>
                            <a:srgbClr val="218A21"/>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83.3%</a:t>
                      </a:r>
                      <a:endParaRPr sz="1000" spc="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endParaRPr>
                    </a:p>
                  </a:txBody>
                  <a:tcPr marL="0" marR="0" marT="635" marB="0">
                    <a:lnB w="12700">
                      <a:solidFill>
                        <a:srgbClr val="1E1E1E"/>
                      </a:solidFill>
                      <a:prstDash val="solid"/>
                    </a:lnB>
                  </a:tcPr>
                </a:tc>
                <a:extLst>
                  <a:ext uri="{0D108BD9-81ED-4DB2-BD59-A6C34878D82A}">
                    <a16:rowId xmlns:a16="http://schemas.microsoft.com/office/drawing/2014/main" val="10002"/>
                  </a:ext>
                </a:extLst>
              </a:tr>
            </a:tbl>
          </a:graphicData>
        </a:graphic>
      </p:graphicFrame>
    </p:spTree>
  </p:cSld>
  <p:clrMapOvr>
    <a:masterClrMapping/>
  </p:clrMapOvr>
  <p:transition>
    <p:cut/>
  </p:transition>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347294" y="248879"/>
            <a:ext cx="2394585" cy="232756"/>
          </a:xfrm>
          <a:prstGeom prst="rect">
            <a:avLst/>
          </a:prstGeom>
        </p:spPr>
        <p:txBody>
          <a:bodyPr vert="horz" wrap="square" lIns="0" tIns="17145" rIns="0" bIns="0" rtlCol="0">
            <a:spAutoFit/>
          </a:bodyPr>
          <a:lstStyle/>
          <a:p>
            <a:pPr marL="12700">
              <a:lnSpc>
                <a:spcPct val="100000"/>
              </a:lnSpc>
              <a:spcBef>
                <a:spcPts val="135"/>
              </a:spcBef>
            </a:pPr>
            <a:r>
              <a:rPr b="1" spc="-5" dirty="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核心创新：三大技术理念跨越</a:t>
            </a:r>
          </a:p>
        </p:txBody>
      </p:sp>
      <p:sp>
        <p:nvSpPr>
          <p:cNvPr id="3" name="object 3"/>
          <p:cNvSpPr/>
          <p:nvPr/>
        </p:nvSpPr>
        <p:spPr>
          <a:xfrm>
            <a:off x="365061" y="626541"/>
            <a:ext cx="5040630" cy="0"/>
          </a:xfrm>
          <a:custGeom>
            <a:avLst/>
            <a:gdLst/>
            <a:ahLst/>
            <a:cxnLst/>
            <a:rect l="l" t="t" r="r" b="b"/>
            <a:pathLst>
              <a:path w="5040630">
                <a:moveTo>
                  <a:pt x="0" y="0"/>
                </a:moveTo>
                <a:lnTo>
                  <a:pt x="5040064" y="0"/>
                </a:lnTo>
              </a:path>
            </a:pathLst>
          </a:custGeom>
          <a:ln w="10122">
            <a:solidFill>
              <a:srgbClr val="BBBBBB"/>
            </a:solidFill>
          </a:ln>
        </p:spPr>
        <p:txBody>
          <a:bodyPr wrap="square" lIns="0" tIns="0" rIns="0" bIns="0" rtlCol="0"/>
          <a:lstStyle/>
          <a:p>
            <a:endParaRPr/>
          </a:p>
        </p:txBody>
      </p:sp>
      <p:sp>
        <p:nvSpPr>
          <p:cNvPr id="4" name="object 4"/>
          <p:cNvSpPr txBox="1"/>
          <p:nvPr/>
        </p:nvSpPr>
        <p:spPr>
          <a:xfrm>
            <a:off x="347294" y="1097069"/>
            <a:ext cx="4327525" cy="166071"/>
          </a:xfrm>
          <a:prstGeom prst="rect">
            <a:avLst/>
          </a:prstGeom>
        </p:spPr>
        <p:txBody>
          <a:bodyPr vert="horz" wrap="square" lIns="0" tIns="12065" rIns="0" bIns="0" rtlCol="0">
            <a:spAutoFit/>
          </a:bodyPr>
          <a:lstStyle/>
          <a:p>
            <a:pPr marL="12700">
              <a:lnSpc>
                <a:spcPct val="100000"/>
              </a:lnSpc>
              <a:spcBef>
                <a:spcPts val="95"/>
              </a:spcBef>
            </a:pPr>
            <a:r>
              <a:rPr sz="1000" spc="-15" dirty="0">
                <a:solidFill>
                  <a:srgbClr val="1E1E1E"/>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本研究突破了传统“黑盒对齐”思路，实现了从抽象约束到工程落地的跨越：</a:t>
            </a:r>
            <a:endParaRPr sz="100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endParaRPr>
          </a:p>
        </p:txBody>
      </p:sp>
      <p:sp>
        <p:nvSpPr>
          <p:cNvPr id="8" name="object 8"/>
          <p:cNvSpPr txBox="1">
            <a:spLocks noGrp="1"/>
          </p:cNvSpPr>
          <p:nvPr>
            <p:ph type="sldNum" sz="quarter" idx="7"/>
          </p:nvPr>
        </p:nvSpPr>
        <p:spPr>
          <a:xfrm>
            <a:off x="5478373" y="3112193"/>
            <a:ext cx="238125" cy="99386"/>
          </a:xfrm>
          <a:prstGeom prst="rect">
            <a:avLst/>
          </a:prstGeom>
        </p:spPr>
        <p:txBody>
          <a:bodyPr vert="horz" wrap="square" lIns="0" tIns="22225" rIns="0" bIns="0" rtlCol="0">
            <a:spAutoFit/>
          </a:bodyPr>
          <a:lstStyle/>
          <a:p>
            <a:pPr marL="12700">
              <a:lnSpc>
                <a:spcPct val="100000"/>
              </a:lnSpc>
              <a:spcBef>
                <a:spcPts val="175"/>
              </a:spcBef>
            </a:pPr>
            <a:fld id="{81D60167-4931-47E6-BA6A-407CBD079E47}" type="slidenum">
              <a:rPr dirty="0"/>
              <a:t>9</a:t>
            </a:fld>
            <a:r>
              <a:rPr dirty="0"/>
              <a:t> / 10</a:t>
            </a:r>
          </a:p>
        </p:txBody>
      </p:sp>
      <p:sp>
        <p:nvSpPr>
          <p:cNvPr id="5" name="object 5"/>
          <p:cNvSpPr txBox="1"/>
          <p:nvPr/>
        </p:nvSpPr>
        <p:spPr>
          <a:xfrm>
            <a:off x="179895" y="1506010"/>
            <a:ext cx="1665605" cy="998219"/>
          </a:xfrm>
          <a:prstGeom prst="rect">
            <a:avLst/>
          </a:prstGeom>
        </p:spPr>
        <p:txBody>
          <a:bodyPr vert="horz" wrap="square" lIns="0" tIns="83820" rIns="0" bIns="0" rtlCol="0">
            <a:spAutoFit/>
          </a:bodyPr>
          <a:lstStyle/>
          <a:p>
            <a:pPr marL="12700">
              <a:lnSpc>
                <a:spcPct val="100000"/>
              </a:lnSpc>
              <a:spcBef>
                <a:spcPts val="660"/>
              </a:spcBef>
            </a:pPr>
            <a:r>
              <a:rPr sz="1000" dirty="0">
                <a:solidFill>
                  <a:srgbClr val="1E1E1E"/>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1. </a:t>
            </a:r>
            <a:r>
              <a:rPr sz="1000" b="1" spc="-20" dirty="0">
                <a:solidFill>
                  <a:srgbClr val="1E1E1E"/>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风险表征</a:t>
            </a:r>
            <a:endParaRPr sz="100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endParaRPr>
          </a:p>
          <a:p>
            <a:pPr marL="12700">
              <a:lnSpc>
                <a:spcPts val="1200"/>
              </a:lnSpc>
              <a:spcBef>
                <a:spcPts val="565"/>
              </a:spcBef>
            </a:pPr>
            <a:r>
              <a:rPr sz="1000" spc="-45" dirty="0">
                <a:solidFill>
                  <a:srgbClr val="787878"/>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从</a:t>
            </a:r>
            <a:r>
              <a:rPr sz="1000" dirty="0">
                <a:solidFill>
                  <a:srgbClr val="787878"/>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 </a:t>
            </a:r>
            <a:r>
              <a:rPr sz="1000" spc="-45" dirty="0">
                <a:solidFill>
                  <a:srgbClr val="787878"/>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盲目拟合海量数据</a:t>
            </a:r>
            <a:endParaRPr sz="100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endParaRPr>
          </a:p>
          <a:p>
            <a:pPr marL="12700">
              <a:lnSpc>
                <a:spcPts val="1200"/>
              </a:lnSpc>
            </a:pPr>
            <a:r>
              <a:rPr sz="1000" i="1" spc="50" dirty="0">
                <a:solidFill>
                  <a:srgbClr val="17499E"/>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a:t>
            </a:r>
            <a:r>
              <a:rPr sz="1000" i="1" dirty="0">
                <a:solidFill>
                  <a:srgbClr val="17499E"/>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 </a:t>
            </a:r>
            <a:r>
              <a:rPr sz="1000" b="1" spc="-15" dirty="0">
                <a:solidFill>
                  <a:srgbClr val="17499E"/>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到构建可迁移风险结构</a:t>
            </a:r>
            <a:endParaRPr sz="100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endParaRPr>
          </a:p>
          <a:p>
            <a:pPr marL="12700" marR="5080">
              <a:lnSpc>
                <a:spcPct val="110700"/>
              </a:lnSpc>
              <a:spcBef>
                <a:spcPts val="545"/>
              </a:spcBef>
            </a:pPr>
            <a:r>
              <a:rPr sz="900" dirty="0">
                <a:solidFill>
                  <a:srgbClr val="787878"/>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a:t>
            </a:r>
            <a:r>
              <a:rPr sz="900" spc="-15" dirty="0">
                <a:solidFill>
                  <a:srgbClr val="787878"/>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如将“自动驾驶避障逻辑”抽象</a:t>
            </a:r>
            <a:r>
              <a:rPr sz="900" spc="-10" dirty="0">
                <a:solidFill>
                  <a:srgbClr val="787878"/>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迁移至“</a:t>
            </a:r>
            <a:r>
              <a:rPr sz="900" dirty="0">
                <a:solidFill>
                  <a:srgbClr val="787878"/>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UI </a:t>
            </a:r>
            <a:r>
              <a:rPr sz="900" spc="-15" dirty="0">
                <a:solidFill>
                  <a:srgbClr val="787878"/>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操作防错逻辑”</a:t>
            </a:r>
            <a:r>
              <a:rPr sz="900" dirty="0">
                <a:solidFill>
                  <a:srgbClr val="787878"/>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a:t>
            </a:r>
            <a:endParaRPr sz="90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endParaRPr>
          </a:p>
        </p:txBody>
      </p:sp>
      <p:sp>
        <p:nvSpPr>
          <p:cNvPr id="6" name="object 6"/>
          <p:cNvSpPr txBox="1"/>
          <p:nvPr/>
        </p:nvSpPr>
        <p:spPr>
          <a:xfrm>
            <a:off x="2035695" y="1504258"/>
            <a:ext cx="1765300" cy="998219"/>
          </a:xfrm>
          <a:prstGeom prst="rect">
            <a:avLst/>
          </a:prstGeom>
        </p:spPr>
        <p:txBody>
          <a:bodyPr vert="horz" wrap="square" lIns="0" tIns="83820" rIns="0" bIns="0" rtlCol="0">
            <a:spAutoFit/>
          </a:bodyPr>
          <a:lstStyle/>
          <a:p>
            <a:pPr marL="12700">
              <a:lnSpc>
                <a:spcPct val="100000"/>
              </a:lnSpc>
              <a:spcBef>
                <a:spcPts val="660"/>
              </a:spcBef>
            </a:pPr>
            <a:r>
              <a:rPr sz="1000" dirty="0">
                <a:solidFill>
                  <a:srgbClr val="1E1E1E"/>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2. </a:t>
            </a:r>
            <a:r>
              <a:rPr sz="1000" b="1" spc="-20" dirty="0">
                <a:solidFill>
                  <a:srgbClr val="1E1E1E"/>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规则迭代</a:t>
            </a:r>
            <a:endParaRPr sz="100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endParaRPr>
          </a:p>
          <a:p>
            <a:pPr marL="12700">
              <a:lnSpc>
                <a:spcPts val="1200"/>
              </a:lnSpc>
              <a:spcBef>
                <a:spcPts val="565"/>
              </a:spcBef>
            </a:pPr>
            <a:r>
              <a:rPr sz="1000" spc="-45" dirty="0">
                <a:solidFill>
                  <a:srgbClr val="787878"/>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从</a:t>
            </a:r>
            <a:r>
              <a:rPr sz="1000" dirty="0">
                <a:solidFill>
                  <a:srgbClr val="787878"/>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 </a:t>
            </a:r>
            <a:r>
              <a:rPr sz="1000" spc="-45" dirty="0">
                <a:solidFill>
                  <a:srgbClr val="787878"/>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静态的事前防范规则库</a:t>
            </a:r>
            <a:endParaRPr sz="100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endParaRPr>
          </a:p>
          <a:p>
            <a:pPr marL="12700">
              <a:lnSpc>
                <a:spcPts val="1200"/>
              </a:lnSpc>
            </a:pPr>
            <a:r>
              <a:rPr sz="1000" i="1" spc="50" dirty="0">
                <a:solidFill>
                  <a:srgbClr val="17499E"/>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a:t>
            </a:r>
            <a:r>
              <a:rPr sz="1000" i="1" dirty="0">
                <a:solidFill>
                  <a:srgbClr val="17499E"/>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 </a:t>
            </a:r>
            <a:r>
              <a:rPr sz="1000" b="1" spc="-15" dirty="0">
                <a:solidFill>
                  <a:srgbClr val="17499E"/>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到事后反思更新闭环</a:t>
            </a:r>
            <a:endParaRPr sz="100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endParaRPr>
          </a:p>
          <a:p>
            <a:pPr marL="12700" marR="5080">
              <a:lnSpc>
                <a:spcPct val="110700"/>
              </a:lnSpc>
              <a:spcBef>
                <a:spcPts val="545"/>
              </a:spcBef>
            </a:pPr>
            <a:r>
              <a:rPr sz="900" dirty="0">
                <a:solidFill>
                  <a:srgbClr val="787878"/>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a:t>
            </a:r>
            <a:r>
              <a:rPr sz="900" spc="-30" dirty="0">
                <a:solidFill>
                  <a:srgbClr val="787878"/>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利用大模型总结</a:t>
            </a:r>
            <a:r>
              <a:rPr sz="900" dirty="0">
                <a:solidFill>
                  <a:srgbClr val="787878"/>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 Near-miss </a:t>
            </a:r>
            <a:r>
              <a:rPr sz="900" spc="-25" dirty="0">
                <a:solidFill>
                  <a:srgbClr val="787878"/>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事故，</a:t>
            </a:r>
            <a:r>
              <a:rPr sz="900" spc="-10" dirty="0">
                <a:solidFill>
                  <a:srgbClr val="787878"/>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自动化生成防御新知识</a:t>
            </a:r>
            <a:r>
              <a:rPr sz="900" dirty="0">
                <a:solidFill>
                  <a:srgbClr val="787878"/>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a:t>
            </a:r>
            <a:endParaRPr sz="90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endParaRPr>
          </a:p>
        </p:txBody>
      </p:sp>
      <p:sp>
        <p:nvSpPr>
          <p:cNvPr id="7" name="object 7"/>
          <p:cNvSpPr txBox="1"/>
          <p:nvPr/>
        </p:nvSpPr>
        <p:spPr>
          <a:xfrm>
            <a:off x="3891495" y="1506010"/>
            <a:ext cx="1665605" cy="998219"/>
          </a:xfrm>
          <a:prstGeom prst="rect">
            <a:avLst/>
          </a:prstGeom>
        </p:spPr>
        <p:txBody>
          <a:bodyPr vert="horz" wrap="square" lIns="0" tIns="83820" rIns="0" bIns="0" rtlCol="0">
            <a:spAutoFit/>
          </a:bodyPr>
          <a:lstStyle/>
          <a:p>
            <a:pPr marL="12700">
              <a:lnSpc>
                <a:spcPct val="100000"/>
              </a:lnSpc>
              <a:spcBef>
                <a:spcPts val="660"/>
              </a:spcBef>
            </a:pPr>
            <a:r>
              <a:rPr sz="1000" dirty="0">
                <a:solidFill>
                  <a:srgbClr val="1E1E1E"/>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3. </a:t>
            </a:r>
            <a:r>
              <a:rPr sz="1000" b="1" spc="-20" dirty="0">
                <a:solidFill>
                  <a:srgbClr val="1E1E1E"/>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防护体系</a:t>
            </a:r>
            <a:endParaRPr sz="100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endParaRPr>
          </a:p>
          <a:p>
            <a:pPr marL="12700">
              <a:lnSpc>
                <a:spcPts val="1200"/>
              </a:lnSpc>
              <a:spcBef>
                <a:spcPts val="565"/>
              </a:spcBef>
            </a:pPr>
            <a:r>
              <a:rPr sz="1000" spc="-45" dirty="0">
                <a:solidFill>
                  <a:srgbClr val="787878"/>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从</a:t>
            </a:r>
            <a:r>
              <a:rPr sz="1000" dirty="0">
                <a:solidFill>
                  <a:srgbClr val="787878"/>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 </a:t>
            </a:r>
            <a:r>
              <a:rPr sz="1000" spc="-45" dirty="0">
                <a:solidFill>
                  <a:srgbClr val="787878"/>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依赖单点模型价值观更迭</a:t>
            </a:r>
            <a:endParaRPr sz="100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endParaRPr>
          </a:p>
          <a:p>
            <a:pPr marL="12700">
              <a:lnSpc>
                <a:spcPts val="1200"/>
              </a:lnSpc>
            </a:pPr>
            <a:r>
              <a:rPr sz="1000" i="1" spc="50" dirty="0">
                <a:solidFill>
                  <a:srgbClr val="17499E"/>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a:t>
            </a:r>
            <a:r>
              <a:rPr sz="1000" i="1" dirty="0">
                <a:solidFill>
                  <a:srgbClr val="17499E"/>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 </a:t>
            </a:r>
            <a:r>
              <a:rPr sz="1000" b="1" spc="-15" dirty="0">
                <a:solidFill>
                  <a:srgbClr val="17499E"/>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到全链路系统级硬防护</a:t>
            </a:r>
            <a:endParaRPr sz="100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endParaRPr>
          </a:p>
          <a:p>
            <a:pPr marL="12700" marR="5080">
              <a:lnSpc>
                <a:spcPct val="110700"/>
              </a:lnSpc>
              <a:spcBef>
                <a:spcPts val="545"/>
              </a:spcBef>
            </a:pPr>
            <a:r>
              <a:rPr sz="900" dirty="0">
                <a:solidFill>
                  <a:srgbClr val="787878"/>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a:t>
            </a:r>
            <a:r>
              <a:rPr sz="900" spc="-15" dirty="0">
                <a:solidFill>
                  <a:srgbClr val="787878"/>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解耦环境识别、知识检索与动作</a:t>
            </a:r>
            <a:r>
              <a:rPr sz="900" spc="-10" dirty="0">
                <a:solidFill>
                  <a:srgbClr val="787878"/>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拦截，杜绝模型抽风</a:t>
            </a:r>
            <a:r>
              <a:rPr sz="900" dirty="0">
                <a:solidFill>
                  <a:srgbClr val="787878"/>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a:t>
            </a:r>
            <a:endParaRPr sz="90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endParaRPr>
          </a:p>
        </p:txBody>
      </p:sp>
    </p:spTree>
  </p:cSld>
  <p:clrMapOvr>
    <a:masterClrMapping/>
  </p:clrMapOvr>
  <p:transition>
    <p:cut/>
  </p:transition>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347294" y="248879"/>
            <a:ext cx="936625" cy="232756"/>
          </a:xfrm>
          <a:prstGeom prst="rect">
            <a:avLst/>
          </a:prstGeom>
        </p:spPr>
        <p:txBody>
          <a:bodyPr vert="horz" wrap="square" lIns="0" tIns="17145" rIns="0" bIns="0" rtlCol="0">
            <a:spAutoFit/>
          </a:bodyPr>
          <a:lstStyle/>
          <a:p>
            <a:pPr marL="12700">
              <a:lnSpc>
                <a:spcPct val="100000"/>
              </a:lnSpc>
              <a:spcBef>
                <a:spcPts val="135"/>
              </a:spcBef>
            </a:pPr>
            <a:r>
              <a:rPr b="1" spc="-10" dirty="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结论与展望</a:t>
            </a:r>
          </a:p>
        </p:txBody>
      </p:sp>
      <p:sp>
        <p:nvSpPr>
          <p:cNvPr id="3" name="object 3"/>
          <p:cNvSpPr/>
          <p:nvPr/>
        </p:nvSpPr>
        <p:spPr>
          <a:xfrm>
            <a:off x="365061" y="626541"/>
            <a:ext cx="5040630" cy="0"/>
          </a:xfrm>
          <a:custGeom>
            <a:avLst/>
            <a:gdLst/>
            <a:ahLst/>
            <a:cxnLst/>
            <a:rect l="l" t="t" r="r" b="b"/>
            <a:pathLst>
              <a:path w="5040630">
                <a:moveTo>
                  <a:pt x="0" y="0"/>
                </a:moveTo>
                <a:lnTo>
                  <a:pt x="5040064" y="0"/>
                </a:lnTo>
              </a:path>
            </a:pathLst>
          </a:custGeom>
          <a:ln w="10122">
            <a:solidFill>
              <a:srgbClr val="BBBBBB"/>
            </a:solidFill>
          </a:ln>
        </p:spPr>
        <p:txBody>
          <a:bodyPr wrap="square" lIns="0" tIns="0" rIns="0" bIns="0" rtlCol="0"/>
          <a:lstStyle/>
          <a:p>
            <a:endParaRPr/>
          </a:p>
        </p:txBody>
      </p:sp>
      <p:sp>
        <p:nvSpPr>
          <p:cNvPr id="4" name="object 4"/>
          <p:cNvSpPr/>
          <p:nvPr/>
        </p:nvSpPr>
        <p:spPr>
          <a:xfrm>
            <a:off x="527316" y="1197584"/>
            <a:ext cx="0" cy="45085"/>
          </a:xfrm>
          <a:custGeom>
            <a:avLst/>
            <a:gdLst/>
            <a:ahLst/>
            <a:cxnLst/>
            <a:rect l="l" t="t" r="r" b="b"/>
            <a:pathLst>
              <a:path h="45084">
                <a:moveTo>
                  <a:pt x="0" y="44945"/>
                </a:moveTo>
                <a:lnTo>
                  <a:pt x="0" y="0"/>
                </a:lnTo>
              </a:path>
            </a:pathLst>
          </a:custGeom>
          <a:ln w="44941">
            <a:solidFill>
              <a:srgbClr val="17499E"/>
            </a:solidFill>
          </a:ln>
        </p:spPr>
        <p:txBody>
          <a:bodyPr wrap="square" lIns="0" tIns="0" rIns="0" bIns="0" rtlCol="0"/>
          <a:lstStyle/>
          <a:p>
            <a:endParaRPr/>
          </a:p>
        </p:txBody>
      </p:sp>
      <p:sp>
        <p:nvSpPr>
          <p:cNvPr id="5" name="object 5"/>
          <p:cNvSpPr/>
          <p:nvPr/>
        </p:nvSpPr>
        <p:spPr>
          <a:xfrm>
            <a:off x="527316" y="1387373"/>
            <a:ext cx="0" cy="45085"/>
          </a:xfrm>
          <a:custGeom>
            <a:avLst/>
            <a:gdLst/>
            <a:ahLst/>
            <a:cxnLst/>
            <a:rect l="l" t="t" r="r" b="b"/>
            <a:pathLst>
              <a:path h="45084">
                <a:moveTo>
                  <a:pt x="0" y="44945"/>
                </a:moveTo>
                <a:lnTo>
                  <a:pt x="0" y="0"/>
                </a:lnTo>
              </a:path>
            </a:pathLst>
          </a:custGeom>
          <a:ln w="44941">
            <a:solidFill>
              <a:srgbClr val="17499E"/>
            </a:solidFill>
          </a:ln>
        </p:spPr>
        <p:txBody>
          <a:bodyPr wrap="square" lIns="0" tIns="0" rIns="0" bIns="0" rtlCol="0"/>
          <a:lstStyle/>
          <a:p>
            <a:endParaRPr/>
          </a:p>
        </p:txBody>
      </p:sp>
      <p:sp>
        <p:nvSpPr>
          <p:cNvPr id="6" name="object 6"/>
          <p:cNvSpPr/>
          <p:nvPr/>
        </p:nvSpPr>
        <p:spPr>
          <a:xfrm>
            <a:off x="527316" y="1728990"/>
            <a:ext cx="0" cy="45085"/>
          </a:xfrm>
          <a:custGeom>
            <a:avLst/>
            <a:gdLst/>
            <a:ahLst/>
            <a:cxnLst/>
            <a:rect l="l" t="t" r="r" b="b"/>
            <a:pathLst>
              <a:path h="45085">
                <a:moveTo>
                  <a:pt x="0" y="44945"/>
                </a:moveTo>
                <a:lnTo>
                  <a:pt x="0" y="0"/>
                </a:lnTo>
              </a:path>
            </a:pathLst>
          </a:custGeom>
          <a:ln w="44941">
            <a:solidFill>
              <a:srgbClr val="17499E"/>
            </a:solidFill>
          </a:ln>
        </p:spPr>
        <p:txBody>
          <a:bodyPr wrap="square" lIns="0" tIns="0" rIns="0" bIns="0" rtlCol="0"/>
          <a:lstStyle/>
          <a:p>
            <a:endParaRPr/>
          </a:p>
        </p:txBody>
      </p:sp>
      <p:pic>
        <p:nvPicPr>
          <p:cNvPr id="7" name="object 7"/>
          <p:cNvPicPr/>
          <p:nvPr/>
        </p:nvPicPr>
        <p:blipFill>
          <a:blip r:embed="rId3" cstate="print"/>
          <a:stretch>
            <a:fillRect/>
          </a:stretch>
        </p:blipFill>
        <p:spPr>
          <a:xfrm>
            <a:off x="1375379" y="1675510"/>
            <a:ext cx="120650" cy="117475"/>
          </a:xfrm>
          <a:prstGeom prst="rect">
            <a:avLst/>
          </a:prstGeom>
        </p:spPr>
      </p:pic>
      <p:sp>
        <p:nvSpPr>
          <p:cNvPr id="8" name="object 8"/>
          <p:cNvSpPr/>
          <p:nvPr/>
        </p:nvSpPr>
        <p:spPr>
          <a:xfrm>
            <a:off x="527316" y="2324569"/>
            <a:ext cx="0" cy="45085"/>
          </a:xfrm>
          <a:custGeom>
            <a:avLst/>
            <a:gdLst/>
            <a:ahLst/>
            <a:cxnLst/>
            <a:rect l="l" t="t" r="r" b="b"/>
            <a:pathLst>
              <a:path h="45085">
                <a:moveTo>
                  <a:pt x="0" y="44945"/>
                </a:moveTo>
                <a:lnTo>
                  <a:pt x="0" y="0"/>
                </a:lnTo>
              </a:path>
            </a:pathLst>
          </a:custGeom>
          <a:ln w="44941">
            <a:solidFill>
              <a:srgbClr val="17499E"/>
            </a:solidFill>
          </a:ln>
        </p:spPr>
        <p:txBody>
          <a:bodyPr wrap="square" lIns="0" tIns="0" rIns="0" bIns="0" rtlCol="0"/>
          <a:lstStyle/>
          <a:p>
            <a:endParaRPr/>
          </a:p>
        </p:txBody>
      </p:sp>
      <p:sp>
        <p:nvSpPr>
          <p:cNvPr id="9" name="object 9"/>
          <p:cNvSpPr/>
          <p:nvPr/>
        </p:nvSpPr>
        <p:spPr>
          <a:xfrm>
            <a:off x="527316" y="2514358"/>
            <a:ext cx="0" cy="45085"/>
          </a:xfrm>
          <a:custGeom>
            <a:avLst/>
            <a:gdLst/>
            <a:ahLst/>
            <a:cxnLst/>
            <a:rect l="l" t="t" r="r" b="b"/>
            <a:pathLst>
              <a:path h="45085">
                <a:moveTo>
                  <a:pt x="0" y="44945"/>
                </a:moveTo>
                <a:lnTo>
                  <a:pt x="0" y="0"/>
                </a:lnTo>
              </a:path>
            </a:pathLst>
          </a:custGeom>
          <a:ln w="44941">
            <a:solidFill>
              <a:srgbClr val="17499E"/>
            </a:solidFill>
          </a:ln>
        </p:spPr>
        <p:txBody>
          <a:bodyPr wrap="square" lIns="0" tIns="0" rIns="0" bIns="0" rtlCol="0"/>
          <a:lstStyle/>
          <a:p>
            <a:endParaRPr/>
          </a:p>
        </p:txBody>
      </p:sp>
      <p:sp>
        <p:nvSpPr>
          <p:cNvPr id="10" name="object 10"/>
          <p:cNvSpPr txBox="1">
            <a:spLocks noGrp="1"/>
          </p:cNvSpPr>
          <p:nvPr>
            <p:ph type="body" idx="1"/>
          </p:nvPr>
        </p:nvSpPr>
        <p:spPr>
          <a:xfrm>
            <a:off x="347294" y="826482"/>
            <a:ext cx="5066030" cy="1921219"/>
          </a:xfrm>
          <a:prstGeom prst="rect">
            <a:avLst/>
          </a:prstGeom>
        </p:spPr>
        <p:txBody>
          <a:bodyPr vert="horz" wrap="square" lIns="0" tIns="99239" rIns="0" bIns="0" rtlCol="0">
            <a:spAutoFit/>
          </a:bodyPr>
          <a:lstStyle/>
          <a:p>
            <a:pPr marL="12700">
              <a:lnSpc>
                <a:spcPct val="100000"/>
              </a:lnSpc>
              <a:spcBef>
                <a:spcPts val="395"/>
              </a:spcBef>
            </a:pPr>
            <a:r>
              <a:rPr spc="-20" dirty="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研究结论：</a:t>
            </a:r>
          </a:p>
          <a:p>
            <a:pPr marL="265430">
              <a:lnSpc>
                <a:spcPct val="100000"/>
              </a:lnSpc>
              <a:spcBef>
                <a:spcPts val="295"/>
              </a:spcBef>
            </a:pPr>
            <a:r>
              <a:rPr b="0" dirty="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Agent </a:t>
            </a:r>
            <a:r>
              <a:rPr b="0" spc="-10" dirty="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的安全护栏不仅是道德层面的约束，更是</a:t>
            </a:r>
            <a:r>
              <a:rPr spc="-10" dirty="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直接决定末端动作结果的控制逻辑</a:t>
            </a:r>
            <a:r>
              <a:rPr b="0" spc="-50" dirty="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a:t>
            </a:r>
          </a:p>
          <a:p>
            <a:pPr marL="265430" marR="5080">
              <a:lnSpc>
                <a:spcPct val="100000"/>
              </a:lnSpc>
              <a:spcBef>
                <a:spcPts val="290"/>
              </a:spcBef>
            </a:pPr>
            <a:r>
              <a:rPr b="0" spc="-15" dirty="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通过“</a:t>
            </a:r>
            <a:r>
              <a:rPr spc="10" dirty="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风险建模</a:t>
            </a:r>
            <a:r>
              <a:rPr dirty="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 </a:t>
            </a:r>
            <a:r>
              <a:rPr b="0" dirty="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 </a:t>
            </a:r>
            <a:r>
              <a:rPr spc="10" dirty="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安全记忆</a:t>
            </a:r>
            <a:r>
              <a:rPr dirty="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 </a:t>
            </a:r>
            <a:r>
              <a:rPr b="0" dirty="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 </a:t>
            </a:r>
            <a:r>
              <a:rPr spc="-10" dirty="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末端门控</a:t>
            </a:r>
            <a:r>
              <a:rPr b="0" spc="-30" dirty="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”架构，可有效消减真实环境中</a:t>
            </a:r>
            <a:r>
              <a:rPr b="0" dirty="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 20% 50% </a:t>
            </a:r>
            <a:r>
              <a:rPr b="0" spc="-50" dirty="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的</a:t>
            </a:r>
            <a:r>
              <a:rPr b="0" spc="-15" dirty="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高危事故，极大弥补了开放场景下的泛化缺陷。</a:t>
            </a:r>
          </a:p>
          <a:p>
            <a:pPr marL="265430">
              <a:lnSpc>
                <a:spcPct val="100000"/>
              </a:lnSpc>
              <a:spcBef>
                <a:spcPts val="290"/>
              </a:spcBef>
            </a:pPr>
            <a:r>
              <a:rPr b="0" spc="35" dirty="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成功将复杂的</a:t>
            </a:r>
            <a:r>
              <a:rPr b="0" dirty="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 </a:t>
            </a:r>
            <a:r>
              <a:rPr b="0" spc="35" dirty="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理要求</a:t>
            </a:r>
            <a:r>
              <a:rPr b="0" spc="-10" dirty="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（透明性、责任审计）转变为</a:t>
            </a:r>
            <a:r>
              <a:rPr spc="-10" dirty="0">
                <a:solidFill>
                  <a:srgbClr val="218A21"/>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可部署、可测量的工程机制</a:t>
            </a:r>
            <a:r>
              <a:rPr b="0" spc="-50" dirty="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a:t>
            </a:r>
          </a:p>
          <a:p>
            <a:pPr>
              <a:lnSpc>
                <a:spcPct val="100000"/>
              </a:lnSpc>
              <a:spcBef>
                <a:spcPts val="715"/>
              </a:spcBef>
            </a:pPr>
            <a:endParaRPr b="0" spc="-50" dirty="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endParaRPr>
          </a:p>
          <a:p>
            <a:pPr marL="12700">
              <a:lnSpc>
                <a:spcPct val="100000"/>
              </a:lnSpc>
            </a:pPr>
            <a:r>
              <a:rPr spc="-20" dirty="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局限与展望：</a:t>
            </a:r>
          </a:p>
          <a:p>
            <a:pPr marL="265430">
              <a:lnSpc>
                <a:spcPct val="100000"/>
              </a:lnSpc>
              <a:spcBef>
                <a:spcPts val="295"/>
              </a:spcBef>
            </a:pPr>
            <a:r>
              <a:rPr b="0" spc="-35" dirty="0">
                <a:solidFill>
                  <a:srgbClr val="787878"/>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知识反思机制在极少数情况下可能导致策略“过度保守”。</a:t>
            </a:r>
          </a:p>
          <a:p>
            <a:pPr marL="265430" marR="5080">
              <a:lnSpc>
                <a:spcPct val="100000"/>
              </a:lnSpc>
              <a:spcBef>
                <a:spcPts val="295"/>
              </a:spcBef>
            </a:pPr>
            <a:r>
              <a:rPr b="0" spc="-10" dirty="0">
                <a:solidFill>
                  <a:srgbClr val="787878"/>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未来需引入</a:t>
            </a:r>
            <a:r>
              <a:rPr spc="5" dirty="0">
                <a:solidFill>
                  <a:srgbClr val="787878"/>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动态置信度阈值算法</a:t>
            </a:r>
            <a:r>
              <a:rPr dirty="0">
                <a:solidFill>
                  <a:srgbClr val="787878"/>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 </a:t>
            </a:r>
            <a:r>
              <a:rPr b="0" dirty="0">
                <a:solidFill>
                  <a:srgbClr val="787878"/>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(Dynamic Confidence Thresholding)</a:t>
            </a:r>
            <a:r>
              <a:rPr b="0" spc="-35" dirty="0">
                <a:solidFill>
                  <a:srgbClr val="787878"/>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，以平衡高风险</a:t>
            </a:r>
            <a:r>
              <a:rPr b="0" spc="-15" dirty="0">
                <a:solidFill>
                  <a:srgbClr val="787878"/>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场景二次确认所带来的可用性损耗。</a:t>
            </a:r>
          </a:p>
        </p:txBody>
      </p:sp>
      <p:sp>
        <p:nvSpPr>
          <p:cNvPr id="11" name="object 11"/>
          <p:cNvSpPr txBox="1">
            <a:spLocks noGrp="1"/>
          </p:cNvSpPr>
          <p:nvPr>
            <p:ph type="sldNum" sz="quarter" idx="7"/>
          </p:nvPr>
        </p:nvSpPr>
        <p:spPr>
          <a:xfrm>
            <a:off x="5478373" y="3112193"/>
            <a:ext cx="238125" cy="99386"/>
          </a:xfrm>
          <a:prstGeom prst="rect">
            <a:avLst/>
          </a:prstGeom>
        </p:spPr>
        <p:txBody>
          <a:bodyPr vert="horz" wrap="square" lIns="0" tIns="22225" rIns="0" bIns="0" rtlCol="0">
            <a:spAutoFit/>
          </a:bodyPr>
          <a:lstStyle/>
          <a:p>
            <a:pPr marL="12700">
              <a:lnSpc>
                <a:spcPct val="100000"/>
              </a:lnSpc>
              <a:spcBef>
                <a:spcPts val="175"/>
              </a:spcBef>
            </a:pPr>
            <a:fld id="{81D60167-4931-47E6-BA6A-407CBD079E47}" type="slidenum">
              <a:rPr dirty="0"/>
              <a:t>10</a:t>
            </a:fld>
            <a:r>
              <a:rPr dirty="0"/>
              <a:t> / 10</a:t>
            </a:r>
          </a:p>
        </p:txBody>
      </p:sp>
    </p:spTree>
  </p:cSld>
  <p:clrMapOvr>
    <a:masterClrMapping/>
  </p:clrMapOvr>
  <p:transition>
    <p:cut/>
  </p:transition>
</p:sld>
</file>

<file path=ppt/tags/tag1.xml><?xml version="1.0" encoding="utf-8"?>
<p:tagLst xmlns:a="http://schemas.openxmlformats.org/drawingml/2006/main" xmlns:r="http://schemas.openxmlformats.org/officeDocument/2006/relationships" xmlns:p="http://schemas.openxmlformats.org/presentationml/2006/main">
  <p:tag name="PDF_PPT_CLEANUP_LATIN_FONT" val="Arial"/>
  <p:tag name="PDF_PPT_CLEANUP_CJK_FONT" val="Microsoft YaHei"/>
  <p:tag name="PDF_PPT_CLEANUP_SILENT"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1050</TotalTime>
  <Words>541</Words>
  <Application>Microsoft Office PowerPoint</Application>
  <PresentationFormat>自定义</PresentationFormat>
  <Paragraphs>143</Paragraphs>
  <Slides>10</Slides>
  <Notes>10</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10</vt:i4>
      </vt:variant>
    </vt:vector>
  </HeadingPairs>
  <TitlesOfParts>
    <vt:vector size="15" baseType="lpstr">
      <vt:lpstr>Microsoft JhengHei UI</vt:lpstr>
      <vt:lpstr>Arial</vt:lpstr>
      <vt:lpstr>Arial Black</vt:lpstr>
      <vt:lpstr>Times New Roman</vt:lpstr>
      <vt:lpstr>Office Theme</vt:lpstr>
      <vt:lpstr>面向开放复杂环境的 AI Agent Safety</vt:lpstr>
      <vt:lpstr>核心命题：AI Agent 伦理风险的范式转换</vt:lpstr>
      <vt:lpstr>PowerPoint 演示文稿</vt:lpstr>
      <vt:lpstr>当前面临的核心痛点</vt:lpstr>
      <vt:lpstr>伦理维度重构：从单点模型到系统链路</vt:lpstr>
      <vt:lpstr>核心架构：高泛化三层安全看护机制</vt:lpstr>
      <vt:lpstr>Layer 3: 末端动作门控 (Terminal Action Safety Gate)</vt:lpstr>
      <vt:lpstr>实证验证：Benchmark 与多场景评估</vt:lpstr>
      <vt:lpstr>核心创新：三大技术理念跨越</vt:lpstr>
      <vt:lpstr>结论与展望</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面向开放复杂环境的 AI Agent Safety - 从伦理责任、安全知识与泛化看护出发的技术方案研究</dc:title>
  <dc:creator>研究成果汇报</dc:creator>
  <cp:lastModifiedBy>ooo ooo</cp:lastModifiedBy>
  <cp:revision>17</cp:revision>
  <dcterms:created xsi:type="dcterms:W3CDTF">2026-05-16T16:57:51Z</dcterms:created>
  <dcterms:modified xsi:type="dcterms:W3CDTF">2026-05-17T11:05:25Z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verter">
    <vt:lpwstr>SolidFramework v10.0.19910.1</vt:lpwstr>
  </property>
  <property fmtid="{D5CDD505-2E9C-101B-9397-08002B2CF9AE}" pid="3" name="Created">
    <vt:filetime>2026-05-16T00:00:00Z</vt:filetime>
  </property>
  <property fmtid="{D5CDD505-2E9C-101B-9397-08002B2CF9AE}" pid="4" name="Creator">
    <vt:lpwstr>LaTeX with Beamer class</vt:lpwstr>
  </property>
  <property fmtid="{D5CDD505-2E9C-101B-9397-08002B2CF9AE}" pid="5" name="Producer">
    <vt:lpwstr>xdvipdfmx (20250410)</vt:lpwstr>
  </property>
  <property fmtid="{D5CDD505-2E9C-101B-9397-08002B2CF9AE}" pid="6" name="LastSaved">
    <vt:filetime>2026-05-16T00:00:00Z</vt:filetime>
  </property>
</Properties>
</file>